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rial Bold" charset="1" panose="020B0704020202020204"/>
      <p:regular r:id="rId26"/>
    </p:embeddedFont>
    <p:embeddedFont>
      <p:font typeface="Arial" charset="1" panose="020B0604020202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2.xml" Type="http://schemas.openxmlformats.org/officeDocument/2006/relationships/notesSlide"/><Relationship Id="rId29" Target="notesSlides/notesSlide3.xml" Type="http://schemas.openxmlformats.org/officeDocument/2006/relationships/notesSlide"/><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theme/theme1.xml" Type="http://schemas.openxmlformats.org/officeDocument/2006/relationships/theme"/><Relationship Id="rId40" Target="notesSlides/notesSlide14.xml" Type="http://schemas.openxmlformats.org/officeDocument/2006/relationships/notesSlide"/><Relationship Id="rId41" Target="notesSlides/notesSlide15.xml" Type="http://schemas.openxmlformats.org/officeDocument/2006/relationships/notesSlide"/><Relationship Id="rId42" Target="notesSlides/notesSlide16.xml" Type="http://schemas.openxmlformats.org/officeDocument/2006/relationships/notesSlide"/><Relationship Id="rId43" Target="notesSlides/notesSlide17.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 — Zev</a:t>
            </a:r>
          </a:p>
          <a:p>
            <a:r>
              <a:rPr lang="en-US"/>
              <a:t/>
            </a:r>
          </a:p>
          <a:p>
            <a:r>
              <a:rPr lang="en-US"/>
              <a:t>MAIN PITCH</a:t>
            </a:r>
          </a:p>
          <a:p>
            <a:r>
              <a:rPr lang="en-US"/>
              <a:t/>
            </a:r>
          </a:p>
          <a:p>
            <a:r>
              <a:rPr lang="en-US"/>
              <a:t>Meet Zev, a shopping agent for everyday purchases. You tell it what you need and set a spending boundary. Zev compares the offers, handles the shopping work and checks each purchase against your permission.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2 — AI shopping still faces a trust barrier</a:t>
            </a:r>
          </a:p>
          <a:p>
            <a:r>
              <a:rPr lang="en-US"/>
              <a:t/>
            </a:r>
          </a:p>
          <a:p>
            <a:r>
              <a:rPr lang="en-US"/>
              <a:t>MAIN PITCH</a:t>
            </a:r>
          </a:p>
          <a:p>
            <a:r>
              <a:rPr lang="en-US"/>
              <a:t/>
            </a:r>
          </a:p>
          <a:p>
            <a:r>
              <a:rPr lang="en-US"/>
              <a:t>The opportunity is already here. In Hong Kong, 74 percent have used AI assistants for shopping, yet 45 percent are uncomfortable letting AI complete a purchase. People need a clear boundary between receiving advice and spending money.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3 — Four dimensions, one complete purchase</a:t>
            </a:r>
          </a:p>
          <a:p>
            <a:r>
              <a:rPr lang="en-US"/>
              <a:t/>
            </a:r>
          </a:p>
          <a:p>
            <a:r>
              <a:rPr lang="en-US"/>
              <a:t>MAIN PITCH</a:t>
            </a:r>
          </a:p>
          <a:p>
            <a:r>
              <a:rPr lang="en-US"/>
              <a:t/>
            </a:r>
          </a:p>
          <a:p>
            <a:r>
              <a:rPr lang="en-US"/>
              <a:t>We connect four dimensions in one purchase. Trust defines permission. E-commerce compares the basket. The agent does the work. Payment checks the final charge. A mandate keeps all four tied to the limits the user actually authorized.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4 — Trust: permission has explicit limits</a:t>
            </a:r>
          </a:p>
          <a:p>
            <a:r>
              <a:rPr lang="en-US"/>
              <a:t/>
            </a:r>
          </a:p>
          <a:p>
            <a:r>
              <a:rPr lang="en-US"/>
              <a:t>MAIN PITCH</a:t>
            </a:r>
          </a:p>
          <a:p>
            <a:r>
              <a:rPr lang="en-US"/>
              <a:t/>
            </a:r>
          </a:p>
          <a:p>
            <a:r>
              <a:rPr lang="en-US"/>
              <a:t>Trust starts with specific limits: 150 dollars per order, 300 in total, two purchases and an expiry. Zev buys when the rules pass, asks about exceptions and blocks hard violations. This 158-dollar basket cannot be approved around the cap.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5 — E-commerce: compare the full basket</a:t>
            </a:r>
          </a:p>
          <a:p>
            <a:r>
              <a:rPr lang="en-US"/>
              <a:t/>
            </a:r>
          </a:p>
          <a:p>
            <a:r>
              <a:rPr lang="en-US"/>
              <a:t>MAIN PITCH</a:t>
            </a:r>
          </a:p>
          <a:p>
            <a:r>
              <a:rPr lang="en-US"/>
              <a:t/>
            </a:r>
          </a:p>
          <a:p>
            <a:r>
              <a:rPr lang="en-US"/>
              <a:t>E-commerce means comparing what the customer actually pays. Here, a 108-dollar item and a 118-dollar item both become 138 dollars after delivery. Zev compares the complete basket and delivery conditions. The larger bottle exceeds the limit.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6 — Agent: turn a request into a draft</a:t>
            </a:r>
          </a:p>
          <a:p>
            <a:r>
              <a:rPr lang="en-US"/>
              <a:t/>
            </a:r>
          </a:p>
          <a:p>
            <a:r>
              <a:rPr lang="en-US"/>
              <a:t>MAIN PITCH</a:t>
            </a:r>
          </a:p>
          <a:p>
            <a:r>
              <a:rPr lang="en-US"/>
              <a:t/>
            </a:r>
          </a:p>
          <a:p>
            <a:r>
              <a:rPr lang="en-US"/>
              <a:t>For the agent, a simple request becomes an editable draft. Ask for dish soap, and that product stays in the task. DeepSeek helps interpret the sentence. The user signs the limits, while deterministic rules retain authority over payment.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7 - Payment: eligibility and funding decide the rail</a:t>
            </a:r>
          </a:p>
          <a:p>
            <a:r>
              <a:rPr lang="en-US"/>
              <a:t/>
            </a:r>
          </a:p>
          <a:p>
            <a:r>
              <a:rPr lang="en-US"/>
              <a:t>MAIN PITCH</a:t>
            </a:r>
          </a:p>
          <a:p>
            <a:r>
              <a:rPr lang="en-US"/>
              <a:t/>
            </a:r>
          </a:p>
          <a:p>
            <a:r>
              <a:rPr lang="en-US"/>
              <a:t>Payment checks what the mandate allows and the merchant accepts. Our prototype simulates the payment methods. For production, Zev would connect through a contracted wallet or payment provider, then reconcile the result. The proposed integration is in the appendix.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8 — Trust: protect changes that redirect value</a:t>
            </a:r>
          </a:p>
          <a:p>
            <a:r>
              <a:rPr lang="en-US"/>
              <a:t/>
            </a:r>
          </a:p>
          <a:p>
            <a:r>
              <a:rPr lang="en-US"/>
              <a:t>MAIN PITCH</a:t>
            </a:r>
          </a:p>
          <a:p>
            <a:r>
              <a:rPr lang="en-US"/>
              <a:t/>
            </a:r>
          </a:p>
          <a:p>
            <a:r>
              <a:rPr lang="en-US"/>
              <a:t>We also protect changes that could redirect value. Address changes demonstrate another verification step and a waiting window, giving the owner time to cancel. The intended delay is 24 hours, compressed to two minutes in the demo.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9 — E-commerce + Agent: preferences and permissions</a:t>
            </a:r>
          </a:p>
          <a:p>
            <a:r>
              <a:rPr lang="en-US"/>
              <a:t/>
            </a:r>
          </a:p>
          <a:p>
            <a:r>
              <a:rPr lang="en-US"/>
              <a:t>MAIN PITCH</a:t>
            </a:r>
          </a:p>
          <a:p>
            <a:r>
              <a:rPr lang="en-US"/>
              <a:t/>
            </a:r>
          </a:p>
          <a:p>
            <a:r>
              <a:rPr lang="en-US"/>
              <a:t>Personal preferences improve recommendations without expanding permission. Product descriptions follow the same boundary. One demo listing says ignore the budget. Zev records that it ignored that instruction and continues applying the original mandate.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10 — Payment: every charge has a traceable basis</a:t>
            </a:r>
          </a:p>
          <a:p>
            <a:r>
              <a:rPr lang="en-US"/>
              <a:t/>
            </a:r>
          </a:p>
          <a:p>
            <a:r>
              <a:rPr lang="en-US"/>
              <a:t>MAIN PITCH</a:t>
            </a:r>
          </a:p>
          <a:p>
            <a:r>
              <a:rPr lang="en-US"/>
              <a:t/>
            </a:r>
          </a:p>
          <a:p>
            <a:r>
              <a:rPr lang="en-US"/>
              <a:t>The receipt closes the loop: 118 dollars for the item, 20 for delivery, 138 paid. The record links the mandate, decisions and payment. Backend settlement code rechecks current rules and updates the transaction together.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11 - Value starts with repeat household shopping</a:t>
            </a:r>
          </a:p>
          <a:p>
            <a:r>
              <a:rPr lang="en-US"/>
              <a:t/>
            </a:r>
          </a:p>
          <a:p>
            <a:r>
              <a:rPr lang="en-US"/>
              <a:t>MAIN PITCH</a:t>
            </a:r>
          </a:p>
          <a:p>
            <a:r>
              <a:rPr lang="en-US"/>
              <a:t/>
            </a:r>
          </a:p>
          <a:p>
            <a:r>
              <a:rPr lang="en-US"/>
              <a:t>We focus on repeat household shopping. Existing commerce and payment protocols provide useful foundations. Zev makes reusable limits and explainable decisions visible to the shopper. We will validate repeat-task time, user understanding and repeat delegation. Integration fees and subscriptions remain a commercial hypothesis.</a:t>
            </a:r>
          </a:p>
          <a:p>
            <a:r>
              <a:rPr lang="en-US"/>
              <a:t/>
            </a:r>
          </a:p>
          <a:p>
            <a:r>
              <a:rPr lang="en-US"/>
              <a:t>Sources and scope (not spoken):</a:t>
            </a:r>
          </a:p>
          <a:p>
            <a:r>
              <a:rPr lang="en-US"/>
              <a:t>Official HacKU Participant Handbook section 7: problem-solution fit, technical execution, trust, UX and integration feasibility. This table proposes measurements, not observed outcomes. Target-user hypothesis: young adults doing repeat household restocking. ACP and AP2 are adjacent infrastructure, not products shown to lack authorization controls. See slide 16 for official sources.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12 — Zev makes delegated shopping inspectable</a:t>
            </a:r>
          </a:p>
          <a:p>
            <a:r>
              <a:rPr lang="en-US"/>
              <a:t/>
            </a:r>
          </a:p>
          <a:p>
            <a:r>
              <a:rPr lang="en-US"/>
              <a:t>MAIN PITCH</a:t>
            </a:r>
          </a:p>
          <a:p>
            <a:r>
              <a:rPr lang="en-US"/>
              <a:t/>
            </a:r>
          </a:p>
          <a:p>
            <a:r>
              <a:rPr lang="en-US"/>
              <a:t>Zev brings permission, product choice, agent work and payment evidence into one inspectable purchase. We are ready to demonstrate that experience and validate whether users choose to delegate again. Thank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13 — Appendix: demonstrated capability and remaining work</a:t>
            </a:r>
          </a:p>
          <a:p>
            <a:r>
              <a:rPr lang="en-US"/>
              <a:t/>
            </a:r>
          </a:p>
          <a:p>
            <a:r>
              <a:rPr lang="en-US"/>
              <a:t>OPTIONAL Q&amp;A APPENDIX</a:t>
            </a:r>
          </a:p>
          <a:p>
            <a:r>
              <a:rPr lang="en-US"/>
              <a:t/>
            </a:r>
          </a:p>
          <a:p>
            <a:r>
              <a:rPr lang="en-US"/>
              <a:t>We distinguish the working experience, the backend implementation and production integration. The website demonstrates task drafts, comparisons, decisions and receipts. The local backend implements deterministic rules and transactional settlement. Payments, authentication and notifications remain simulated or unverified. The address waiting period also needs server-side enforcement: the current local save-address endpoint does not enforce the delay. Before a live deployment, we need to harden those controls, verify the deployed build end to end and complete user testing.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14 — Appendix: a demonstration for each dimension</a:t>
            </a:r>
          </a:p>
          <a:p>
            <a:r>
              <a:rPr lang="en-US"/>
              <a:t/>
            </a:r>
          </a:p>
          <a:p>
            <a:r>
              <a:rPr lang="en-US"/>
              <a:t>OPTIONAL Q&amp;A APPENDIX</a:t>
            </a:r>
          </a:p>
          <a:p>
            <a:r>
              <a:rPr lang="en-US"/>
              <a:t/>
            </a:r>
          </a:p>
          <a:p>
            <a:r>
              <a:rPr lang="en-US"/>
              <a:t>We can demonstrate each dimension directly. For Trust, we show the over-budget basket and its mandate. For E-commerce, we show Curated mode and personal preferences. For Agent, we add a delivery requirement to an existing task and show that the task stays intact when no offer meets it. For Payment, we open the payment-method explanation and its linked receipt. Some follow-up replies still mix English and Chinese, which is a remaining usability improvement.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15 — Appendix: sources and evidence</a:t>
            </a:r>
          </a:p>
          <a:p>
            <a:r>
              <a:rPr lang="en-US"/>
              <a:t/>
            </a:r>
          </a:p>
          <a:p>
            <a:r>
              <a:rPr lang="en-US"/>
              <a:t>OPTIONAL Q&amp;A APPENDIX</a:t>
            </a:r>
          </a:p>
          <a:p>
            <a:r>
              <a:rPr lang="en-US"/>
              <a:t/>
            </a:r>
          </a:p>
          <a:p>
            <a:r>
              <a:rPr lang="en-US"/>
              <a:t>The product examples come from the deployed Zev prototype. The market percentages come from the Adyen Index 2026, based on a YouGov survey of 1,026 Hong Kong adults. Those percentages measure different things and are not a conversion funnel. The engineering explanation follows our product manual and local backend code. Commercial outcomes and savings are hypotheses for validation, not results we have already measured.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16 - Where Zev fits among existing approaches</a:t>
            </a:r>
          </a:p>
          <a:p>
            <a:r>
              <a:rPr lang="en-US"/>
              <a:t/>
            </a:r>
          </a:p>
          <a:p>
            <a:r>
              <a:rPr lang="en-US"/>
              <a:t>OPTIONAL Q&amp;A APPENDIX</a:t>
            </a:r>
          </a:p>
          <a:p>
            <a:r>
              <a:rPr lang="en-US"/>
              <a:t/>
            </a:r>
          </a:p>
          <a:p>
            <a:r>
              <a:rPr lang="en-US"/>
              <a:t>Manual shopping leaves each comparison and approval to the user. ACP connects agents to merchant checkout. AP2 already supports verifiable mandates and delegated purchases. Zev focuses on the shopper experience: reusable limits, visible exceptions and linked decisions for repeat household shopping. We are not claiming to have invented mandates, and we have not yet integrated either protocol.</a:t>
            </a:r>
          </a:p>
          <a:p>
            <a:r>
              <a:rPr lang="en-US"/>
              <a:t/>
            </a:r>
          </a:p>
          <a:p>
            <a:r>
              <a:rPr lang="en-US"/>
              <a:t>Sources and scope (not spoken):</a:t>
            </a:r>
          </a:p>
          <a:p>
            <a:r>
              <a:rPr lang="en-US"/>
              <a:t>OpenAI, Key concepts - Agentic Commerce: https://developers.openai.com/commerce/guides/key-concepts . Merchant validates and charges through its existing processor. Google Cloud, Powering AI commerce with the new Agent Payments Protocol, 16 September 2025: https://cloud.google.com/blog/products/ai-machine-learning/announcing-agents-to-payments-ap2-protocol . Describes signed Intent and Cart Mandates and human-not-present delegated purchases. Accessed 4 October 2026. Manual workflow is a qualitative baseline, not timed research. Zev positioning is our product interpretation, not a benchmark. No compatibility or superiority claim.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17 - A proposed path to real payment</a:t>
            </a:r>
          </a:p>
          <a:p>
            <a:r>
              <a:rPr lang="en-US"/>
              <a:t/>
            </a:r>
          </a:p>
          <a:p>
            <a:r>
              <a:rPr lang="en-US"/>
              <a:t>OPTIONAL Q&amp;A APPENDIX</a:t>
            </a:r>
          </a:p>
          <a:p>
            <a:r>
              <a:rPr lang="en-US"/>
              <a:t/>
            </a:r>
          </a:p>
          <a:p>
            <a:r>
              <a:rPr lang="en-US"/>
              <a:t>The production proposal separates permission from fund movement. Zev checks the current mandate. A provider adapter creates an idempotent payment request. The wallet or payment service provider handles funds, and Zev reconciles the result. For FPS, we would work through a participating bank or licensed wallet, initially with customer confirmation. Unattended payments need provider-supported permission. Timeouts stay pending until reconciled. These adapters and external failure handling are proposed work, not completed integrations.</a:t>
            </a:r>
          </a:p>
          <a:p>
            <a:r>
              <a:rPr lang="en-US"/>
              <a:t/>
            </a:r>
          </a:p>
          <a:p>
            <a:r>
              <a:rPr lang="en-US"/>
              <a:t>Sources and scope (not spoken):</a:t>
            </a:r>
          </a:p>
          <a:p>
            <a:r>
              <a:rPr lang="en-US"/>
              <a:t>HKICL FPS Participants: https://fps.hkicl.com.hk/eng/fps/about_fps/participant.php . FPS participants are eligible banks and licensed SVFs. HKICL merchant scheme: https://fps.hkicl.com.hk/files/page_file/126/3857/FPS%20Merchant%20Payment%20Scheme.pdf . OpenAI ACP Key concepts: https://developers.openai.com/commerce/guides/key-concepts . Sources accessed 4 October 2026. Proposed architecture is Zev design, not a claim of provider API access or partnership. Backend currently implements internal transactional settlement with simulated rails. Live adapters, secure provider credential handling, external reservations/state machine, callbacks, reconciliation, failure and refund handling require implementation and testing. A local DB transaction cannot atomically roll back an external payment.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ns0:Relationships xmlns:ns0="http://schemas.openxmlformats.org/package/2006/relationships"><ns0:Relationship Id="rId1" Target="../slideLayouts/slideLayout7.xml" Type="http://schemas.openxmlformats.org/officeDocument/2006/relationships/slideLayout" /><ns0:Relationship Id="rId2" Target="../notesSlides/notesSlide12.xml" Type="http://schemas.openxmlformats.org/officeDocument/2006/relationships/notesSlide" /><ns0:Relationship Id="rIdZevDemoQR" Type="http://schemas.openxmlformats.org/officeDocument/2006/relationships/image" Target="../media/zev-demo-qr.png" /></ns0: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slide1.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Zev</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Everyday shopping within limits you choose</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01</a:t>
            </a:r>
          </a:p>
        </p:txBody>
      </p:sp>
      <p:sp>
        <p:nvSpPr>
          <p:cNvPr name="TextBox 6" id="6"/>
          <p:cNvSpPr txBox="true"/>
          <p:nvPr/>
        </p:nvSpPr>
        <p:spPr>
          <a:xfrm rot="0">
            <a:off x="2334578" y="9656445"/>
            <a:ext cx="13947457" cy="441960"/>
          </a:xfrm>
          <a:prstGeom prst="rect">
            <a:avLst/>
          </a:prstGeom>
        </p:spPr>
        <p:txBody>
          <a:bodyPr anchor="t" rtlCol="false" tIns="0" lIns="0" bIns="0" rIns="0">
            <a:spAutoFit/>
          </a:bodyPr>
          <a:lstStyle/>
          <a:p>
            <a:pPr algn="l">
              <a:lnSpc>
                <a:spcPts val="1823"/>
              </a:lnSpc>
            </a:pPr>
            <a:r>
              <a:rPr lang="en-US" sz="1519">
                <a:solidFill>
                  <a:srgbClr val="696575"/>
                </a:solidFill>
                <a:latin typeface="Arial"/>
                <a:ea typeface="Arial"/>
                <a:cs typeface="Arial"/>
                <a:sym typeface="Arial"/>
              </a:rPr>
              <a:t>HacKU 2026 FinTech PS1. Current prototype uses simulated payments and authentication.</a:t>
            </a:r>
          </a:p>
        </p:txBody>
      </p:sp>
      <p:sp>
        <p:nvSpPr>
          <p:cNvPr name="TextBox 7" id="7"/>
          <p:cNvSpPr txBox="true"/>
          <p:nvPr/>
        </p:nvSpPr>
        <p:spPr>
          <a:xfrm rot="0">
            <a:off x="977265" y="3255645"/>
            <a:ext cx="9389745" cy="3099435"/>
          </a:xfrm>
          <a:prstGeom prst="rect">
            <a:avLst/>
          </a:prstGeom>
        </p:spPr>
        <p:txBody>
          <a:bodyPr anchor="t" rtlCol="false" tIns="0" lIns="0" bIns="0" rIns="0">
            <a:spAutoFit/>
          </a:bodyPr>
          <a:lstStyle/>
          <a:p>
            <a:pPr algn="l">
              <a:lnSpc>
                <a:spcPts val="7425"/>
              </a:lnSpc>
            </a:pPr>
            <a:r>
              <a:rPr lang="en-US" sz="6187" b="true">
                <a:solidFill>
                  <a:srgbClr val="17151F"/>
                </a:solidFill>
                <a:latin typeface="Arial Bold"/>
                <a:ea typeface="Arial Bold"/>
                <a:cs typeface="Arial Bold"/>
                <a:sym typeface="Arial Bold"/>
              </a:rPr>
              <a:t>Your shopping agent,</a:t>
            </a:r>
          </a:p>
          <a:p>
            <a:pPr algn="l">
              <a:lnSpc>
                <a:spcPts val="7425"/>
              </a:lnSpc>
            </a:pPr>
            <a:r>
              <a:rPr lang="en-US" sz="6187" b="true">
                <a:solidFill>
                  <a:srgbClr val="17151F"/>
                </a:solidFill>
                <a:latin typeface="Arial Bold"/>
                <a:ea typeface="Arial Bold"/>
                <a:cs typeface="Arial Bold"/>
                <a:sym typeface="Arial Bold"/>
              </a:rPr>
              <a:t>with a spending</a:t>
            </a:r>
          </a:p>
          <a:p>
            <a:pPr algn="l">
              <a:lnSpc>
                <a:spcPts val="7425"/>
              </a:lnSpc>
            </a:pPr>
            <a:r>
              <a:rPr lang="en-US" sz="6187" b="true">
                <a:solidFill>
                  <a:srgbClr val="17151F"/>
                </a:solidFill>
                <a:latin typeface="Arial Bold"/>
                <a:ea typeface="Arial Bold"/>
                <a:cs typeface="Arial Bold"/>
                <a:sym typeface="Arial Bold"/>
              </a:rPr>
              <a:t>boundary</a:t>
            </a:r>
          </a:p>
        </p:txBody>
      </p:sp>
      <p:sp>
        <p:nvSpPr>
          <p:cNvPr name="TextBox 8" id="8"/>
          <p:cNvSpPr txBox="true"/>
          <p:nvPr/>
        </p:nvSpPr>
        <p:spPr>
          <a:xfrm rot="0">
            <a:off x="1020127" y="6941820"/>
            <a:ext cx="9461182" cy="1299210"/>
          </a:xfrm>
          <a:prstGeom prst="rect">
            <a:avLst/>
          </a:prstGeom>
        </p:spPr>
        <p:txBody>
          <a:bodyPr anchor="t" rtlCol="false" tIns="0" lIns="0" bIns="0" rIns="0">
            <a:spAutoFit/>
          </a:bodyPr>
          <a:lstStyle/>
          <a:p>
            <a:pPr algn="l">
              <a:lnSpc>
                <a:spcPts val="3779"/>
              </a:lnSpc>
            </a:pPr>
            <a:r>
              <a:rPr lang="en-US" sz="3150">
                <a:solidFill>
                  <a:srgbClr val="696575"/>
                </a:solidFill>
                <a:latin typeface="Arial"/>
                <a:ea typeface="Arial"/>
                <a:cs typeface="Arial"/>
                <a:sym typeface="Arial"/>
              </a:rPr>
              <a:t>Tell Zev what you need. Authorize a budget.</a:t>
            </a:r>
          </a:p>
          <a:p>
            <a:pPr algn="l">
              <a:lnSpc>
                <a:spcPts val="3779"/>
              </a:lnSpc>
            </a:pPr>
            <a:r>
              <a:rPr lang="en-US" sz="3150">
                <a:solidFill>
                  <a:srgbClr val="696575"/>
                </a:solidFill>
                <a:latin typeface="Arial"/>
                <a:ea typeface="Arial"/>
                <a:cs typeface="Arial"/>
                <a:sym typeface="Arial"/>
              </a:rPr>
              <a:t>It compares offers and checks every purchase.</a:t>
            </a:r>
          </a:p>
        </p:txBody>
      </p:sp>
      <p:grpSp>
        <p:nvGrpSpPr>
          <p:cNvPr name="Group 9" id="9"/>
          <p:cNvGrpSpPr/>
          <p:nvPr/>
        </p:nvGrpSpPr>
        <p:grpSpPr>
          <a:xfrm rot="0">
            <a:off x="11372850" y="3121390"/>
            <a:ext cx="6043612" cy="5387235"/>
            <a:chOff x="0" y="0"/>
            <a:chExt cx="8058150" cy="7182980"/>
          </a:xfrm>
        </p:grpSpPr>
        <p:sp>
          <p:nvSpPr>
            <p:cNvPr name="Freeform 10" id="10"/>
            <p:cNvSpPr/>
            <p:nvPr/>
          </p:nvSpPr>
          <p:spPr>
            <a:xfrm flipH="false" flipV="false" rot="0">
              <a:off x="0" y="0"/>
              <a:ext cx="8058150" cy="7182993"/>
            </a:xfrm>
            <a:custGeom>
              <a:avLst/>
              <a:gdLst/>
              <a:ahLst/>
              <a:cxnLst/>
              <a:rect r="r" b="b" t="t" l="l"/>
              <a:pathLst>
                <a:path h="7182993" w="8058150">
                  <a:moveTo>
                    <a:pt x="0" y="0"/>
                  </a:moveTo>
                  <a:lnTo>
                    <a:pt x="8058150" y="0"/>
                  </a:lnTo>
                  <a:lnTo>
                    <a:pt x="8058150" y="7182993"/>
                  </a:lnTo>
                  <a:lnTo>
                    <a:pt x="0" y="7182993"/>
                  </a:lnTo>
                  <a:lnTo>
                    <a:pt x="0" y="0"/>
                  </a:lnTo>
                  <a:close/>
                </a:path>
              </a:pathLst>
            </a:custGeom>
            <a:blipFill>
              <a:blip r:embed="rId3"/>
              <a:stretch>
                <a:fillRect l="0" t="0" r="0" b="0"/>
              </a:stretch>
            </a:blipFill>
          </p:spPr>
        </p:sp>
      </p:grpSp>
      <p:sp>
        <p:nvSpPr>
          <p:cNvPr name="TextBox 11" id="11"/>
          <p:cNvSpPr txBox="true"/>
          <p:nvPr/>
        </p:nvSpPr>
        <p:spPr>
          <a:xfrm rot="0">
            <a:off x="1020127" y="8784907"/>
            <a:ext cx="15890557" cy="441960"/>
          </a:xfrm>
          <a:prstGeom prst="rect">
            <a:avLst/>
          </a:prstGeom>
        </p:spPr>
        <p:txBody>
          <a:bodyPr anchor="t" rtlCol="false" tIns="0" lIns="0" bIns="0" rIns="0">
            <a:spAutoFit/>
          </a:bodyPr>
          <a:lstStyle/>
          <a:p>
            <a:pPr algn="l">
              <a:lnSpc>
                <a:spcPts val="3375"/>
              </a:lnSpc>
            </a:pPr>
            <a:r>
              <a:rPr lang="en-US" sz="2812" b="true">
                <a:solidFill>
                  <a:srgbClr val="6650D7"/>
                </a:solidFill>
                <a:latin typeface="Arial Bold"/>
                <a:ea typeface="Arial Bold"/>
                <a:cs typeface="Arial Bold"/>
                <a:sym typeface="Arial Bold"/>
              </a:rPr>
              <a:t>Trust   /   E-commerce   /   Agent   /   Payment</a:t>
            </a:r>
          </a:p>
        </p:txBody>
      </p:sp>
      <p:sp>
        <p:nvSpPr>
          <p:cNvPr id="12" name="Team and problem statement 12">
            <a:extLst>
              <a:ext uri="{FF2B5EF4-FFF2-40B4-BE49-F238E27FC236}">
                <ns3:creationId id="{9F49CAC8-EC9C-4463-97AE-FB96D28DABAC}"/>
              </a:ext>
            </a:extLst>
          </p:cNvPr>
          <p:cNvSpPr>
            <a:spLocks noGrp="1"/>
          </p:cNvSpPr>
          <p:nvPr/>
        </p:nvSpPr>
        <p:spPr>
          <a:xfrm>
            <a:off x="11382375" y="685800"/>
            <a:ext cx="6000750" cy="476250"/>
          </a:xfrm>
          <a:prstGeom prst="rect">
            <a:avLst/>
          </a:prstGeom>
          <a:noFill/>
          <a:ln w="0">
            <a:noFill/>
          </a:ln>
        </p:spPr>
        <p:txBody>
          <a:bodyPr>
            <a:noAutofit/>
          </a:bodyPr>
          <a:lstStyle/>
          <a:p>
            <a:pPr>
              <a:defRPr sz="2850" b="1">
                <a:solidFill>
                  <a:srgbClr val="19171F"/>
                </a:solidFill>
                <a:latin typeface="Arial"/>
                <a:ea typeface="Arial"/>
                <a:cs typeface="Arial"/>
              </a:defRPr>
            </a:pPr>
            <a:r>
              <a:rPr sz="2850" b="1">
                <a:solidFill>
                  <a:srgbClr val="19171F"/>
                </a:solidFill>
                <a:latin typeface="Arial"/>
                <a:ea typeface="Arial"/>
                <a:cs typeface="Arial"/>
              </a:rPr>
              <a:t>No.43   TTT Team</a:t>
            </a:r>
          </a:p>
        </p:txBody>
      </p:sp>
      <p:sp>
        <p:nvSpPr>
          <p:cNvPr id="13" name="Team and problem statement 13">
            <a:extLst>
              <a:ext uri="{FF2B5EF4-FFF2-40B4-BE49-F238E27FC236}">
                <ns3:creationId id="{D087E82A-683A-4D93-BFFC-50CA43750042}"/>
              </a:ext>
            </a:extLst>
          </p:cNvPr>
          <p:cNvSpPr>
            <a:spLocks noGrp="1"/>
          </p:cNvSpPr>
          <p:nvPr/>
        </p:nvSpPr>
        <p:spPr>
          <a:xfrm>
            <a:off x="11382375" y="1257300"/>
            <a:ext cx="2857500" cy="400050"/>
          </a:xfrm>
          <a:prstGeom prst="rect">
            <a:avLst/>
          </a:prstGeom>
          <a:noFill/>
          <a:ln w="0">
            <a:noFill/>
          </a:ln>
        </p:spPr>
        <p:txBody>
          <a:bodyPr>
            <a:noAutofit/>
          </a:bodyPr>
          <a:lstStyle/>
          <a:p>
            <a:pPr>
              <a:defRPr sz="2175" b="0">
                <a:solidFill>
                  <a:srgbClr val="6B6779"/>
                </a:solidFill>
                <a:latin typeface="Arial"/>
                <a:ea typeface="Arial"/>
                <a:cs typeface="Arial"/>
              </a:defRPr>
            </a:pPr>
            <a:r>
              <a:rPr sz="2175" b="0">
                <a:solidFill>
                  <a:srgbClr val="6B6779"/>
                </a:solidFill>
                <a:latin typeface="Arial"/>
                <a:ea typeface="Arial"/>
                <a:cs typeface="Arial"/>
              </a:rPr>
              <a:t>Jingxuan XIE</a:t>
            </a:r>
          </a:p>
        </p:txBody>
      </p:sp>
      <p:sp>
        <p:nvSpPr>
          <p:cNvPr id="14" name="Team and problem statement 14">
            <a:extLst>
              <a:ext uri="{FF2B5EF4-FFF2-40B4-BE49-F238E27FC236}">
                <ns3:creationId id="{4B7A23D5-9C30-4842-A946-EE4D2069BA35}"/>
              </a:ext>
            </a:extLst>
          </p:cNvPr>
          <p:cNvSpPr>
            <a:spLocks noGrp="1"/>
          </p:cNvSpPr>
          <p:nvPr/>
        </p:nvSpPr>
        <p:spPr>
          <a:xfrm>
            <a:off x="14430375" y="1257300"/>
            <a:ext cx="2952750" cy="400050"/>
          </a:xfrm>
          <a:prstGeom prst="rect">
            <a:avLst/>
          </a:prstGeom>
          <a:noFill/>
          <a:ln w="0">
            <a:noFill/>
          </a:ln>
        </p:spPr>
        <p:txBody>
          <a:bodyPr>
            <a:noAutofit/>
          </a:bodyPr>
          <a:lstStyle/>
          <a:p>
            <a:pPr>
              <a:defRPr sz="2175" b="0">
                <a:solidFill>
                  <a:srgbClr val="6B6779"/>
                </a:solidFill>
                <a:latin typeface="Arial"/>
                <a:ea typeface="Arial"/>
                <a:cs typeface="Arial"/>
              </a:defRPr>
            </a:pPr>
            <a:r>
              <a:rPr sz="2175" b="0">
                <a:solidFill>
                  <a:srgbClr val="6B6779"/>
                </a:solidFill>
                <a:latin typeface="Arial"/>
                <a:ea typeface="Arial"/>
                <a:cs typeface="Arial"/>
              </a:rPr>
              <a:t>Siyuan ZOU</a:t>
            </a:r>
          </a:p>
        </p:txBody>
      </p:sp>
      <p:sp>
        <p:nvSpPr>
          <p:cNvPr id="15" name="Team and problem statement 15">
            <a:extLst>
              <a:ext uri="{FF2B5EF4-FFF2-40B4-BE49-F238E27FC236}">
                <ns3:creationId id="{FEBF6E7F-84CA-4605-813A-9C4EE1FD5600}"/>
              </a:ext>
            </a:extLst>
          </p:cNvPr>
          <p:cNvSpPr>
            <a:spLocks noGrp="1"/>
          </p:cNvSpPr>
          <p:nvPr/>
        </p:nvSpPr>
        <p:spPr>
          <a:xfrm>
            <a:off x="11382375" y="1685925"/>
            <a:ext cx="2857500" cy="400050"/>
          </a:xfrm>
          <a:prstGeom prst="rect">
            <a:avLst/>
          </a:prstGeom>
          <a:noFill/>
          <a:ln w="0">
            <a:noFill/>
          </a:ln>
        </p:spPr>
        <p:txBody>
          <a:bodyPr>
            <a:noAutofit/>
          </a:bodyPr>
          <a:lstStyle/>
          <a:p>
            <a:pPr>
              <a:defRPr sz="2175" b="0">
                <a:solidFill>
                  <a:srgbClr val="6B6779"/>
                </a:solidFill>
                <a:latin typeface="Arial"/>
                <a:ea typeface="Arial"/>
                <a:cs typeface="Arial"/>
              </a:defRPr>
            </a:pPr>
            <a:r>
              <a:rPr sz="2175" b="0">
                <a:solidFill>
                  <a:srgbClr val="6B6779"/>
                </a:solidFill>
                <a:latin typeface="Arial"/>
                <a:ea typeface="Arial"/>
                <a:cs typeface="Arial"/>
              </a:rPr>
              <a:t>Qicheng LI</a:t>
            </a:r>
          </a:p>
        </p:txBody>
      </p:sp>
      <p:sp>
        <p:nvSpPr>
          <p:cNvPr id="16" name="Team and problem statement 16">
            <a:extLst>
              <a:ext uri="{FF2B5EF4-FFF2-40B4-BE49-F238E27FC236}">
                <ns3:creationId id="{265CBBF0-FFE0-443F-8BD4-B703E63B43DF}"/>
              </a:ext>
            </a:extLst>
          </p:cNvPr>
          <p:cNvSpPr>
            <a:spLocks noGrp="1"/>
          </p:cNvSpPr>
          <p:nvPr/>
        </p:nvSpPr>
        <p:spPr>
          <a:xfrm>
            <a:off x="14430375" y="1685925"/>
            <a:ext cx="2952750" cy="400050"/>
          </a:xfrm>
          <a:prstGeom prst="rect">
            <a:avLst/>
          </a:prstGeom>
          <a:noFill/>
          <a:ln w="0">
            <a:noFill/>
          </a:ln>
        </p:spPr>
        <p:txBody>
          <a:bodyPr>
            <a:noAutofit/>
          </a:bodyPr>
          <a:lstStyle/>
          <a:p>
            <a:pPr>
              <a:defRPr sz="2175" b="0">
                <a:solidFill>
                  <a:srgbClr val="6B6779"/>
                </a:solidFill>
                <a:latin typeface="Arial"/>
                <a:ea typeface="Arial"/>
                <a:cs typeface="Arial"/>
              </a:defRPr>
            </a:pPr>
            <a:r>
              <a:rPr sz="2175" b="0">
                <a:solidFill>
                  <a:srgbClr val="6B6779"/>
                </a:solidFill>
                <a:latin typeface="Arial"/>
                <a:ea typeface="Arial"/>
                <a:cs typeface="Arial"/>
              </a:rPr>
              <a:t>Yiyun QI</a:t>
            </a:r>
          </a:p>
        </p:txBody>
      </p:sp>
      <p:sp>
        <p:nvSpPr>
          <p:cNvPr id="17" name="Team and problem statement 17">
            <a:extLst>
              <a:ext uri="{FF2B5EF4-FFF2-40B4-BE49-F238E27FC236}">
                <ns3:creationId id="{F4D78316-03FB-4CBA-9436-B7C12C9461AE}"/>
              </a:ext>
            </a:extLst>
          </p:cNvPr>
          <p:cNvSpPr>
            <a:spLocks noGrp="1"/>
          </p:cNvSpPr>
          <p:nvPr/>
        </p:nvSpPr>
        <p:spPr>
          <a:xfrm>
            <a:off x="11382375" y="2238375"/>
            <a:ext cx="6000750" cy="361950"/>
          </a:xfrm>
          <a:prstGeom prst="rect">
            <a:avLst/>
          </a:prstGeom>
          <a:noFill/>
          <a:ln w="0">
            <a:noFill/>
          </a:ln>
        </p:spPr>
        <p:txBody>
          <a:bodyPr>
            <a:noAutofit/>
          </a:bodyPr>
          <a:lstStyle/>
          <a:p>
            <a:pPr>
              <a:defRPr sz="2100" b="1">
                <a:solidFill>
                  <a:srgbClr val="6650D7"/>
                </a:solidFill>
                <a:latin typeface="Arial"/>
                <a:ea typeface="Arial"/>
                <a:cs typeface="Arial"/>
              </a:defRPr>
            </a:pPr>
            <a:r>
              <a:rPr sz="2100" b="1">
                <a:solidFill>
                  <a:srgbClr val="6650D7"/>
                </a:solidFill>
                <a:latin typeface="Arial"/>
                <a:ea typeface="Arial"/>
                <a:cs typeface="Arial"/>
              </a:rPr>
              <a:t>FinTech - Problem Statement 1</a:t>
            </a:r>
          </a:p>
        </p:txBody>
      </p:sp>
      <p:sp>
        <p:nvSpPr>
          <p:cNvPr id="18" name="Team and problem statement 18">
            <a:extLst>
              <a:ext uri="{FF2B5EF4-FFF2-40B4-BE49-F238E27FC236}">
                <ns3:creationId id="{FABF3D0F-5930-491E-879B-9525F22EEA0A}"/>
              </a:ext>
            </a:extLst>
          </p:cNvPr>
          <p:cNvSpPr>
            <a:spLocks noGrp="1"/>
          </p:cNvSpPr>
          <p:nvPr/>
        </p:nvSpPr>
        <p:spPr>
          <a:xfrm>
            <a:off x="11382375" y="2647950"/>
            <a:ext cx="6000750" cy="361950"/>
          </a:xfrm>
          <a:prstGeom prst="rect">
            <a:avLst/>
          </a:prstGeom>
          <a:noFill/>
          <a:ln w="0">
            <a:noFill/>
          </a:ln>
        </p:spPr>
        <p:txBody>
          <a:bodyPr>
            <a:noAutofit/>
          </a:bodyPr>
          <a:lstStyle/>
          <a:p>
            <a:pPr>
              <a:defRPr sz="2100" b="0">
                <a:solidFill>
                  <a:srgbClr val="6650D7"/>
                </a:solidFill>
                <a:latin typeface="Arial"/>
                <a:ea typeface="Arial"/>
                <a:cs typeface="Arial"/>
              </a:defRPr>
            </a:pPr>
            <a:r>
              <a:rPr sz="2100" b="0">
                <a:solidFill>
                  <a:srgbClr val="6650D7"/>
                </a:solidFill>
                <a:latin typeface="Arial"/>
                <a:ea typeface="Arial"/>
                <a:cs typeface="Arial"/>
              </a:rPr>
              <a:t>Agentic Commerce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AI shopping still faces a trust barrier</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People already use AI to shop. Letting it complete the purchase is a different decision.</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02</a:t>
            </a:r>
          </a:p>
        </p:txBody>
      </p:sp>
      <p:sp>
        <p:nvSpPr>
          <p:cNvPr name="TextBox 6" id="6"/>
          <p:cNvSpPr txBox="true"/>
          <p:nvPr/>
        </p:nvSpPr>
        <p:spPr>
          <a:xfrm rot="0">
            <a:off x="2334578" y="9656445"/>
            <a:ext cx="13947457" cy="441960"/>
          </a:xfrm>
          <a:prstGeom prst="rect">
            <a:avLst/>
          </a:prstGeom>
        </p:spPr>
        <p:txBody>
          <a:bodyPr anchor="t" rtlCol="false" tIns="0" lIns="0" bIns="0" rIns="0">
            <a:spAutoFit/>
          </a:bodyPr>
          <a:lstStyle/>
          <a:p>
            <a:pPr algn="l">
              <a:lnSpc>
                <a:spcPts val="1823"/>
              </a:lnSpc>
            </a:pPr>
            <a:r>
              <a:rPr lang="en-US" sz="1519">
                <a:solidFill>
                  <a:srgbClr val="696575"/>
                </a:solidFill>
                <a:latin typeface="Arial"/>
                <a:ea typeface="Arial"/>
                <a:cs typeface="Arial"/>
                <a:sym typeface="Arial"/>
              </a:rPr>
              <a:t>Source: Adyen Index 2026, Hong Kong. YouGov, March–April 2026. n = 1,026 adults.</a:t>
            </a:r>
          </a:p>
        </p:txBody>
      </p:sp>
      <p:grpSp>
        <p:nvGrpSpPr>
          <p:cNvPr name="Group 7" id="7"/>
          <p:cNvGrpSpPr/>
          <p:nvPr/>
        </p:nvGrpSpPr>
        <p:grpSpPr>
          <a:xfrm rot="0">
            <a:off x="1902104" y="2957512"/>
            <a:ext cx="14483801" cy="5743575"/>
            <a:chOff x="0" y="0"/>
            <a:chExt cx="19311734" cy="7658100"/>
          </a:xfrm>
        </p:grpSpPr>
        <p:sp>
          <p:nvSpPr>
            <p:cNvPr name="Freeform 8" id="8"/>
            <p:cNvSpPr/>
            <p:nvPr/>
          </p:nvSpPr>
          <p:spPr>
            <a:xfrm flipH="false" flipV="false" rot="0">
              <a:off x="0" y="0"/>
              <a:ext cx="19311747" cy="7658100"/>
            </a:xfrm>
            <a:custGeom>
              <a:avLst/>
              <a:gdLst/>
              <a:ahLst/>
              <a:cxnLst/>
              <a:rect r="r" b="b" t="t" l="l"/>
              <a:pathLst>
                <a:path h="7658100" w="19311747">
                  <a:moveTo>
                    <a:pt x="0" y="0"/>
                  </a:moveTo>
                  <a:lnTo>
                    <a:pt x="19311747" y="0"/>
                  </a:lnTo>
                  <a:lnTo>
                    <a:pt x="19311747" y="7658100"/>
                  </a:lnTo>
                  <a:lnTo>
                    <a:pt x="0" y="7658100"/>
                  </a:lnTo>
                  <a:lnTo>
                    <a:pt x="0" y="0"/>
                  </a:lnTo>
                  <a:close/>
                </a:path>
              </a:pathLst>
            </a:custGeom>
            <a:blipFill>
              <a:blip r:embed="rId3"/>
              <a:stretch>
                <a:fillRect l="0" t="0" r="0" b="0"/>
              </a:stretch>
            </a:blipFill>
          </p:spPr>
        </p:sp>
      </p:grpSp>
      <p:sp>
        <p:nvSpPr>
          <p:cNvPr name="TextBox 9" id="9"/>
          <p:cNvSpPr txBox="true"/>
          <p:nvPr/>
        </p:nvSpPr>
        <p:spPr>
          <a:xfrm rot="0">
            <a:off x="1020127" y="8837295"/>
            <a:ext cx="16204882" cy="475297"/>
          </a:xfrm>
          <a:prstGeom prst="rect">
            <a:avLst/>
          </a:prstGeom>
        </p:spPr>
        <p:txBody>
          <a:bodyPr anchor="t" rtlCol="false" tIns="0" lIns="0" bIns="0" rIns="0">
            <a:spAutoFit/>
          </a:bodyPr>
          <a:lstStyle/>
          <a:p>
            <a:pPr algn="l">
              <a:lnSpc>
                <a:spcPts val="2430"/>
              </a:lnSpc>
            </a:pPr>
            <a:r>
              <a:rPr lang="en-US" sz="2025">
                <a:solidFill>
                  <a:srgbClr val="696575"/>
                </a:solidFill>
                <a:latin typeface="Arial"/>
                <a:ea typeface="Arial"/>
                <a:cs typeface="Arial"/>
                <a:sym typeface="Arial"/>
              </a:rPr>
              <a:t>¹ Even after reviewing and approving the product and price. Independent measures, not a funnel.</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Four dimensions, one complete purchase</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Example request: “Restock laundry liquid, 2L or more, under HK$150.”</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03</a:t>
            </a:r>
          </a:p>
        </p:txBody>
      </p:sp>
      <p:sp>
        <p:nvSpPr>
          <p:cNvPr name="TextBox 6" id="6"/>
          <p:cNvSpPr txBox="true"/>
          <p:nvPr/>
        </p:nvSpPr>
        <p:spPr>
          <a:xfrm rot="0">
            <a:off x="977265" y="3250883"/>
            <a:ext cx="2817495" cy="918210"/>
          </a:xfrm>
          <a:prstGeom prst="rect">
            <a:avLst/>
          </a:prstGeom>
        </p:spPr>
        <p:txBody>
          <a:bodyPr anchor="t" rtlCol="false" tIns="0" lIns="0" bIns="0" rIns="0">
            <a:spAutoFit/>
          </a:bodyPr>
          <a:lstStyle/>
          <a:p>
            <a:pPr algn="l">
              <a:lnSpc>
                <a:spcPts val="6750"/>
              </a:lnSpc>
            </a:pPr>
            <a:r>
              <a:rPr lang="en-US" sz="5625" b="true">
                <a:solidFill>
                  <a:srgbClr val="6650D7"/>
                </a:solidFill>
                <a:latin typeface="Arial Bold"/>
                <a:ea typeface="Arial Bold"/>
                <a:cs typeface="Arial Bold"/>
                <a:sym typeface="Arial Bold"/>
              </a:rPr>
              <a:t>01</a:t>
            </a:r>
          </a:p>
        </p:txBody>
      </p:sp>
      <p:sp>
        <p:nvSpPr>
          <p:cNvPr name="TextBox 7" id="7"/>
          <p:cNvSpPr txBox="true"/>
          <p:nvPr/>
        </p:nvSpPr>
        <p:spPr>
          <a:xfrm rot="0">
            <a:off x="977265" y="4498658"/>
            <a:ext cx="3789045" cy="613410"/>
          </a:xfrm>
          <a:prstGeom prst="rect">
            <a:avLst/>
          </a:prstGeom>
        </p:spPr>
        <p:txBody>
          <a:bodyPr anchor="t" rtlCol="false" tIns="0" lIns="0" bIns="0" rIns="0">
            <a:spAutoFit/>
          </a:bodyPr>
          <a:lstStyle/>
          <a:p>
            <a:pPr algn="l">
              <a:lnSpc>
                <a:spcPts val="4185"/>
              </a:lnSpc>
            </a:pPr>
            <a:r>
              <a:rPr lang="en-US" sz="3487" b="true">
                <a:solidFill>
                  <a:srgbClr val="17151F"/>
                </a:solidFill>
                <a:latin typeface="Arial Bold"/>
                <a:ea typeface="Arial Bold"/>
                <a:cs typeface="Arial Bold"/>
                <a:sym typeface="Arial Bold"/>
              </a:rPr>
              <a:t>Trust</a:t>
            </a:r>
          </a:p>
        </p:txBody>
      </p:sp>
      <p:sp>
        <p:nvSpPr>
          <p:cNvPr name="AutoShape 8" id="8"/>
          <p:cNvSpPr/>
          <p:nvPr/>
        </p:nvSpPr>
        <p:spPr>
          <a:xfrm rot="17100">
            <a:off x="876519" y="5395912"/>
            <a:ext cx="3733371" cy="0"/>
          </a:xfrm>
          <a:prstGeom prst="line">
            <a:avLst/>
          </a:prstGeom>
          <a:ln cap="rnd" w="9525">
            <a:solidFill>
              <a:srgbClr val="DDD9E9"/>
            </a:solidFill>
            <a:prstDash val="solid"/>
            <a:headEnd type="none" len="sm" w="sm"/>
            <a:tailEnd type="none" len="sm" w="sm"/>
          </a:ln>
        </p:spPr>
      </p:sp>
      <p:sp>
        <p:nvSpPr>
          <p:cNvPr name="TextBox 9" id="9"/>
          <p:cNvSpPr txBox="true"/>
          <p:nvPr/>
        </p:nvSpPr>
        <p:spPr>
          <a:xfrm rot="0">
            <a:off x="977265" y="5813108"/>
            <a:ext cx="3789045" cy="541972"/>
          </a:xfrm>
          <a:prstGeom prst="rect">
            <a:avLst/>
          </a:prstGeom>
        </p:spPr>
        <p:txBody>
          <a:bodyPr anchor="t" rtlCol="false" tIns="0" lIns="0" bIns="0" rIns="0">
            <a:spAutoFit/>
          </a:bodyPr>
          <a:lstStyle/>
          <a:p>
            <a:pPr algn="l">
              <a:lnSpc>
                <a:spcPts val="3240"/>
              </a:lnSpc>
            </a:pPr>
            <a:r>
              <a:rPr lang="en-US" sz="2700" b="true">
                <a:solidFill>
                  <a:srgbClr val="6650D7"/>
                </a:solidFill>
                <a:latin typeface="Arial Bold"/>
                <a:ea typeface="Arial Bold"/>
                <a:cs typeface="Arial Bold"/>
                <a:sym typeface="Arial Bold"/>
              </a:rPr>
              <a:t>Permission</a:t>
            </a:r>
          </a:p>
        </p:txBody>
      </p:sp>
      <p:sp>
        <p:nvSpPr>
          <p:cNvPr name="TextBox 10" id="10"/>
          <p:cNvSpPr txBox="true"/>
          <p:nvPr/>
        </p:nvSpPr>
        <p:spPr>
          <a:xfrm rot="0">
            <a:off x="977265" y="6684645"/>
            <a:ext cx="3746183" cy="1942148"/>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HK$150 per order</a:t>
            </a:r>
          </a:p>
          <a:p>
            <a:pPr algn="l">
              <a:lnSpc>
                <a:spcPts val="3375"/>
              </a:lnSpc>
            </a:pPr>
            <a:r>
              <a:rPr lang="en-US" sz="2812">
                <a:solidFill>
                  <a:srgbClr val="17151F"/>
                </a:solidFill>
                <a:latin typeface="Arial"/>
                <a:ea typeface="Arial"/>
                <a:cs typeface="Arial"/>
                <a:sym typeface="Arial"/>
              </a:rPr>
              <a:t>HK$300 total</a:t>
            </a:r>
          </a:p>
          <a:p>
            <a:pPr algn="l">
              <a:lnSpc>
                <a:spcPts val="3375"/>
              </a:lnSpc>
            </a:pPr>
            <a:r>
              <a:rPr lang="en-US" sz="2812">
                <a:solidFill>
                  <a:srgbClr val="17151F"/>
                </a:solidFill>
                <a:latin typeface="Arial"/>
                <a:ea typeface="Arial"/>
                <a:cs typeface="Arial"/>
                <a:sym typeface="Arial"/>
              </a:rPr>
              <a:t>2 purchases, 7 days</a:t>
            </a:r>
          </a:p>
        </p:txBody>
      </p:sp>
      <p:sp>
        <p:nvSpPr>
          <p:cNvPr name="TextBox 11" id="11"/>
          <p:cNvSpPr txBox="true"/>
          <p:nvPr/>
        </p:nvSpPr>
        <p:spPr>
          <a:xfrm rot="0">
            <a:off x="5320665" y="3250883"/>
            <a:ext cx="2817495" cy="918210"/>
          </a:xfrm>
          <a:prstGeom prst="rect">
            <a:avLst/>
          </a:prstGeom>
        </p:spPr>
        <p:txBody>
          <a:bodyPr anchor="t" rtlCol="false" tIns="0" lIns="0" bIns="0" rIns="0">
            <a:spAutoFit/>
          </a:bodyPr>
          <a:lstStyle/>
          <a:p>
            <a:pPr algn="l">
              <a:lnSpc>
                <a:spcPts val="6750"/>
              </a:lnSpc>
            </a:pPr>
            <a:r>
              <a:rPr lang="en-US" sz="5625" b="true">
                <a:solidFill>
                  <a:srgbClr val="6650D7"/>
                </a:solidFill>
                <a:latin typeface="Arial Bold"/>
                <a:ea typeface="Arial Bold"/>
                <a:cs typeface="Arial Bold"/>
                <a:sym typeface="Arial Bold"/>
              </a:rPr>
              <a:t>02</a:t>
            </a:r>
          </a:p>
        </p:txBody>
      </p:sp>
      <p:sp>
        <p:nvSpPr>
          <p:cNvPr name="TextBox 12" id="12"/>
          <p:cNvSpPr txBox="true"/>
          <p:nvPr/>
        </p:nvSpPr>
        <p:spPr>
          <a:xfrm rot="0">
            <a:off x="5320665" y="4498658"/>
            <a:ext cx="3789045" cy="613410"/>
          </a:xfrm>
          <a:prstGeom prst="rect">
            <a:avLst/>
          </a:prstGeom>
        </p:spPr>
        <p:txBody>
          <a:bodyPr anchor="t" rtlCol="false" tIns="0" lIns="0" bIns="0" rIns="0">
            <a:spAutoFit/>
          </a:bodyPr>
          <a:lstStyle/>
          <a:p>
            <a:pPr algn="l">
              <a:lnSpc>
                <a:spcPts val="4185"/>
              </a:lnSpc>
            </a:pPr>
            <a:r>
              <a:rPr lang="en-US" sz="3487" b="true">
                <a:solidFill>
                  <a:srgbClr val="17151F"/>
                </a:solidFill>
                <a:latin typeface="Arial Bold"/>
                <a:ea typeface="Arial Bold"/>
                <a:cs typeface="Arial Bold"/>
                <a:sym typeface="Arial Bold"/>
              </a:rPr>
              <a:t>E-commerce</a:t>
            </a:r>
          </a:p>
        </p:txBody>
      </p:sp>
      <p:sp>
        <p:nvSpPr>
          <p:cNvPr name="AutoShape 13" id="13"/>
          <p:cNvSpPr/>
          <p:nvPr/>
        </p:nvSpPr>
        <p:spPr>
          <a:xfrm rot="17100">
            <a:off x="5219919" y="5395912"/>
            <a:ext cx="3733371" cy="0"/>
          </a:xfrm>
          <a:prstGeom prst="line">
            <a:avLst/>
          </a:prstGeom>
          <a:ln cap="rnd" w="9525">
            <a:solidFill>
              <a:srgbClr val="DDD9E9"/>
            </a:solidFill>
            <a:prstDash val="solid"/>
            <a:headEnd type="none" len="sm" w="sm"/>
            <a:tailEnd type="none" len="sm" w="sm"/>
          </a:ln>
        </p:spPr>
      </p:sp>
      <p:sp>
        <p:nvSpPr>
          <p:cNvPr name="TextBox 14" id="14"/>
          <p:cNvSpPr txBox="true"/>
          <p:nvPr/>
        </p:nvSpPr>
        <p:spPr>
          <a:xfrm rot="0">
            <a:off x="5320665" y="5813108"/>
            <a:ext cx="3789045" cy="541972"/>
          </a:xfrm>
          <a:prstGeom prst="rect">
            <a:avLst/>
          </a:prstGeom>
        </p:spPr>
        <p:txBody>
          <a:bodyPr anchor="t" rtlCol="false" tIns="0" lIns="0" bIns="0" rIns="0">
            <a:spAutoFit/>
          </a:bodyPr>
          <a:lstStyle/>
          <a:p>
            <a:pPr algn="l">
              <a:lnSpc>
                <a:spcPts val="3240"/>
              </a:lnSpc>
            </a:pPr>
            <a:r>
              <a:rPr lang="en-US" sz="2700" b="true">
                <a:solidFill>
                  <a:srgbClr val="6650D7"/>
                </a:solidFill>
                <a:latin typeface="Arial Bold"/>
                <a:ea typeface="Arial Bold"/>
                <a:cs typeface="Arial Bold"/>
                <a:sym typeface="Arial Bold"/>
              </a:rPr>
              <a:t>A suitable basket</a:t>
            </a:r>
          </a:p>
        </p:txBody>
      </p:sp>
      <p:sp>
        <p:nvSpPr>
          <p:cNvPr name="TextBox 15" id="15"/>
          <p:cNvSpPr txBox="true"/>
          <p:nvPr/>
        </p:nvSpPr>
        <p:spPr>
          <a:xfrm rot="0">
            <a:off x="5320665" y="6684645"/>
            <a:ext cx="3746183" cy="1942148"/>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Compare both stores</a:t>
            </a:r>
          </a:p>
          <a:p>
            <a:pPr algn="l">
              <a:lnSpc>
                <a:spcPts val="3375"/>
              </a:lnSpc>
            </a:pPr>
            <a:r>
              <a:rPr lang="en-US" sz="2812">
                <a:solidFill>
                  <a:srgbClr val="17151F"/>
                </a:solidFill>
                <a:latin typeface="Arial"/>
                <a:ea typeface="Arial"/>
                <a:cs typeface="Arial"/>
                <a:sym typeface="Arial"/>
              </a:rPr>
              <a:t>Include delivery</a:t>
            </a:r>
          </a:p>
          <a:p>
            <a:pPr algn="l">
              <a:lnSpc>
                <a:spcPts val="3375"/>
              </a:lnSpc>
            </a:pPr>
            <a:r>
              <a:rPr lang="en-US" sz="2812">
                <a:solidFill>
                  <a:srgbClr val="17151F"/>
                </a:solidFill>
                <a:latin typeface="Arial"/>
                <a:ea typeface="Arial"/>
                <a:cs typeface="Arial"/>
                <a:sym typeface="Arial"/>
              </a:rPr>
              <a:t>Keep the chosen cart</a:t>
            </a:r>
          </a:p>
        </p:txBody>
      </p:sp>
      <p:sp>
        <p:nvSpPr>
          <p:cNvPr name="TextBox 16" id="16"/>
          <p:cNvSpPr txBox="true"/>
          <p:nvPr/>
        </p:nvSpPr>
        <p:spPr>
          <a:xfrm rot="0">
            <a:off x="9664065" y="3250883"/>
            <a:ext cx="2817495" cy="918210"/>
          </a:xfrm>
          <a:prstGeom prst="rect">
            <a:avLst/>
          </a:prstGeom>
        </p:spPr>
        <p:txBody>
          <a:bodyPr anchor="t" rtlCol="false" tIns="0" lIns="0" bIns="0" rIns="0">
            <a:spAutoFit/>
          </a:bodyPr>
          <a:lstStyle/>
          <a:p>
            <a:pPr algn="l">
              <a:lnSpc>
                <a:spcPts val="6750"/>
              </a:lnSpc>
            </a:pPr>
            <a:r>
              <a:rPr lang="en-US" sz="5625" b="true">
                <a:solidFill>
                  <a:srgbClr val="6650D7"/>
                </a:solidFill>
                <a:latin typeface="Arial Bold"/>
                <a:ea typeface="Arial Bold"/>
                <a:cs typeface="Arial Bold"/>
                <a:sym typeface="Arial Bold"/>
              </a:rPr>
              <a:t>03</a:t>
            </a:r>
          </a:p>
        </p:txBody>
      </p:sp>
      <p:sp>
        <p:nvSpPr>
          <p:cNvPr name="TextBox 17" id="17"/>
          <p:cNvSpPr txBox="true"/>
          <p:nvPr/>
        </p:nvSpPr>
        <p:spPr>
          <a:xfrm rot="0">
            <a:off x="9664065" y="4498658"/>
            <a:ext cx="3789045" cy="613410"/>
          </a:xfrm>
          <a:prstGeom prst="rect">
            <a:avLst/>
          </a:prstGeom>
        </p:spPr>
        <p:txBody>
          <a:bodyPr anchor="t" rtlCol="false" tIns="0" lIns="0" bIns="0" rIns="0">
            <a:spAutoFit/>
          </a:bodyPr>
          <a:lstStyle/>
          <a:p>
            <a:pPr algn="l">
              <a:lnSpc>
                <a:spcPts val="4185"/>
              </a:lnSpc>
            </a:pPr>
            <a:r>
              <a:rPr lang="en-US" sz="3487" b="true">
                <a:solidFill>
                  <a:srgbClr val="17151F"/>
                </a:solidFill>
                <a:latin typeface="Arial Bold"/>
                <a:ea typeface="Arial Bold"/>
                <a:cs typeface="Arial Bold"/>
                <a:sym typeface="Arial Bold"/>
              </a:rPr>
              <a:t>Agent</a:t>
            </a:r>
          </a:p>
        </p:txBody>
      </p:sp>
      <p:sp>
        <p:nvSpPr>
          <p:cNvPr name="AutoShape 18" id="18"/>
          <p:cNvSpPr/>
          <p:nvPr/>
        </p:nvSpPr>
        <p:spPr>
          <a:xfrm rot="17100">
            <a:off x="9563319" y="5395912"/>
            <a:ext cx="3733371" cy="0"/>
          </a:xfrm>
          <a:prstGeom prst="line">
            <a:avLst/>
          </a:prstGeom>
          <a:ln cap="rnd" w="9525">
            <a:solidFill>
              <a:srgbClr val="DDD9E9"/>
            </a:solidFill>
            <a:prstDash val="solid"/>
            <a:headEnd type="none" len="sm" w="sm"/>
            <a:tailEnd type="none" len="sm" w="sm"/>
          </a:ln>
        </p:spPr>
      </p:sp>
      <p:sp>
        <p:nvSpPr>
          <p:cNvPr name="TextBox 19" id="19"/>
          <p:cNvSpPr txBox="true"/>
          <p:nvPr/>
        </p:nvSpPr>
        <p:spPr>
          <a:xfrm rot="0">
            <a:off x="9664065" y="5813108"/>
            <a:ext cx="3789045" cy="541972"/>
          </a:xfrm>
          <a:prstGeom prst="rect">
            <a:avLst/>
          </a:prstGeom>
        </p:spPr>
        <p:txBody>
          <a:bodyPr anchor="t" rtlCol="false" tIns="0" lIns="0" bIns="0" rIns="0">
            <a:spAutoFit/>
          </a:bodyPr>
          <a:lstStyle/>
          <a:p>
            <a:pPr algn="l">
              <a:lnSpc>
                <a:spcPts val="3240"/>
              </a:lnSpc>
            </a:pPr>
            <a:r>
              <a:rPr lang="en-US" sz="2700" b="true">
                <a:solidFill>
                  <a:srgbClr val="6650D7"/>
                </a:solidFill>
                <a:latin typeface="Arial Bold"/>
                <a:ea typeface="Arial Bold"/>
                <a:cs typeface="Arial Bold"/>
                <a:sym typeface="Arial Bold"/>
              </a:rPr>
              <a:t>Work delegated</a:t>
            </a:r>
          </a:p>
        </p:txBody>
      </p:sp>
      <p:sp>
        <p:nvSpPr>
          <p:cNvPr name="TextBox 20" id="20"/>
          <p:cNvSpPr txBox="true"/>
          <p:nvPr/>
        </p:nvSpPr>
        <p:spPr>
          <a:xfrm rot="0">
            <a:off x="9664065" y="6684645"/>
            <a:ext cx="3746183" cy="1942148"/>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Read the request</a:t>
            </a:r>
          </a:p>
          <a:p>
            <a:pPr algn="l">
              <a:lnSpc>
                <a:spcPts val="3375"/>
              </a:lnSpc>
            </a:pPr>
            <a:r>
              <a:rPr lang="en-US" sz="2812">
                <a:solidFill>
                  <a:srgbClr val="17151F"/>
                </a:solidFill>
                <a:latin typeface="Arial"/>
                <a:ea typeface="Arial"/>
                <a:cs typeface="Arial"/>
                <a:sym typeface="Arial"/>
              </a:rPr>
              <a:t>Search and explain</a:t>
            </a:r>
          </a:p>
          <a:p>
            <a:pPr algn="l">
              <a:lnSpc>
                <a:spcPts val="3375"/>
              </a:lnSpc>
            </a:pPr>
            <a:r>
              <a:rPr lang="en-US" sz="2812">
                <a:solidFill>
                  <a:srgbClr val="17151F"/>
                </a:solidFill>
                <a:latin typeface="Arial"/>
                <a:ea typeface="Arial"/>
                <a:cs typeface="Arial"/>
                <a:sym typeface="Arial"/>
              </a:rPr>
              <a:t>Handle follow-ups</a:t>
            </a:r>
          </a:p>
        </p:txBody>
      </p:sp>
      <p:sp>
        <p:nvSpPr>
          <p:cNvPr name="TextBox 21" id="21"/>
          <p:cNvSpPr txBox="true"/>
          <p:nvPr/>
        </p:nvSpPr>
        <p:spPr>
          <a:xfrm rot="0">
            <a:off x="14007465" y="3250883"/>
            <a:ext cx="2817495" cy="918210"/>
          </a:xfrm>
          <a:prstGeom prst="rect">
            <a:avLst/>
          </a:prstGeom>
        </p:spPr>
        <p:txBody>
          <a:bodyPr anchor="t" rtlCol="false" tIns="0" lIns="0" bIns="0" rIns="0">
            <a:spAutoFit/>
          </a:bodyPr>
          <a:lstStyle/>
          <a:p>
            <a:pPr algn="l">
              <a:lnSpc>
                <a:spcPts val="6750"/>
              </a:lnSpc>
            </a:pPr>
            <a:r>
              <a:rPr lang="en-US" sz="5625" b="true">
                <a:solidFill>
                  <a:srgbClr val="6650D7"/>
                </a:solidFill>
                <a:latin typeface="Arial Bold"/>
                <a:ea typeface="Arial Bold"/>
                <a:cs typeface="Arial Bold"/>
                <a:sym typeface="Arial Bold"/>
              </a:rPr>
              <a:t>04</a:t>
            </a:r>
          </a:p>
        </p:txBody>
      </p:sp>
      <p:sp>
        <p:nvSpPr>
          <p:cNvPr name="TextBox 22" id="22"/>
          <p:cNvSpPr txBox="true"/>
          <p:nvPr/>
        </p:nvSpPr>
        <p:spPr>
          <a:xfrm rot="0">
            <a:off x="14007465" y="4498658"/>
            <a:ext cx="3789045" cy="613410"/>
          </a:xfrm>
          <a:prstGeom prst="rect">
            <a:avLst/>
          </a:prstGeom>
        </p:spPr>
        <p:txBody>
          <a:bodyPr anchor="t" rtlCol="false" tIns="0" lIns="0" bIns="0" rIns="0">
            <a:spAutoFit/>
          </a:bodyPr>
          <a:lstStyle/>
          <a:p>
            <a:pPr algn="l">
              <a:lnSpc>
                <a:spcPts val="4185"/>
              </a:lnSpc>
            </a:pPr>
            <a:r>
              <a:rPr lang="en-US" sz="3487" b="true">
                <a:solidFill>
                  <a:srgbClr val="17151F"/>
                </a:solidFill>
                <a:latin typeface="Arial Bold"/>
                <a:ea typeface="Arial Bold"/>
                <a:cs typeface="Arial Bold"/>
                <a:sym typeface="Arial Bold"/>
              </a:rPr>
              <a:t>Payment</a:t>
            </a:r>
          </a:p>
        </p:txBody>
      </p:sp>
      <p:sp>
        <p:nvSpPr>
          <p:cNvPr name="AutoShape 23" id="23"/>
          <p:cNvSpPr/>
          <p:nvPr/>
        </p:nvSpPr>
        <p:spPr>
          <a:xfrm rot="17100">
            <a:off x="13906719" y="5395912"/>
            <a:ext cx="3733371" cy="0"/>
          </a:xfrm>
          <a:prstGeom prst="line">
            <a:avLst/>
          </a:prstGeom>
          <a:ln cap="rnd" w="9525">
            <a:solidFill>
              <a:srgbClr val="DDD9E9"/>
            </a:solidFill>
            <a:prstDash val="solid"/>
            <a:headEnd type="none" len="sm" w="sm"/>
            <a:tailEnd type="none" len="sm" w="sm"/>
          </a:ln>
        </p:spPr>
      </p:sp>
      <p:sp>
        <p:nvSpPr>
          <p:cNvPr name="TextBox 24" id="24"/>
          <p:cNvSpPr txBox="true"/>
          <p:nvPr/>
        </p:nvSpPr>
        <p:spPr>
          <a:xfrm rot="0">
            <a:off x="14007465" y="5813108"/>
            <a:ext cx="3789045" cy="541972"/>
          </a:xfrm>
          <a:prstGeom prst="rect">
            <a:avLst/>
          </a:prstGeom>
        </p:spPr>
        <p:txBody>
          <a:bodyPr anchor="t" rtlCol="false" tIns="0" lIns="0" bIns="0" rIns="0">
            <a:spAutoFit/>
          </a:bodyPr>
          <a:lstStyle/>
          <a:p>
            <a:pPr algn="l">
              <a:lnSpc>
                <a:spcPts val="3240"/>
              </a:lnSpc>
            </a:pPr>
            <a:r>
              <a:rPr lang="en-US" sz="2700" b="true">
                <a:solidFill>
                  <a:srgbClr val="6650D7"/>
                </a:solidFill>
                <a:latin typeface="Arial Bold"/>
                <a:ea typeface="Arial Bold"/>
                <a:cs typeface="Arial Bold"/>
                <a:sym typeface="Arial Bold"/>
              </a:rPr>
              <a:t>A checked charge</a:t>
            </a:r>
          </a:p>
        </p:txBody>
      </p:sp>
      <p:sp>
        <p:nvSpPr>
          <p:cNvPr name="TextBox 25" id="25"/>
          <p:cNvSpPr txBox="true"/>
          <p:nvPr/>
        </p:nvSpPr>
        <p:spPr>
          <a:xfrm rot="0">
            <a:off x="14007465" y="6684645"/>
            <a:ext cx="3746183" cy="1942148"/>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Choose an eligible rail</a:t>
            </a:r>
          </a:p>
          <a:p>
            <a:pPr algn="l">
              <a:lnSpc>
                <a:spcPts val="3375"/>
              </a:lnSpc>
            </a:pPr>
            <a:r>
              <a:rPr lang="en-US" sz="2812">
                <a:solidFill>
                  <a:srgbClr val="17151F"/>
                </a:solidFill>
                <a:latin typeface="Arial"/>
                <a:ea typeface="Arial"/>
                <a:cs typeface="Arial"/>
                <a:sym typeface="Arial"/>
              </a:rPr>
              <a:t>Recheck at settlement</a:t>
            </a:r>
          </a:p>
          <a:p>
            <a:pPr algn="l">
              <a:lnSpc>
                <a:spcPts val="3375"/>
              </a:lnSpc>
            </a:pPr>
            <a:r>
              <a:rPr lang="en-US" sz="2812">
                <a:solidFill>
                  <a:srgbClr val="17151F"/>
                </a:solidFill>
                <a:latin typeface="Arial"/>
                <a:ea typeface="Arial"/>
                <a:cs typeface="Arial"/>
                <a:sym typeface="Arial"/>
              </a:rPr>
              <a:t>Keep a linked receipt</a:t>
            </a:r>
          </a:p>
        </p:txBody>
      </p:sp>
      <p:sp>
        <p:nvSpPr>
          <p:cNvPr name="TextBox 26" id="26"/>
          <p:cNvSpPr txBox="true"/>
          <p:nvPr/>
        </p:nvSpPr>
        <p:spPr>
          <a:xfrm rot="0">
            <a:off x="1005840" y="8856345"/>
            <a:ext cx="16219170" cy="541972"/>
          </a:xfrm>
          <a:prstGeom prst="rect">
            <a:avLst/>
          </a:prstGeom>
        </p:spPr>
        <p:txBody>
          <a:bodyPr anchor="t" rtlCol="false" tIns="0" lIns="0" bIns="0" rIns="0">
            <a:spAutoFit/>
          </a:bodyPr>
          <a:lstStyle/>
          <a:p>
            <a:pPr algn="l">
              <a:lnSpc>
                <a:spcPts val="3644"/>
              </a:lnSpc>
            </a:pPr>
            <a:r>
              <a:rPr lang="en-US" sz="3037" b="true">
                <a:solidFill>
                  <a:srgbClr val="17151F"/>
                </a:solidFill>
                <a:latin typeface="Arial Bold"/>
                <a:ea typeface="Arial Bold"/>
                <a:cs typeface="Arial Bold"/>
                <a:sym typeface="Arial Bold"/>
              </a:rPr>
              <a:t>The mandate is the user’s permission. Every dimension refers back to it.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Trust: permission has explicit limits</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A signed mandate defines the budget, purchase count, expiry and conditions that require a question.</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04</a:t>
            </a:r>
          </a:p>
        </p:txBody>
      </p:sp>
      <p:sp>
        <p:nvSpPr>
          <p:cNvPr name="TextBox 6" id="6"/>
          <p:cNvSpPr txBox="true"/>
          <p:nvPr/>
        </p:nvSpPr>
        <p:spPr>
          <a:xfrm rot="0">
            <a:off x="2334578" y="9656445"/>
            <a:ext cx="13947457" cy="441960"/>
          </a:xfrm>
          <a:prstGeom prst="rect">
            <a:avLst/>
          </a:prstGeom>
        </p:spPr>
        <p:txBody>
          <a:bodyPr anchor="t" rtlCol="false" tIns="0" lIns="0" bIns="0" rIns="0">
            <a:spAutoFit/>
          </a:bodyPr>
          <a:lstStyle/>
          <a:p>
            <a:pPr algn="l">
              <a:lnSpc>
                <a:spcPts val="1823"/>
              </a:lnSpc>
            </a:pPr>
            <a:r>
              <a:rPr lang="en-US" sz="1519">
                <a:solidFill>
                  <a:srgbClr val="696575"/>
                </a:solidFill>
                <a:latin typeface="Arial"/>
                <a:ea typeface="Arial"/>
                <a:cs typeface="Arial"/>
                <a:sym typeface="Arial"/>
              </a:rPr>
              <a:t>Deployed refusal example. Raising a cap is a separate permission change, not an approval override.</a:t>
            </a:r>
          </a:p>
        </p:txBody>
      </p:sp>
      <p:grpSp>
        <p:nvGrpSpPr>
          <p:cNvPr name="Group 7" id="7"/>
          <p:cNvGrpSpPr/>
          <p:nvPr/>
        </p:nvGrpSpPr>
        <p:grpSpPr>
          <a:xfrm rot="0">
            <a:off x="885825" y="3230594"/>
            <a:ext cx="7858125" cy="5911786"/>
            <a:chOff x="0" y="0"/>
            <a:chExt cx="10477500" cy="7882382"/>
          </a:xfrm>
        </p:grpSpPr>
        <p:sp>
          <p:nvSpPr>
            <p:cNvPr name="Freeform 8" id="8"/>
            <p:cNvSpPr/>
            <p:nvPr/>
          </p:nvSpPr>
          <p:spPr>
            <a:xfrm flipH="false" flipV="false" rot="0">
              <a:off x="0" y="0"/>
              <a:ext cx="10477500" cy="7882382"/>
            </a:xfrm>
            <a:custGeom>
              <a:avLst/>
              <a:gdLst/>
              <a:ahLst/>
              <a:cxnLst/>
              <a:rect r="r" b="b" t="t" l="l"/>
              <a:pathLst>
                <a:path h="7882382" w="10477500">
                  <a:moveTo>
                    <a:pt x="0" y="0"/>
                  </a:moveTo>
                  <a:lnTo>
                    <a:pt x="10477500" y="0"/>
                  </a:lnTo>
                  <a:lnTo>
                    <a:pt x="10477500" y="7882382"/>
                  </a:lnTo>
                  <a:lnTo>
                    <a:pt x="0" y="7882382"/>
                  </a:lnTo>
                  <a:lnTo>
                    <a:pt x="0" y="0"/>
                  </a:lnTo>
                  <a:close/>
                </a:path>
              </a:pathLst>
            </a:custGeom>
            <a:blipFill>
              <a:blip r:embed="rId3"/>
              <a:stretch>
                <a:fillRect l="0" t="0" r="0" b="0"/>
              </a:stretch>
            </a:blipFill>
          </p:spPr>
        </p:sp>
      </p:grpSp>
      <p:sp>
        <p:nvSpPr>
          <p:cNvPr name="TextBox 9" id="9"/>
          <p:cNvSpPr txBox="true"/>
          <p:nvPr/>
        </p:nvSpPr>
        <p:spPr>
          <a:xfrm rot="0">
            <a:off x="9678352" y="3169920"/>
            <a:ext cx="7675245" cy="799148"/>
          </a:xfrm>
          <a:prstGeom prst="rect">
            <a:avLst/>
          </a:prstGeom>
        </p:spPr>
        <p:txBody>
          <a:bodyPr anchor="t" rtlCol="false" tIns="0" lIns="0" bIns="0" rIns="0">
            <a:spAutoFit/>
          </a:bodyPr>
          <a:lstStyle/>
          <a:p>
            <a:pPr algn="l">
              <a:lnSpc>
                <a:spcPts val="4995"/>
              </a:lnSpc>
            </a:pPr>
            <a:r>
              <a:rPr lang="en-US" sz="4162" b="true">
                <a:solidFill>
                  <a:srgbClr val="6650D7"/>
                </a:solidFill>
                <a:latin typeface="Arial Bold"/>
                <a:ea typeface="Arial Bold"/>
                <a:cs typeface="Arial Bold"/>
                <a:sym typeface="Arial Bold"/>
              </a:rPr>
              <a:t>HK$150 per order</a:t>
            </a:r>
          </a:p>
        </p:txBody>
      </p:sp>
      <p:sp>
        <p:nvSpPr>
          <p:cNvPr name="TextBox 10" id="10"/>
          <p:cNvSpPr txBox="true"/>
          <p:nvPr/>
        </p:nvSpPr>
        <p:spPr>
          <a:xfrm rot="0">
            <a:off x="9721215" y="4212908"/>
            <a:ext cx="7618095" cy="856298"/>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HK$300 total    /    2 purchases    /    7 days</a:t>
            </a:r>
          </a:p>
        </p:txBody>
      </p:sp>
      <p:sp>
        <p:nvSpPr>
          <p:cNvPr name="TextBox 11" id="11"/>
          <p:cNvSpPr txBox="true"/>
          <p:nvPr/>
        </p:nvSpPr>
        <p:spPr>
          <a:xfrm rot="0">
            <a:off x="9721215" y="5513070"/>
            <a:ext cx="1345882" cy="556260"/>
          </a:xfrm>
          <a:prstGeom prst="rect">
            <a:avLst/>
          </a:prstGeom>
        </p:spPr>
        <p:txBody>
          <a:bodyPr anchor="t" rtlCol="false" tIns="0" lIns="0" bIns="0" rIns="0">
            <a:spAutoFit/>
          </a:bodyPr>
          <a:lstStyle/>
          <a:p>
            <a:pPr algn="l">
              <a:lnSpc>
                <a:spcPts val="3240"/>
              </a:lnSpc>
            </a:pPr>
            <a:r>
              <a:rPr lang="en-US" sz="2700" b="true">
                <a:solidFill>
                  <a:srgbClr val="237451"/>
                </a:solidFill>
                <a:latin typeface="Arial Bold"/>
                <a:ea typeface="Arial Bold"/>
                <a:cs typeface="Arial Bold"/>
                <a:sym typeface="Arial Bold"/>
              </a:rPr>
              <a:t>BUY</a:t>
            </a:r>
          </a:p>
        </p:txBody>
      </p:sp>
      <p:sp>
        <p:nvSpPr>
          <p:cNvPr name="TextBox 12" id="12"/>
          <p:cNvSpPr txBox="true"/>
          <p:nvPr/>
        </p:nvSpPr>
        <p:spPr>
          <a:xfrm rot="0">
            <a:off x="11392852" y="5513070"/>
            <a:ext cx="5889308" cy="613410"/>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All applicable rules pass</a:t>
            </a:r>
          </a:p>
        </p:txBody>
      </p:sp>
      <p:sp>
        <p:nvSpPr>
          <p:cNvPr name="TextBox 13" id="13"/>
          <p:cNvSpPr txBox="true"/>
          <p:nvPr/>
        </p:nvSpPr>
        <p:spPr>
          <a:xfrm rot="0">
            <a:off x="9721215" y="6370320"/>
            <a:ext cx="1345882" cy="556260"/>
          </a:xfrm>
          <a:prstGeom prst="rect">
            <a:avLst/>
          </a:prstGeom>
        </p:spPr>
        <p:txBody>
          <a:bodyPr anchor="t" rtlCol="false" tIns="0" lIns="0" bIns="0" rIns="0">
            <a:spAutoFit/>
          </a:bodyPr>
          <a:lstStyle/>
          <a:p>
            <a:pPr algn="l">
              <a:lnSpc>
                <a:spcPts val="3240"/>
              </a:lnSpc>
            </a:pPr>
            <a:r>
              <a:rPr lang="en-US" sz="2700" b="true">
                <a:solidFill>
                  <a:srgbClr val="A46B13"/>
                </a:solidFill>
                <a:latin typeface="Arial Bold"/>
                <a:ea typeface="Arial Bold"/>
                <a:cs typeface="Arial Bold"/>
                <a:sym typeface="Arial Bold"/>
              </a:rPr>
              <a:t>ASK</a:t>
            </a:r>
          </a:p>
        </p:txBody>
      </p:sp>
      <p:sp>
        <p:nvSpPr>
          <p:cNvPr name="TextBox 14" id="14"/>
          <p:cNvSpPr txBox="true"/>
          <p:nvPr/>
        </p:nvSpPr>
        <p:spPr>
          <a:xfrm rot="0">
            <a:off x="11392852" y="6370320"/>
            <a:ext cx="5889308" cy="613410"/>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A review condition needs your OK</a:t>
            </a:r>
          </a:p>
        </p:txBody>
      </p:sp>
      <p:sp>
        <p:nvSpPr>
          <p:cNvPr name="TextBox 15" id="15"/>
          <p:cNvSpPr txBox="true"/>
          <p:nvPr/>
        </p:nvSpPr>
        <p:spPr>
          <a:xfrm rot="0">
            <a:off x="9721215" y="7227570"/>
            <a:ext cx="1345882" cy="556260"/>
          </a:xfrm>
          <a:prstGeom prst="rect">
            <a:avLst/>
          </a:prstGeom>
        </p:spPr>
        <p:txBody>
          <a:bodyPr anchor="t" rtlCol="false" tIns="0" lIns="0" bIns="0" rIns="0">
            <a:spAutoFit/>
          </a:bodyPr>
          <a:lstStyle/>
          <a:p>
            <a:pPr algn="l">
              <a:lnSpc>
                <a:spcPts val="3240"/>
              </a:lnSpc>
            </a:pPr>
            <a:r>
              <a:rPr lang="en-US" sz="2700" b="true">
                <a:solidFill>
                  <a:srgbClr val="BA414B"/>
                </a:solidFill>
                <a:latin typeface="Arial Bold"/>
                <a:ea typeface="Arial Bold"/>
                <a:cs typeface="Arial Bold"/>
                <a:sym typeface="Arial Bold"/>
              </a:rPr>
              <a:t>BLOCK</a:t>
            </a:r>
          </a:p>
        </p:txBody>
      </p:sp>
      <p:sp>
        <p:nvSpPr>
          <p:cNvPr name="TextBox 16" id="16"/>
          <p:cNvSpPr txBox="true"/>
          <p:nvPr/>
        </p:nvSpPr>
        <p:spPr>
          <a:xfrm rot="0">
            <a:off x="11392852" y="7227570"/>
            <a:ext cx="5889308" cy="613410"/>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A hard limit fails</a:t>
            </a:r>
          </a:p>
        </p:txBody>
      </p:sp>
      <p:sp>
        <p:nvSpPr>
          <p:cNvPr name="TextBox 17" id="17"/>
          <p:cNvSpPr txBox="true"/>
          <p:nvPr/>
        </p:nvSpPr>
        <p:spPr>
          <a:xfrm rot="0">
            <a:off x="9721215" y="8327707"/>
            <a:ext cx="7532370" cy="942023"/>
          </a:xfrm>
          <a:prstGeom prst="rect">
            <a:avLst/>
          </a:prstGeom>
        </p:spPr>
        <p:txBody>
          <a:bodyPr anchor="t" rtlCol="false" tIns="0" lIns="0" bIns="0" rIns="0">
            <a:spAutoFit/>
          </a:bodyPr>
          <a:lstStyle/>
          <a:p>
            <a:pPr algn="l">
              <a:lnSpc>
                <a:spcPts val="3644"/>
              </a:lnSpc>
            </a:pPr>
            <a:r>
              <a:rPr lang="en-US" sz="3037" b="true">
                <a:solidFill>
                  <a:srgbClr val="17151F"/>
                </a:solidFill>
                <a:latin typeface="Arial Bold"/>
                <a:ea typeface="Arial Bold"/>
                <a:cs typeface="Arial Bold"/>
                <a:sym typeface="Arial Bold"/>
              </a:rPr>
              <a:t>HK$158 exceeds the cap.</a:t>
            </a:r>
          </a:p>
          <a:p>
            <a:pPr algn="l">
              <a:lnSpc>
                <a:spcPts val="3644"/>
              </a:lnSpc>
            </a:pPr>
            <a:r>
              <a:rPr lang="en-US" sz="3037" b="true">
                <a:solidFill>
                  <a:srgbClr val="17151F"/>
                </a:solidFill>
                <a:latin typeface="Arial Bold"/>
                <a:ea typeface="Arial Bold"/>
                <a:cs typeface="Arial Bold"/>
                <a:sym typeface="Arial Bold"/>
              </a:rPr>
              <a:t>Confirmation cannot bypass the refusal.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E-commerce: compare the full basket</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A lower item price can disappear once delivery is included. The cap applies to the final charge.</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05</a:t>
            </a:r>
          </a:p>
        </p:txBody>
      </p:sp>
      <p:sp>
        <p:nvSpPr>
          <p:cNvPr name="TextBox 6" id="6"/>
          <p:cNvSpPr txBox="true"/>
          <p:nvPr/>
        </p:nvSpPr>
        <p:spPr>
          <a:xfrm rot="0">
            <a:off x="2334578" y="9656445"/>
            <a:ext cx="13947457" cy="441960"/>
          </a:xfrm>
          <a:prstGeom prst="rect">
            <a:avLst/>
          </a:prstGeom>
        </p:spPr>
        <p:txBody>
          <a:bodyPr anchor="t" rtlCol="false" tIns="0" lIns="0" bIns="0" rIns="0">
            <a:spAutoFit/>
          </a:bodyPr>
          <a:lstStyle/>
          <a:p>
            <a:pPr algn="l">
              <a:lnSpc>
                <a:spcPts val="1823"/>
              </a:lnSpc>
            </a:pPr>
            <a:r>
              <a:rPr lang="en-US" sz="1519">
                <a:solidFill>
                  <a:srgbClr val="696575"/>
                </a:solidFill>
                <a:latin typeface="Arial"/>
                <a:ea typeface="Arial"/>
                <a:cs typeface="Arial"/>
                <a:sym typeface="Arial"/>
              </a:rPr>
              <a:t>Illustrative offers from the current simulated catalogue. Delivery and availability are demo data.</a:t>
            </a:r>
          </a:p>
        </p:txBody>
      </p:sp>
      <p:grpSp>
        <p:nvGrpSpPr>
          <p:cNvPr name="Group 7" id="7"/>
          <p:cNvGrpSpPr/>
          <p:nvPr/>
        </p:nvGrpSpPr>
        <p:grpSpPr>
          <a:xfrm rot="0">
            <a:off x="2127885" y="3057525"/>
            <a:ext cx="14032230" cy="5443538"/>
            <a:chOff x="0" y="0"/>
            <a:chExt cx="18709640" cy="7258050"/>
          </a:xfrm>
        </p:grpSpPr>
        <p:sp>
          <p:nvSpPr>
            <p:cNvPr name="Freeform 8" id="8"/>
            <p:cNvSpPr/>
            <p:nvPr/>
          </p:nvSpPr>
          <p:spPr>
            <a:xfrm flipH="false" flipV="false" rot="0">
              <a:off x="0" y="0"/>
              <a:ext cx="18709639" cy="7258050"/>
            </a:xfrm>
            <a:custGeom>
              <a:avLst/>
              <a:gdLst/>
              <a:ahLst/>
              <a:cxnLst/>
              <a:rect r="r" b="b" t="t" l="l"/>
              <a:pathLst>
                <a:path h="7258050" w="18709639">
                  <a:moveTo>
                    <a:pt x="0" y="0"/>
                  </a:moveTo>
                  <a:lnTo>
                    <a:pt x="18709639" y="0"/>
                  </a:lnTo>
                  <a:lnTo>
                    <a:pt x="18709639" y="7258050"/>
                  </a:lnTo>
                  <a:lnTo>
                    <a:pt x="0" y="7258050"/>
                  </a:lnTo>
                  <a:lnTo>
                    <a:pt x="0" y="0"/>
                  </a:lnTo>
                  <a:close/>
                </a:path>
              </a:pathLst>
            </a:custGeom>
            <a:blipFill>
              <a:blip r:embed="rId3"/>
              <a:stretch>
                <a:fillRect l="0" t="0" r="0" b="0"/>
              </a:stretch>
            </a:blipFill>
          </p:spPr>
        </p:sp>
      </p:grpSp>
      <p:sp>
        <p:nvSpPr>
          <p:cNvPr name="TextBox 9" id="9"/>
          <p:cNvSpPr txBox="true"/>
          <p:nvPr/>
        </p:nvSpPr>
        <p:spPr>
          <a:xfrm rot="0">
            <a:off x="1034415" y="8770620"/>
            <a:ext cx="2460308" cy="613410"/>
          </a:xfrm>
          <a:prstGeom prst="rect">
            <a:avLst/>
          </a:prstGeom>
        </p:spPr>
        <p:txBody>
          <a:bodyPr anchor="t" rtlCol="false" tIns="0" lIns="0" bIns="0" rIns="0">
            <a:spAutoFit/>
          </a:bodyPr>
          <a:lstStyle/>
          <a:p>
            <a:pPr algn="l">
              <a:lnSpc>
                <a:spcPts val="4185"/>
              </a:lnSpc>
            </a:pPr>
            <a:r>
              <a:rPr lang="en-US" sz="3487" b="true">
                <a:solidFill>
                  <a:srgbClr val="6650D7"/>
                </a:solidFill>
                <a:latin typeface="Arial Bold"/>
                <a:ea typeface="Arial Bold"/>
                <a:cs typeface="Arial Bold"/>
                <a:sym typeface="Arial Bold"/>
              </a:rPr>
              <a:t>HK$138</a:t>
            </a:r>
          </a:p>
        </p:txBody>
      </p:sp>
      <p:sp>
        <p:nvSpPr>
          <p:cNvPr name="TextBox 10" id="10"/>
          <p:cNvSpPr txBox="true"/>
          <p:nvPr/>
        </p:nvSpPr>
        <p:spPr>
          <a:xfrm rot="0">
            <a:off x="3820478" y="8813482"/>
            <a:ext cx="7889557" cy="556260"/>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Both 2L offers cost the same with shipping.</a:t>
            </a:r>
          </a:p>
        </p:txBody>
      </p:sp>
      <p:sp>
        <p:nvSpPr>
          <p:cNvPr name="TextBox 11" id="11"/>
          <p:cNvSpPr txBox="true"/>
          <p:nvPr/>
        </p:nvSpPr>
        <p:spPr>
          <a:xfrm rot="0">
            <a:off x="12950190" y="8770620"/>
            <a:ext cx="4360545" cy="613410"/>
          </a:xfrm>
          <a:prstGeom prst="rect">
            <a:avLst/>
          </a:prstGeom>
        </p:spPr>
        <p:txBody>
          <a:bodyPr anchor="t" rtlCol="false" tIns="0" lIns="0" bIns="0" rIns="0">
            <a:spAutoFit/>
          </a:bodyPr>
          <a:lstStyle/>
          <a:p>
            <a:pPr algn="l">
              <a:lnSpc>
                <a:spcPts val="3779"/>
              </a:lnSpc>
            </a:pPr>
            <a:r>
              <a:rPr lang="en-US" sz="3150" b="true">
                <a:solidFill>
                  <a:srgbClr val="BA414B"/>
                </a:solidFill>
                <a:latin typeface="Arial Bold"/>
                <a:ea typeface="Arial Bold"/>
                <a:cs typeface="Arial Bold"/>
                <a:sym typeface="Arial Bold"/>
              </a:rPr>
              <a:t>HK$158: blocked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Agent: turn a request into a draft</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The agent reads the request. The user authorizes the limits. Rules decide whether payment can proceed.</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06</a:t>
            </a:r>
          </a:p>
        </p:txBody>
      </p:sp>
      <p:sp>
        <p:nvSpPr>
          <p:cNvPr name="TextBox 6" id="6"/>
          <p:cNvSpPr txBox="true"/>
          <p:nvPr/>
        </p:nvSpPr>
        <p:spPr>
          <a:xfrm rot="0">
            <a:off x="2334578" y="9656445"/>
            <a:ext cx="13947457" cy="441960"/>
          </a:xfrm>
          <a:prstGeom prst="rect">
            <a:avLst/>
          </a:prstGeom>
        </p:spPr>
        <p:txBody>
          <a:bodyPr anchor="t" rtlCol="false" tIns="0" lIns="0" bIns="0" rIns="0">
            <a:spAutoFit/>
          </a:bodyPr>
          <a:lstStyle/>
          <a:p>
            <a:pPr algn="l">
              <a:lnSpc>
                <a:spcPts val="1823"/>
              </a:lnSpc>
            </a:pPr>
            <a:r>
              <a:rPr lang="en-US" sz="1519">
                <a:solidFill>
                  <a:srgbClr val="696575"/>
                </a:solidFill>
                <a:latin typeface="Arial"/>
                <a:ea typeface="Arial"/>
                <a:cs typeface="Arial"/>
                <a:sym typeface="Arial"/>
              </a:rPr>
              <a:t>Live draft checked 4 Oct 2026. No mandate was signed and no purchase was made during this check.</a:t>
            </a:r>
          </a:p>
        </p:txBody>
      </p:sp>
      <p:grpSp>
        <p:nvGrpSpPr>
          <p:cNvPr name="Group 7" id="7"/>
          <p:cNvGrpSpPr/>
          <p:nvPr/>
        </p:nvGrpSpPr>
        <p:grpSpPr>
          <a:xfrm rot="0">
            <a:off x="966997" y="3043238"/>
            <a:ext cx="4366793" cy="6215062"/>
            <a:chOff x="0" y="0"/>
            <a:chExt cx="5822391" cy="8286750"/>
          </a:xfrm>
        </p:grpSpPr>
        <p:sp>
          <p:nvSpPr>
            <p:cNvPr name="Freeform 8" id="8"/>
            <p:cNvSpPr/>
            <p:nvPr/>
          </p:nvSpPr>
          <p:spPr>
            <a:xfrm flipH="false" flipV="false" rot="0">
              <a:off x="0" y="0"/>
              <a:ext cx="5822442" cy="8286750"/>
            </a:xfrm>
            <a:custGeom>
              <a:avLst/>
              <a:gdLst/>
              <a:ahLst/>
              <a:cxnLst/>
              <a:rect r="r" b="b" t="t" l="l"/>
              <a:pathLst>
                <a:path h="8286750" w="5822442">
                  <a:moveTo>
                    <a:pt x="0" y="0"/>
                  </a:moveTo>
                  <a:lnTo>
                    <a:pt x="5822442" y="0"/>
                  </a:lnTo>
                  <a:lnTo>
                    <a:pt x="5822442" y="8286750"/>
                  </a:lnTo>
                  <a:lnTo>
                    <a:pt x="0" y="8286750"/>
                  </a:lnTo>
                  <a:lnTo>
                    <a:pt x="0" y="0"/>
                  </a:lnTo>
                  <a:close/>
                </a:path>
              </a:pathLst>
            </a:custGeom>
            <a:blipFill>
              <a:blip r:embed="rId3"/>
              <a:stretch>
                <a:fillRect l="0" t="0" r="0" b="0"/>
              </a:stretch>
            </a:blipFill>
          </p:spPr>
        </p:sp>
      </p:grpSp>
      <p:sp>
        <p:nvSpPr>
          <p:cNvPr name="TextBox 9" id="9"/>
          <p:cNvSpPr txBox="true"/>
          <p:nvPr/>
        </p:nvSpPr>
        <p:spPr>
          <a:xfrm rot="0">
            <a:off x="6163628" y="3198495"/>
            <a:ext cx="11104245" cy="842010"/>
          </a:xfrm>
          <a:prstGeom prst="rect">
            <a:avLst/>
          </a:prstGeom>
        </p:spPr>
        <p:txBody>
          <a:bodyPr anchor="t" rtlCol="false" tIns="0" lIns="0" bIns="0" rIns="0">
            <a:spAutoFit/>
          </a:bodyPr>
          <a:lstStyle/>
          <a:p>
            <a:pPr algn="l">
              <a:lnSpc>
                <a:spcPts val="4860"/>
              </a:lnSpc>
            </a:pPr>
            <a:r>
              <a:rPr lang="en-US" sz="4050" b="true">
                <a:solidFill>
                  <a:srgbClr val="6650D7"/>
                </a:solidFill>
                <a:latin typeface="Arial Bold"/>
                <a:ea typeface="Arial Bold"/>
                <a:cs typeface="Arial Bold"/>
                <a:sym typeface="Arial Bold"/>
              </a:rPr>
              <a:t>“Buy a bottle of dish soap.”</a:t>
            </a:r>
          </a:p>
        </p:txBody>
      </p:sp>
      <p:sp>
        <p:nvSpPr>
          <p:cNvPr name="TextBox 10" id="10"/>
          <p:cNvSpPr txBox="true"/>
          <p:nvPr/>
        </p:nvSpPr>
        <p:spPr>
          <a:xfrm rot="0">
            <a:off x="6206490" y="4684395"/>
            <a:ext cx="3703320" cy="670560"/>
          </a:xfrm>
          <a:prstGeom prst="rect">
            <a:avLst/>
          </a:prstGeom>
        </p:spPr>
        <p:txBody>
          <a:bodyPr anchor="t" rtlCol="false" tIns="0" lIns="0" bIns="0" rIns="0">
            <a:spAutoFit/>
          </a:bodyPr>
          <a:lstStyle/>
          <a:p>
            <a:pPr algn="l">
              <a:lnSpc>
                <a:spcPts val="3375"/>
              </a:lnSpc>
            </a:pPr>
            <a:r>
              <a:rPr lang="en-US" sz="2812" b="true">
                <a:solidFill>
                  <a:srgbClr val="17151F"/>
                </a:solidFill>
                <a:latin typeface="Arial Bold"/>
                <a:ea typeface="Arial Bold"/>
                <a:cs typeface="Arial Bold"/>
                <a:sym typeface="Arial Bold"/>
              </a:rPr>
              <a:t>01  Understand</a:t>
            </a:r>
          </a:p>
        </p:txBody>
      </p:sp>
      <p:sp>
        <p:nvSpPr>
          <p:cNvPr name="TextBox 11" id="11"/>
          <p:cNvSpPr txBox="true"/>
          <p:nvPr/>
        </p:nvSpPr>
        <p:spPr>
          <a:xfrm rot="0">
            <a:off x="10364152" y="4684395"/>
            <a:ext cx="6932295"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Keep the product named by the user.</a:t>
            </a:r>
          </a:p>
        </p:txBody>
      </p:sp>
      <p:sp>
        <p:nvSpPr>
          <p:cNvPr name="TextBox 12" id="12"/>
          <p:cNvSpPr txBox="true"/>
          <p:nvPr/>
        </p:nvSpPr>
        <p:spPr>
          <a:xfrm rot="0">
            <a:off x="6206490" y="5813108"/>
            <a:ext cx="3703320" cy="670560"/>
          </a:xfrm>
          <a:prstGeom prst="rect">
            <a:avLst/>
          </a:prstGeom>
        </p:spPr>
        <p:txBody>
          <a:bodyPr anchor="t" rtlCol="false" tIns="0" lIns="0" bIns="0" rIns="0">
            <a:spAutoFit/>
          </a:bodyPr>
          <a:lstStyle/>
          <a:p>
            <a:pPr algn="l">
              <a:lnSpc>
                <a:spcPts val="3375"/>
              </a:lnSpc>
            </a:pPr>
            <a:r>
              <a:rPr lang="en-US" sz="2812" b="true">
                <a:solidFill>
                  <a:srgbClr val="17151F"/>
                </a:solidFill>
                <a:latin typeface="Arial Bold"/>
                <a:ea typeface="Arial Bold"/>
                <a:cs typeface="Arial Bold"/>
                <a:sym typeface="Arial Bold"/>
              </a:rPr>
              <a:t>02  Draft</a:t>
            </a:r>
          </a:p>
        </p:txBody>
      </p:sp>
      <p:sp>
        <p:nvSpPr>
          <p:cNvPr name="TextBox 13" id="13"/>
          <p:cNvSpPr txBox="true"/>
          <p:nvPr/>
        </p:nvSpPr>
        <p:spPr>
          <a:xfrm rot="0">
            <a:off x="10364152" y="5813108"/>
            <a:ext cx="6932295"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Expose limits as editable fields.</a:t>
            </a:r>
          </a:p>
        </p:txBody>
      </p:sp>
      <p:sp>
        <p:nvSpPr>
          <p:cNvPr name="TextBox 14" id="14"/>
          <p:cNvSpPr txBox="true"/>
          <p:nvPr/>
        </p:nvSpPr>
        <p:spPr>
          <a:xfrm rot="0">
            <a:off x="6206490" y="6941820"/>
            <a:ext cx="3703320" cy="670560"/>
          </a:xfrm>
          <a:prstGeom prst="rect">
            <a:avLst/>
          </a:prstGeom>
        </p:spPr>
        <p:txBody>
          <a:bodyPr anchor="t" rtlCol="false" tIns="0" lIns="0" bIns="0" rIns="0">
            <a:spAutoFit/>
          </a:bodyPr>
          <a:lstStyle/>
          <a:p>
            <a:pPr algn="l">
              <a:lnSpc>
                <a:spcPts val="3375"/>
              </a:lnSpc>
            </a:pPr>
            <a:r>
              <a:rPr lang="en-US" sz="2812" b="true">
                <a:solidFill>
                  <a:srgbClr val="17151F"/>
                </a:solidFill>
                <a:latin typeface="Arial Bold"/>
                <a:ea typeface="Arial Bold"/>
                <a:cs typeface="Arial Bold"/>
                <a:sym typeface="Arial Bold"/>
              </a:rPr>
              <a:t>03  Compare</a:t>
            </a:r>
          </a:p>
        </p:txBody>
      </p:sp>
      <p:sp>
        <p:nvSpPr>
          <p:cNvPr name="TextBox 15" id="15"/>
          <p:cNvSpPr txBox="true"/>
          <p:nvPr/>
        </p:nvSpPr>
        <p:spPr>
          <a:xfrm rot="0">
            <a:off x="10364152" y="6941820"/>
            <a:ext cx="6932295"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Search and explain offers under the mandate.</a:t>
            </a:r>
          </a:p>
        </p:txBody>
      </p:sp>
      <p:sp>
        <p:nvSpPr>
          <p:cNvPr name="TextBox 16" id="16"/>
          <p:cNvSpPr txBox="true"/>
          <p:nvPr/>
        </p:nvSpPr>
        <p:spPr>
          <a:xfrm rot="0">
            <a:off x="6206490" y="8070532"/>
            <a:ext cx="3703320" cy="670560"/>
          </a:xfrm>
          <a:prstGeom prst="rect">
            <a:avLst/>
          </a:prstGeom>
        </p:spPr>
        <p:txBody>
          <a:bodyPr anchor="t" rtlCol="false" tIns="0" lIns="0" bIns="0" rIns="0">
            <a:spAutoFit/>
          </a:bodyPr>
          <a:lstStyle/>
          <a:p>
            <a:pPr algn="l">
              <a:lnSpc>
                <a:spcPts val="3375"/>
              </a:lnSpc>
            </a:pPr>
            <a:r>
              <a:rPr lang="en-US" sz="2812" b="true">
                <a:solidFill>
                  <a:srgbClr val="17151F"/>
                </a:solidFill>
                <a:latin typeface="Arial Bold"/>
                <a:ea typeface="Arial Bold"/>
                <a:cs typeface="Arial Bold"/>
                <a:sym typeface="Arial Bold"/>
              </a:rPr>
              <a:t>04  Respect authority</a:t>
            </a:r>
          </a:p>
        </p:txBody>
      </p:sp>
      <p:sp>
        <p:nvSpPr>
          <p:cNvPr name="TextBox 17" id="17"/>
          <p:cNvSpPr txBox="true"/>
          <p:nvPr/>
        </p:nvSpPr>
        <p:spPr>
          <a:xfrm rot="0">
            <a:off x="10364152" y="8070532"/>
            <a:ext cx="6932295"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Model output cannot raise caps or authorize payment.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Payment: eligibility and funding decide the rail</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The current example pays from the Agent pocket using Tap &amp; Go. Both shown local-HKD fees are zero.</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07</a:t>
            </a:r>
          </a:p>
        </p:txBody>
      </p:sp>
      <p:sp>
        <p:nvSpPr>
          <p:cNvPr name="TextBox 6" id="6"/>
          <p:cNvSpPr txBox="true"/>
          <p:nvPr/>
        </p:nvSpPr>
        <p:spPr>
          <a:xfrm rot="0">
            <a:off x="2334578" y="9656445"/>
            <a:ext cx="13947457" cy="441960"/>
          </a:xfrm>
          <a:prstGeom prst="rect">
            <a:avLst/>
          </a:prstGeom>
        </p:spPr>
        <p:txBody>
          <a:bodyPr anchor="t" rtlCol="false" tIns="0" lIns="0" bIns="0" rIns="0">
            <a:spAutoFit/>
          </a:bodyPr>
          <a:lstStyle/>
          <a:p>
            <a:pPr algn="l">
              <a:lnSpc>
                <a:spcPts val="1823"/>
              </a:lnSpc>
            </a:pPr>
            <a:r>
              <a:rPr lang="en-US" sz="1519">
                <a:solidFill>
                  <a:srgbClr val="696575"/>
                </a:solidFill>
                <a:latin typeface="Arial"/>
                <a:ea typeface="Arial"/>
                <a:cs typeface="Arial"/>
                <a:sym typeface="Arial"/>
              </a:rPr>
              <a:t>Demo profiles, not a universal fee quote. Rewards do not reduce the budget or determine the payment method.</a:t>
            </a:r>
          </a:p>
        </p:txBody>
      </p:sp>
      <p:grpSp>
        <p:nvGrpSpPr>
          <p:cNvPr name="Group 7" id="7"/>
          <p:cNvGrpSpPr/>
          <p:nvPr/>
        </p:nvGrpSpPr>
        <p:grpSpPr>
          <a:xfrm rot="0">
            <a:off x="900112" y="3245958"/>
            <a:ext cx="7629525" cy="4366584"/>
            <a:chOff x="0" y="0"/>
            <a:chExt cx="10172700" cy="5822112"/>
          </a:xfrm>
        </p:grpSpPr>
        <p:sp>
          <p:nvSpPr>
            <p:cNvPr name="Freeform 8" id="8"/>
            <p:cNvSpPr/>
            <p:nvPr/>
          </p:nvSpPr>
          <p:spPr>
            <a:xfrm flipH="false" flipV="false" rot="0">
              <a:off x="0" y="0"/>
              <a:ext cx="10172700" cy="5822061"/>
            </a:xfrm>
            <a:custGeom>
              <a:avLst/>
              <a:gdLst/>
              <a:ahLst/>
              <a:cxnLst/>
              <a:rect r="r" b="b" t="t" l="l"/>
              <a:pathLst>
                <a:path h="5822061" w="10172700">
                  <a:moveTo>
                    <a:pt x="0" y="0"/>
                  </a:moveTo>
                  <a:lnTo>
                    <a:pt x="10172700" y="0"/>
                  </a:lnTo>
                  <a:lnTo>
                    <a:pt x="10172700" y="5822061"/>
                  </a:lnTo>
                  <a:lnTo>
                    <a:pt x="0" y="5822061"/>
                  </a:lnTo>
                  <a:lnTo>
                    <a:pt x="0" y="0"/>
                  </a:lnTo>
                  <a:close/>
                </a:path>
              </a:pathLst>
            </a:custGeom>
            <a:blipFill>
              <a:blip r:embed="rId3"/>
              <a:stretch>
                <a:fillRect l="0" t="0" r="0" b="0"/>
              </a:stretch>
            </a:blipFill>
          </p:spPr>
        </p:sp>
      </p:grpSp>
      <p:sp>
        <p:nvSpPr>
          <p:cNvPr name="TextBox 9" id="9"/>
          <p:cNvSpPr txBox="true"/>
          <p:nvPr/>
        </p:nvSpPr>
        <p:spPr>
          <a:xfrm rot="0">
            <a:off x="9492615" y="3317558"/>
            <a:ext cx="7803832" cy="622935"/>
          </a:xfrm>
          <a:prstGeom prst="rect">
            <a:avLst/>
          </a:prstGeom>
        </p:spPr>
        <p:txBody>
          <a:bodyPr anchor="t" rtlCol="false" tIns="0" lIns="0" bIns="0" rIns="0">
            <a:spAutoFit/>
          </a:bodyPr>
          <a:lstStyle/>
          <a:p>
            <a:pPr algn="l">
              <a:lnSpc>
                <a:spcPts val="3915"/>
              </a:lnSpc>
            </a:pPr>
            <a:r>
              <a:rPr lang="en-US" sz="3262" b="true">
                <a:solidFill>
                  <a:srgbClr val="17151F"/>
                </a:solidFill>
                <a:latin typeface="Arial Bold"/>
                <a:ea typeface="Arial Bold"/>
                <a:cs typeface="Arial Bold"/>
                <a:sym typeface="Arial Bold"/>
              </a:rPr>
              <a:t>Allowed by the mandate</a:t>
            </a:r>
          </a:p>
        </p:txBody>
      </p:sp>
      <p:sp>
        <p:nvSpPr>
          <p:cNvPr name="TextBox 10" id="10"/>
          <p:cNvSpPr txBox="true"/>
          <p:nvPr/>
        </p:nvSpPr>
        <p:spPr>
          <a:xfrm rot="0">
            <a:off x="9521190" y="4155758"/>
            <a:ext cx="7703820" cy="1070610"/>
          </a:xfrm>
          <a:prstGeom prst="rect">
            <a:avLst/>
          </a:prstGeom>
        </p:spPr>
        <p:txBody>
          <a:bodyPr anchor="t" rtlCol="false" tIns="0" lIns="0" bIns="0" rIns="0">
            <a:spAutoFit/>
          </a:bodyPr>
          <a:lstStyle/>
          <a:p>
            <a:pPr algn="l">
              <a:lnSpc>
                <a:spcPts val="3375"/>
              </a:lnSpc>
            </a:pPr>
            <a:r>
              <a:rPr lang="en-US" sz="2812">
                <a:solidFill>
                  <a:srgbClr val="696575"/>
                </a:solidFill>
                <a:latin typeface="Arial"/>
                <a:ea typeface="Arial"/>
                <a:cs typeface="Arial"/>
                <a:sym typeface="Arial"/>
              </a:rPr>
              <a:t>Accepted by the merchant and enabled by the user</a:t>
            </a:r>
          </a:p>
        </p:txBody>
      </p:sp>
      <p:sp>
        <p:nvSpPr>
          <p:cNvPr name="AutoShape 11" id="11"/>
          <p:cNvSpPr/>
          <p:nvPr/>
        </p:nvSpPr>
        <p:spPr>
          <a:xfrm rot="8100">
            <a:off x="9420454" y="5553075"/>
            <a:ext cx="7862430" cy="0"/>
          </a:xfrm>
          <a:prstGeom prst="line">
            <a:avLst/>
          </a:prstGeom>
          <a:ln cap="rnd" w="9525">
            <a:solidFill>
              <a:srgbClr val="DDD9E9"/>
            </a:solidFill>
            <a:prstDash val="solid"/>
            <a:headEnd type="none" len="sm" w="sm"/>
            <a:tailEnd type="none" len="sm" w="sm"/>
          </a:ln>
        </p:spPr>
      </p:sp>
      <p:sp>
        <p:nvSpPr>
          <p:cNvPr name="TextBox 12" id="12"/>
          <p:cNvSpPr txBox="true"/>
          <p:nvPr/>
        </p:nvSpPr>
        <p:spPr>
          <a:xfrm rot="0">
            <a:off x="9506902" y="5955982"/>
            <a:ext cx="7775257" cy="613410"/>
          </a:xfrm>
          <a:prstGeom prst="rect">
            <a:avLst/>
          </a:prstGeom>
        </p:spPr>
        <p:txBody>
          <a:bodyPr anchor="t" rtlCol="false" tIns="0" lIns="0" bIns="0" rIns="0">
            <a:spAutoFit/>
          </a:bodyPr>
          <a:lstStyle/>
          <a:p>
            <a:pPr algn="l">
              <a:lnSpc>
                <a:spcPts val="4050"/>
              </a:lnSpc>
            </a:pPr>
            <a:r>
              <a:rPr lang="en-US" sz="3375" b="true">
                <a:solidFill>
                  <a:srgbClr val="6650D7"/>
                </a:solidFill>
                <a:latin typeface="Arial Bold"/>
                <a:ea typeface="Arial Bold"/>
                <a:cs typeface="Arial Bold"/>
                <a:sym typeface="Arial Bold"/>
              </a:rPr>
              <a:t>Tap &amp; Go     HK$0 fee</a:t>
            </a:r>
          </a:p>
        </p:txBody>
      </p:sp>
      <p:sp>
        <p:nvSpPr>
          <p:cNvPr name="TextBox 13" id="13"/>
          <p:cNvSpPr txBox="true"/>
          <p:nvPr/>
        </p:nvSpPr>
        <p:spPr>
          <a:xfrm rot="0">
            <a:off x="9506902" y="6841807"/>
            <a:ext cx="7775257" cy="613410"/>
          </a:xfrm>
          <a:prstGeom prst="rect">
            <a:avLst/>
          </a:prstGeom>
        </p:spPr>
        <p:txBody>
          <a:bodyPr anchor="t" rtlCol="false" tIns="0" lIns="0" bIns="0" rIns="0">
            <a:spAutoFit/>
          </a:bodyPr>
          <a:lstStyle/>
          <a:p>
            <a:pPr algn="l">
              <a:lnSpc>
                <a:spcPts val="4050"/>
              </a:lnSpc>
            </a:pPr>
            <a:r>
              <a:rPr lang="en-US" sz="3375" b="true">
                <a:solidFill>
                  <a:srgbClr val="17151F"/>
                </a:solidFill>
                <a:latin typeface="Arial Bold"/>
                <a:ea typeface="Arial Bold"/>
                <a:cs typeface="Arial Bold"/>
                <a:sym typeface="Arial Bold"/>
              </a:rPr>
              <a:t>FPS                HK$0 fee</a:t>
            </a:r>
          </a:p>
        </p:txBody>
      </p:sp>
      <p:sp>
        <p:nvSpPr>
          <p:cNvPr name="TextBox 14" id="14"/>
          <p:cNvSpPr txBox="true"/>
          <p:nvPr/>
        </p:nvSpPr>
        <p:spPr>
          <a:xfrm rot="0">
            <a:off x="9521190" y="7913370"/>
            <a:ext cx="7775257" cy="1270635"/>
          </a:xfrm>
          <a:prstGeom prst="rect">
            <a:avLst/>
          </a:prstGeom>
        </p:spPr>
        <p:txBody>
          <a:bodyPr anchor="t" rtlCol="false" tIns="0" lIns="0" bIns="0" rIns="0">
            <a:spAutoFit/>
          </a:bodyPr>
          <a:lstStyle/>
          <a:p>
            <a:pPr algn="l">
              <a:lnSpc>
                <a:spcPts val="3510"/>
              </a:lnSpc>
            </a:pPr>
            <a:r>
              <a:rPr lang="en-US" sz="2925">
                <a:solidFill>
                  <a:srgbClr val="17151F"/>
                </a:solidFill>
                <a:latin typeface="Arial"/>
                <a:ea typeface="Arial"/>
                <a:cs typeface="Arial"/>
                <a:sym typeface="Arial"/>
              </a:rPr>
              <a:t>Tap &amp; Go matches the pocket’s funding.</a:t>
            </a:r>
          </a:p>
          <a:p>
            <a:pPr algn="l">
              <a:lnSpc>
                <a:spcPts val="3510"/>
              </a:lnSpc>
            </a:pPr>
            <a:r>
              <a:rPr lang="en-US" sz="2925">
                <a:solidFill>
                  <a:srgbClr val="17151F"/>
                </a:solidFill>
                <a:latin typeface="Arial"/>
                <a:ea typeface="Arial"/>
                <a:cs typeface="Arial"/>
                <a:sym typeface="Arial"/>
              </a:rPr>
              <a:t>An FPS-only mandate changes the eligible rail.</a:t>
            </a:r>
          </a:p>
        </p:txBody>
      </p:sp>
      <p:sp>
        <p:nvSpPr>
          <p:cNvPr name="TextBox 15" id="15"/>
          <p:cNvSpPr txBox="true"/>
          <p:nvPr/>
        </p:nvSpPr>
        <p:spPr>
          <a:xfrm rot="0">
            <a:off x="1020127" y="8170545"/>
            <a:ext cx="7332345" cy="1027748"/>
          </a:xfrm>
          <a:prstGeom prst="rect">
            <a:avLst/>
          </a:prstGeom>
        </p:spPr>
        <p:txBody>
          <a:bodyPr anchor="t" rtlCol="false" tIns="0" lIns="0" bIns="0" rIns="0">
            <a:spAutoFit/>
          </a:bodyPr>
          <a:lstStyle/>
          <a:p>
            <a:pPr algn="l">
              <a:lnSpc>
                <a:spcPts val="3644"/>
              </a:lnSpc>
            </a:pPr>
            <a:r>
              <a:rPr lang="en-US" sz="3037" b="true">
                <a:solidFill>
                  <a:srgbClr val="17151F"/>
                </a:solidFill>
                <a:latin typeface="Arial Bold"/>
                <a:ea typeface="Arial Bold"/>
                <a:cs typeface="Arial Bold"/>
                <a:sym typeface="Arial Bold"/>
              </a:rPr>
              <a:t>Cash funds the pocket.</a:t>
            </a:r>
          </a:p>
          <a:p>
            <a:pPr algn="l">
              <a:lnSpc>
                <a:spcPts val="3644"/>
              </a:lnSpc>
            </a:pPr>
            <a:r>
              <a:rPr lang="en-US" sz="3037" b="true">
                <a:solidFill>
                  <a:srgbClr val="17151F"/>
                </a:solidFill>
                <a:latin typeface="Arial Bold"/>
                <a:ea typeface="Arial Bold"/>
                <a:cs typeface="Arial Bold"/>
                <a:sym typeface="Arial Bold"/>
              </a:rPr>
              <a:t>A mandate sets permission.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Trust: protect changes that redirect value</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Address changes and wider permissions deserve their own protection, even after someone has signed in.</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08</a:t>
            </a:r>
          </a:p>
        </p:txBody>
      </p:sp>
      <p:sp>
        <p:nvSpPr>
          <p:cNvPr name="TextBox 6" id="6"/>
          <p:cNvSpPr txBox="true"/>
          <p:nvPr/>
        </p:nvSpPr>
        <p:spPr>
          <a:xfrm rot="0">
            <a:off x="2334578" y="9656445"/>
            <a:ext cx="13947457" cy="441960"/>
          </a:xfrm>
          <a:prstGeom prst="rect">
            <a:avLst/>
          </a:prstGeom>
        </p:spPr>
        <p:txBody>
          <a:bodyPr anchor="t" rtlCol="false" tIns="0" lIns="0" bIns="0" rIns="0">
            <a:spAutoFit/>
          </a:bodyPr>
          <a:lstStyle/>
          <a:p>
            <a:pPr algn="l">
              <a:lnSpc>
                <a:spcPts val="1823"/>
              </a:lnSpc>
            </a:pPr>
            <a:r>
              <a:rPr lang="en-US" sz="1519">
                <a:solidFill>
                  <a:srgbClr val="696575"/>
                </a:solidFill>
                <a:latin typeface="Arial"/>
                <a:ea typeface="Arial"/>
                <a:cs typeface="Arial"/>
                <a:sym typeface="Arial"/>
              </a:rPr>
              <a:t>Design demonstration: 24-hour delay is compressed to 2 minutes. Real authentication and SMS are not verified.</a:t>
            </a:r>
          </a:p>
        </p:txBody>
      </p:sp>
      <p:grpSp>
        <p:nvGrpSpPr>
          <p:cNvPr name="Group 7" id="7"/>
          <p:cNvGrpSpPr/>
          <p:nvPr/>
        </p:nvGrpSpPr>
        <p:grpSpPr>
          <a:xfrm rot="0">
            <a:off x="914810" y="3128962"/>
            <a:ext cx="4585468" cy="6043612"/>
            <a:chOff x="0" y="0"/>
            <a:chExt cx="6113958" cy="8058150"/>
          </a:xfrm>
        </p:grpSpPr>
        <p:sp>
          <p:nvSpPr>
            <p:cNvPr name="Freeform 8" id="8"/>
            <p:cNvSpPr/>
            <p:nvPr/>
          </p:nvSpPr>
          <p:spPr>
            <a:xfrm flipH="false" flipV="false" rot="0">
              <a:off x="0" y="0"/>
              <a:ext cx="6113907" cy="8058150"/>
            </a:xfrm>
            <a:custGeom>
              <a:avLst/>
              <a:gdLst/>
              <a:ahLst/>
              <a:cxnLst/>
              <a:rect r="r" b="b" t="t" l="l"/>
              <a:pathLst>
                <a:path h="8058150" w="6113907">
                  <a:moveTo>
                    <a:pt x="0" y="0"/>
                  </a:moveTo>
                  <a:lnTo>
                    <a:pt x="6113907" y="0"/>
                  </a:lnTo>
                  <a:lnTo>
                    <a:pt x="6113907" y="8058150"/>
                  </a:lnTo>
                  <a:lnTo>
                    <a:pt x="0" y="8058150"/>
                  </a:lnTo>
                  <a:lnTo>
                    <a:pt x="0" y="0"/>
                  </a:lnTo>
                  <a:close/>
                </a:path>
              </a:pathLst>
            </a:custGeom>
            <a:blipFill>
              <a:blip r:embed="rId3"/>
              <a:stretch>
                <a:fillRect l="0" t="0" r="0" b="0"/>
              </a:stretch>
            </a:blipFill>
          </p:spPr>
        </p:sp>
      </p:grpSp>
      <p:sp>
        <p:nvSpPr>
          <p:cNvPr name="TextBox 9" id="9"/>
          <p:cNvSpPr txBox="true"/>
          <p:nvPr/>
        </p:nvSpPr>
        <p:spPr>
          <a:xfrm rot="0">
            <a:off x="6406515" y="3141345"/>
            <a:ext cx="5532120" cy="1056323"/>
          </a:xfrm>
          <a:prstGeom prst="rect">
            <a:avLst/>
          </a:prstGeom>
        </p:spPr>
        <p:txBody>
          <a:bodyPr anchor="t" rtlCol="false" tIns="0" lIns="0" bIns="0" rIns="0">
            <a:spAutoFit/>
          </a:bodyPr>
          <a:lstStyle/>
          <a:p>
            <a:pPr algn="l">
              <a:lnSpc>
                <a:spcPts val="7559"/>
              </a:lnSpc>
            </a:pPr>
            <a:r>
              <a:rPr lang="en-US" sz="6300" b="true">
                <a:solidFill>
                  <a:srgbClr val="6650D7"/>
                </a:solidFill>
                <a:latin typeface="Arial Bold"/>
                <a:ea typeface="Arial Bold"/>
                <a:cs typeface="Arial Bold"/>
                <a:sym typeface="Arial Bold"/>
              </a:rPr>
              <a:t>24 hours</a:t>
            </a:r>
          </a:p>
        </p:txBody>
      </p:sp>
      <p:sp>
        <p:nvSpPr>
          <p:cNvPr name="TextBox 10" id="10"/>
          <p:cNvSpPr txBox="true"/>
          <p:nvPr/>
        </p:nvSpPr>
        <p:spPr>
          <a:xfrm rot="0">
            <a:off x="6449378" y="4412932"/>
            <a:ext cx="10532745" cy="1142048"/>
          </a:xfrm>
          <a:prstGeom prst="rect">
            <a:avLst/>
          </a:prstGeom>
        </p:spPr>
        <p:txBody>
          <a:bodyPr anchor="t" rtlCol="false" tIns="0" lIns="0" bIns="0" rIns="0">
            <a:spAutoFit/>
          </a:bodyPr>
          <a:lstStyle/>
          <a:p>
            <a:pPr algn="l">
              <a:lnSpc>
                <a:spcPts val="3779"/>
              </a:lnSpc>
            </a:pPr>
            <a:r>
              <a:rPr lang="en-US" sz="3150">
                <a:solidFill>
                  <a:srgbClr val="17151F"/>
                </a:solidFill>
                <a:latin typeface="Arial"/>
                <a:ea typeface="Arial"/>
                <a:cs typeface="Arial"/>
                <a:sym typeface="Arial"/>
              </a:rPr>
              <a:t>Intended time for the owner to notice</a:t>
            </a:r>
          </a:p>
          <a:p>
            <a:pPr algn="l">
              <a:lnSpc>
                <a:spcPts val="3779"/>
              </a:lnSpc>
            </a:pPr>
            <a:r>
              <a:rPr lang="en-US" sz="3150">
                <a:solidFill>
                  <a:srgbClr val="17151F"/>
                </a:solidFill>
                <a:latin typeface="Arial"/>
                <a:ea typeface="Arial"/>
                <a:cs typeface="Arial"/>
                <a:sym typeface="Arial"/>
              </a:rPr>
              <a:t>and cancel a suspicious address change</a:t>
            </a:r>
          </a:p>
        </p:txBody>
      </p:sp>
      <p:sp>
        <p:nvSpPr>
          <p:cNvPr name="TextBox 11" id="11"/>
          <p:cNvSpPr txBox="true"/>
          <p:nvPr/>
        </p:nvSpPr>
        <p:spPr>
          <a:xfrm rot="0">
            <a:off x="6435090" y="6198870"/>
            <a:ext cx="3117533" cy="613410"/>
          </a:xfrm>
          <a:prstGeom prst="rect">
            <a:avLst/>
          </a:prstGeom>
        </p:spPr>
        <p:txBody>
          <a:bodyPr anchor="t" rtlCol="false" tIns="0" lIns="0" bIns="0" rIns="0">
            <a:spAutoFit/>
          </a:bodyPr>
          <a:lstStyle/>
          <a:p>
            <a:pPr algn="l">
              <a:lnSpc>
                <a:spcPts val="3510"/>
              </a:lnSpc>
            </a:pPr>
            <a:r>
              <a:rPr lang="en-US" sz="2925" b="true">
                <a:solidFill>
                  <a:srgbClr val="17151F"/>
                </a:solidFill>
                <a:latin typeface="Arial Bold"/>
                <a:ea typeface="Arial Bold"/>
                <a:cs typeface="Arial Bold"/>
                <a:sym typeface="Arial Bold"/>
              </a:rPr>
              <a:t>Verify owner</a:t>
            </a:r>
          </a:p>
        </p:txBody>
      </p:sp>
      <p:sp>
        <p:nvSpPr>
          <p:cNvPr name="TextBox 12" id="12"/>
          <p:cNvSpPr txBox="true"/>
          <p:nvPr/>
        </p:nvSpPr>
        <p:spPr>
          <a:xfrm rot="0">
            <a:off x="6435090" y="7156132"/>
            <a:ext cx="3103245" cy="870585"/>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Passkey step</a:t>
            </a:r>
          </a:p>
        </p:txBody>
      </p:sp>
      <p:sp>
        <p:nvSpPr>
          <p:cNvPr name="TextBox 13" id="13"/>
          <p:cNvSpPr txBox="true"/>
          <p:nvPr/>
        </p:nvSpPr>
        <p:spPr>
          <a:xfrm rot="0">
            <a:off x="10206990" y="6198870"/>
            <a:ext cx="3117533" cy="613410"/>
          </a:xfrm>
          <a:prstGeom prst="rect">
            <a:avLst/>
          </a:prstGeom>
        </p:spPr>
        <p:txBody>
          <a:bodyPr anchor="t" rtlCol="false" tIns="0" lIns="0" bIns="0" rIns="0">
            <a:spAutoFit/>
          </a:bodyPr>
          <a:lstStyle/>
          <a:p>
            <a:pPr algn="l">
              <a:lnSpc>
                <a:spcPts val="3510"/>
              </a:lnSpc>
            </a:pPr>
            <a:r>
              <a:rPr lang="en-US" sz="2925" b="true">
                <a:solidFill>
                  <a:srgbClr val="17151F"/>
                </a:solidFill>
                <a:latin typeface="Arial Bold"/>
                <a:ea typeface="Arial Bold"/>
                <a:cs typeface="Arial Bold"/>
                <a:sym typeface="Arial Bold"/>
              </a:rPr>
              <a:t>Wait + notify</a:t>
            </a:r>
          </a:p>
        </p:txBody>
      </p:sp>
      <p:sp>
        <p:nvSpPr>
          <p:cNvPr name="AutoShape 14" id="14"/>
          <p:cNvSpPr/>
          <p:nvPr/>
        </p:nvSpPr>
        <p:spPr>
          <a:xfrm rot="158880">
            <a:off x="9632366" y="6510338"/>
            <a:ext cx="494871" cy="0"/>
          </a:xfrm>
          <a:prstGeom prst="line">
            <a:avLst/>
          </a:prstGeom>
          <a:ln cap="rnd" w="9525">
            <a:solidFill>
              <a:srgbClr val="6650D7"/>
            </a:solidFill>
            <a:prstDash val="solid"/>
            <a:headEnd type="none" len="sm" w="sm"/>
            <a:tailEnd type="arrow" len="sm" w="med"/>
          </a:ln>
        </p:spPr>
      </p:sp>
      <p:sp>
        <p:nvSpPr>
          <p:cNvPr name="TextBox 15" id="15"/>
          <p:cNvSpPr txBox="true"/>
          <p:nvPr/>
        </p:nvSpPr>
        <p:spPr>
          <a:xfrm rot="0">
            <a:off x="10206990" y="7156132"/>
            <a:ext cx="3103245" cy="870585"/>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Cooling-off window</a:t>
            </a:r>
          </a:p>
        </p:txBody>
      </p:sp>
      <p:sp>
        <p:nvSpPr>
          <p:cNvPr name="TextBox 16" id="16"/>
          <p:cNvSpPr txBox="true"/>
          <p:nvPr/>
        </p:nvSpPr>
        <p:spPr>
          <a:xfrm rot="0">
            <a:off x="13978890" y="6198870"/>
            <a:ext cx="3117533" cy="613410"/>
          </a:xfrm>
          <a:prstGeom prst="rect">
            <a:avLst/>
          </a:prstGeom>
        </p:spPr>
        <p:txBody>
          <a:bodyPr anchor="t" rtlCol="false" tIns="0" lIns="0" bIns="0" rIns="0">
            <a:spAutoFit/>
          </a:bodyPr>
          <a:lstStyle/>
          <a:p>
            <a:pPr algn="l">
              <a:lnSpc>
                <a:spcPts val="3510"/>
              </a:lnSpc>
            </a:pPr>
            <a:r>
              <a:rPr lang="en-US" sz="2925" b="true">
                <a:solidFill>
                  <a:srgbClr val="17151F"/>
                </a:solidFill>
                <a:latin typeface="Arial Bold"/>
                <a:ea typeface="Arial Bold"/>
                <a:cs typeface="Arial Bold"/>
                <a:sym typeface="Arial Bold"/>
              </a:rPr>
              <a:t>Keep control</a:t>
            </a:r>
          </a:p>
        </p:txBody>
      </p:sp>
      <p:sp>
        <p:nvSpPr>
          <p:cNvPr name="AutoShape 17" id="17"/>
          <p:cNvSpPr/>
          <p:nvPr/>
        </p:nvSpPr>
        <p:spPr>
          <a:xfrm rot="158880">
            <a:off x="13404266" y="6510338"/>
            <a:ext cx="494871" cy="0"/>
          </a:xfrm>
          <a:prstGeom prst="line">
            <a:avLst/>
          </a:prstGeom>
          <a:ln cap="rnd" w="9525">
            <a:solidFill>
              <a:srgbClr val="6650D7"/>
            </a:solidFill>
            <a:prstDash val="solid"/>
            <a:headEnd type="none" len="sm" w="sm"/>
            <a:tailEnd type="arrow" len="sm" w="med"/>
          </a:ln>
        </p:spPr>
      </p:sp>
      <p:sp>
        <p:nvSpPr>
          <p:cNvPr name="TextBox 18" id="18"/>
          <p:cNvSpPr txBox="true"/>
          <p:nvPr/>
        </p:nvSpPr>
        <p:spPr>
          <a:xfrm rot="0">
            <a:off x="13978890" y="7156132"/>
            <a:ext cx="3103245" cy="870585"/>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Cancel or freeze</a:t>
            </a:r>
          </a:p>
        </p:txBody>
      </p:sp>
      <p:sp>
        <p:nvSpPr>
          <p:cNvPr name="TextBox 19" id="19"/>
          <p:cNvSpPr txBox="true"/>
          <p:nvPr/>
        </p:nvSpPr>
        <p:spPr>
          <a:xfrm rot="0">
            <a:off x="6449378" y="8499157"/>
            <a:ext cx="10732770" cy="856298"/>
          </a:xfrm>
          <a:prstGeom prst="rect">
            <a:avLst/>
          </a:prstGeom>
        </p:spPr>
        <p:txBody>
          <a:bodyPr anchor="t" rtlCol="false" tIns="0" lIns="0" bIns="0" rIns="0">
            <a:spAutoFit/>
          </a:bodyPr>
          <a:lstStyle/>
          <a:p>
            <a:pPr algn="l">
              <a:lnSpc>
                <a:spcPts val="3510"/>
              </a:lnSpc>
            </a:pPr>
            <a:r>
              <a:rPr lang="en-US" sz="2925" b="true">
                <a:solidFill>
                  <a:srgbClr val="17151F"/>
                </a:solidFill>
                <a:latin typeface="Arial Bold"/>
                <a:ea typeface="Arial Bold"/>
                <a:cs typeface="Arial Bold"/>
                <a:sym typeface="Arial Bold"/>
              </a:rPr>
              <a:t>Tightening and freezing act immediately.</a:t>
            </a:r>
          </a:p>
          <a:p>
            <a:pPr algn="l">
              <a:lnSpc>
                <a:spcPts val="3510"/>
              </a:lnSpc>
            </a:pPr>
            <a:r>
              <a:rPr lang="en-US" sz="2925" b="true">
                <a:solidFill>
                  <a:srgbClr val="17151F"/>
                </a:solidFill>
                <a:latin typeface="Arial Bold"/>
                <a:ea typeface="Arial Bold"/>
                <a:cs typeface="Arial Bold"/>
                <a:sym typeface="Arial Bold"/>
              </a:rPr>
              <a:t>Loosening follows a separate verification flow.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E-commerce + Agent: preferences and permissions</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Product data and personal preferences guide recommendations. Neither grants spending authority.</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09</a:t>
            </a:r>
          </a:p>
        </p:txBody>
      </p:sp>
      <p:sp>
        <p:nvSpPr>
          <p:cNvPr name="TextBox 6" id="6"/>
          <p:cNvSpPr txBox="true"/>
          <p:nvPr/>
        </p:nvSpPr>
        <p:spPr>
          <a:xfrm rot="0">
            <a:off x="2334578" y="9656445"/>
            <a:ext cx="13947457" cy="441960"/>
          </a:xfrm>
          <a:prstGeom prst="rect">
            <a:avLst/>
          </a:prstGeom>
        </p:spPr>
        <p:txBody>
          <a:bodyPr anchor="t" rtlCol="false" tIns="0" lIns="0" bIns="0" rIns="0">
            <a:spAutoFit/>
          </a:bodyPr>
          <a:lstStyle/>
          <a:p>
            <a:pPr algn="l">
              <a:lnSpc>
                <a:spcPts val="1823"/>
              </a:lnSpc>
            </a:pPr>
            <a:r>
              <a:rPr lang="en-US" sz="1519">
                <a:solidFill>
                  <a:srgbClr val="696575"/>
                </a:solidFill>
                <a:latin typeface="Arial"/>
                <a:ea typeface="Arial"/>
                <a:cs typeface="Arial"/>
                <a:sym typeface="Arial"/>
              </a:rPr>
              <a:t>Current deployed demonstration. The work log shows the scenario outcome, not a security certification.</a:t>
            </a:r>
          </a:p>
        </p:txBody>
      </p:sp>
      <p:sp>
        <p:nvSpPr>
          <p:cNvPr name="TextBox 7" id="7"/>
          <p:cNvSpPr txBox="true"/>
          <p:nvPr/>
        </p:nvSpPr>
        <p:spPr>
          <a:xfrm rot="0">
            <a:off x="991552" y="3131820"/>
            <a:ext cx="7560945" cy="622935"/>
          </a:xfrm>
          <a:prstGeom prst="rect">
            <a:avLst/>
          </a:prstGeom>
        </p:spPr>
        <p:txBody>
          <a:bodyPr anchor="t" rtlCol="false" tIns="0" lIns="0" bIns="0" rIns="0">
            <a:spAutoFit/>
          </a:bodyPr>
          <a:lstStyle/>
          <a:p>
            <a:pPr algn="l">
              <a:lnSpc>
                <a:spcPts val="3915"/>
              </a:lnSpc>
            </a:pPr>
            <a:r>
              <a:rPr lang="en-US" sz="3262" b="true">
                <a:solidFill>
                  <a:srgbClr val="6650D7"/>
                </a:solidFill>
                <a:latin typeface="Arial Bold"/>
                <a:ea typeface="Arial Bold"/>
                <a:cs typeface="Arial Bold"/>
                <a:sym typeface="Arial Bold"/>
              </a:rPr>
              <a:t>Personal taste stays optional</a:t>
            </a:r>
          </a:p>
        </p:txBody>
      </p:sp>
      <p:grpSp>
        <p:nvGrpSpPr>
          <p:cNvPr name="Group 8" id="8"/>
          <p:cNvGrpSpPr/>
          <p:nvPr/>
        </p:nvGrpSpPr>
        <p:grpSpPr>
          <a:xfrm rot="0">
            <a:off x="900112" y="4029123"/>
            <a:ext cx="7286625" cy="3957533"/>
            <a:chOff x="0" y="0"/>
            <a:chExt cx="9715500" cy="5276710"/>
          </a:xfrm>
        </p:grpSpPr>
        <p:sp>
          <p:nvSpPr>
            <p:cNvPr name="Freeform 9" id="9"/>
            <p:cNvSpPr/>
            <p:nvPr/>
          </p:nvSpPr>
          <p:spPr>
            <a:xfrm flipH="false" flipV="false" rot="0">
              <a:off x="0" y="0"/>
              <a:ext cx="9715500" cy="5276723"/>
            </a:xfrm>
            <a:custGeom>
              <a:avLst/>
              <a:gdLst/>
              <a:ahLst/>
              <a:cxnLst/>
              <a:rect r="r" b="b" t="t" l="l"/>
              <a:pathLst>
                <a:path h="5276723" w="9715500">
                  <a:moveTo>
                    <a:pt x="0" y="0"/>
                  </a:moveTo>
                  <a:lnTo>
                    <a:pt x="9715500" y="0"/>
                  </a:lnTo>
                  <a:lnTo>
                    <a:pt x="9715500" y="5276723"/>
                  </a:lnTo>
                  <a:lnTo>
                    <a:pt x="0" y="5276723"/>
                  </a:lnTo>
                  <a:lnTo>
                    <a:pt x="0" y="0"/>
                  </a:lnTo>
                  <a:close/>
                </a:path>
              </a:pathLst>
            </a:custGeom>
            <a:blipFill>
              <a:blip r:embed="rId3"/>
              <a:stretch>
                <a:fillRect l="0" t="0" r="0" b="0"/>
              </a:stretch>
            </a:blipFill>
          </p:spPr>
        </p:sp>
      </p:grpSp>
      <p:sp>
        <p:nvSpPr>
          <p:cNvPr name="TextBox 10" id="10"/>
          <p:cNvSpPr txBox="true"/>
          <p:nvPr/>
        </p:nvSpPr>
        <p:spPr>
          <a:xfrm rot="0">
            <a:off x="1020127" y="8399145"/>
            <a:ext cx="7560945" cy="942023"/>
          </a:xfrm>
          <a:prstGeom prst="rect">
            <a:avLst/>
          </a:prstGeom>
        </p:spPr>
        <p:txBody>
          <a:bodyPr anchor="t" rtlCol="false" tIns="0" lIns="0" bIns="0" rIns="0">
            <a:spAutoFit/>
          </a:bodyPr>
          <a:lstStyle/>
          <a:p>
            <a:pPr algn="l">
              <a:lnSpc>
                <a:spcPts val="3510"/>
              </a:lnSpc>
            </a:pPr>
            <a:r>
              <a:rPr lang="en-US" sz="2925">
                <a:solidFill>
                  <a:srgbClr val="17151F"/>
                </a:solidFill>
                <a:latin typeface="Arial"/>
                <a:ea typeface="Arial"/>
                <a:cs typeface="Arial"/>
                <a:sym typeface="Arial"/>
              </a:rPr>
              <a:t>Preferences rank choices.</a:t>
            </a:r>
          </a:p>
          <a:p>
            <a:pPr algn="l">
              <a:lnSpc>
                <a:spcPts val="3510"/>
              </a:lnSpc>
            </a:pPr>
            <a:r>
              <a:rPr lang="en-US" sz="2925">
                <a:solidFill>
                  <a:srgbClr val="17151F"/>
                </a:solidFill>
                <a:latin typeface="Arial"/>
                <a:ea typeface="Arial"/>
                <a:cs typeface="Arial"/>
                <a:sym typeface="Arial"/>
              </a:rPr>
              <a:t>They do not expand spending rights.</a:t>
            </a:r>
          </a:p>
        </p:txBody>
      </p:sp>
      <p:sp>
        <p:nvSpPr>
          <p:cNvPr name="TextBox 11" id="11"/>
          <p:cNvSpPr txBox="true"/>
          <p:nvPr/>
        </p:nvSpPr>
        <p:spPr>
          <a:xfrm rot="0">
            <a:off x="9735502" y="3131820"/>
            <a:ext cx="7575232" cy="622935"/>
          </a:xfrm>
          <a:prstGeom prst="rect">
            <a:avLst/>
          </a:prstGeom>
        </p:spPr>
        <p:txBody>
          <a:bodyPr anchor="t" rtlCol="false" tIns="0" lIns="0" bIns="0" rIns="0">
            <a:spAutoFit/>
          </a:bodyPr>
          <a:lstStyle/>
          <a:p>
            <a:pPr algn="l">
              <a:lnSpc>
                <a:spcPts val="3915"/>
              </a:lnSpc>
            </a:pPr>
            <a:r>
              <a:rPr lang="en-US" sz="3262" b="true">
                <a:solidFill>
                  <a:srgbClr val="6650D7"/>
                </a:solidFill>
                <a:latin typeface="Arial Bold"/>
                <a:ea typeface="Arial Bold"/>
                <a:cs typeface="Arial Bold"/>
                <a:sym typeface="Arial Bold"/>
              </a:rPr>
              <a:t>Suspicious text stays data</a:t>
            </a:r>
          </a:p>
        </p:txBody>
      </p:sp>
      <p:grpSp>
        <p:nvGrpSpPr>
          <p:cNvPr name="Group 12" id="12"/>
          <p:cNvGrpSpPr/>
          <p:nvPr/>
        </p:nvGrpSpPr>
        <p:grpSpPr>
          <a:xfrm rot="0">
            <a:off x="9629775" y="4540082"/>
            <a:ext cx="7758112" cy="1964084"/>
            <a:chOff x="0" y="0"/>
            <a:chExt cx="10344150" cy="2618778"/>
          </a:xfrm>
        </p:grpSpPr>
        <p:sp>
          <p:nvSpPr>
            <p:cNvPr name="Freeform 13" id="13"/>
            <p:cNvSpPr/>
            <p:nvPr/>
          </p:nvSpPr>
          <p:spPr>
            <a:xfrm flipH="false" flipV="false" rot="0">
              <a:off x="0" y="0"/>
              <a:ext cx="10344150" cy="2618740"/>
            </a:xfrm>
            <a:custGeom>
              <a:avLst/>
              <a:gdLst/>
              <a:ahLst/>
              <a:cxnLst/>
              <a:rect r="r" b="b" t="t" l="l"/>
              <a:pathLst>
                <a:path h="2618740" w="10344150">
                  <a:moveTo>
                    <a:pt x="0" y="0"/>
                  </a:moveTo>
                  <a:lnTo>
                    <a:pt x="10344150" y="0"/>
                  </a:lnTo>
                  <a:lnTo>
                    <a:pt x="10344150" y="2618740"/>
                  </a:lnTo>
                  <a:lnTo>
                    <a:pt x="0" y="2618740"/>
                  </a:lnTo>
                  <a:lnTo>
                    <a:pt x="0" y="0"/>
                  </a:lnTo>
                  <a:close/>
                </a:path>
              </a:pathLst>
            </a:custGeom>
            <a:blipFill>
              <a:blip r:embed="rId4"/>
              <a:stretch>
                <a:fillRect l="0" t="0" r="0" b="-1"/>
              </a:stretch>
            </a:blipFill>
          </p:spPr>
        </p:sp>
      </p:grpSp>
      <p:sp>
        <p:nvSpPr>
          <p:cNvPr name="TextBox 14" id="14"/>
          <p:cNvSpPr txBox="true"/>
          <p:nvPr/>
        </p:nvSpPr>
        <p:spPr>
          <a:xfrm rot="0">
            <a:off x="9764078" y="7256145"/>
            <a:ext cx="7546657" cy="856298"/>
          </a:xfrm>
          <a:prstGeom prst="rect">
            <a:avLst/>
          </a:prstGeom>
        </p:spPr>
        <p:txBody>
          <a:bodyPr anchor="t" rtlCol="false" tIns="0" lIns="0" bIns="0" rIns="0">
            <a:spAutoFit/>
          </a:bodyPr>
          <a:lstStyle/>
          <a:p>
            <a:pPr algn="l">
              <a:lnSpc>
                <a:spcPts val="3644"/>
              </a:lnSpc>
            </a:pPr>
            <a:r>
              <a:rPr lang="en-US" sz="3037" b="true">
                <a:solidFill>
                  <a:srgbClr val="17151F"/>
                </a:solidFill>
                <a:latin typeface="Arial Bold"/>
                <a:ea typeface="Arial Bold"/>
                <a:cs typeface="Arial Bold"/>
                <a:sym typeface="Arial Bold"/>
              </a:rPr>
              <a:t>“Ignore the budget” appears in a listing.</a:t>
            </a:r>
          </a:p>
        </p:txBody>
      </p:sp>
      <p:sp>
        <p:nvSpPr>
          <p:cNvPr name="TextBox 15" id="15"/>
          <p:cNvSpPr txBox="true"/>
          <p:nvPr/>
        </p:nvSpPr>
        <p:spPr>
          <a:xfrm rot="0">
            <a:off x="9764078" y="8370570"/>
            <a:ext cx="7546657" cy="1013460"/>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The original mandate still applies.</a:t>
            </a:r>
          </a:p>
          <a:p>
            <a:pPr algn="l">
              <a:lnSpc>
                <a:spcPts val="3375"/>
              </a:lnSpc>
            </a:pPr>
            <a:r>
              <a:rPr lang="en-US" sz="2812">
                <a:solidFill>
                  <a:srgbClr val="17151F"/>
                </a:solidFill>
                <a:latin typeface="Arial"/>
                <a:ea typeface="Arial"/>
                <a:cs typeface="Arial"/>
                <a:sym typeface="Arial"/>
              </a:rPr>
              <a:t>The work log records the ignored instruction.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Payment: every charge has a traceable basis</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The order connects the mandate version, candidate decisions, payment method and receipt.</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10</a:t>
            </a:r>
          </a:p>
        </p:txBody>
      </p:sp>
      <p:sp>
        <p:nvSpPr>
          <p:cNvPr name="TextBox 6" id="6"/>
          <p:cNvSpPr txBox="true"/>
          <p:nvPr/>
        </p:nvSpPr>
        <p:spPr>
          <a:xfrm rot="0">
            <a:off x="2334578" y="9656445"/>
            <a:ext cx="13947457" cy="441960"/>
          </a:xfrm>
          <a:prstGeom prst="rect">
            <a:avLst/>
          </a:prstGeom>
        </p:spPr>
        <p:txBody>
          <a:bodyPr anchor="t" rtlCol="false" tIns="0" lIns="0" bIns="0" rIns="0">
            <a:spAutoFit/>
          </a:bodyPr>
          <a:lstStyle/>
          <a:p>
            <a:pPr algn="l">
              <a:lnSpc>
                <a:spcPts val="1823"/>
              </a:lnSpc>
            </a:pPr>
            <a:r>
              <a:rPr lang="en-US" sz="1519">
                <a:solidFill>
                  <a:srgbClr val="696575"/>
                </a:solidFill>
                <a:latin typeface="Arial"/>
                <a:ea typeface="Arial"/>
                <a:cs typeface="Arial"/>
                <a:sym typeface="Arial"/>
              </a:rPr>
              <a:t>Latest observed demo order: ord_hy9wvf, Riri Fresh Mart. Backend transaction design is separate from simulated rails.</a:t>
            </a:r>
          </a:p>
        </p:txBody>
      </p:sp>
      <p:grpSp>
        <p:nvGrpSpPr>
          <p:cNvPr name="Group 7" id="7"/>
          <p:cNvGrpSpPr/>
          <p:nvPr/>
        </p:nvGrpSpPr>
        <p:grpSpPr>
          <a:xfrm rot="0">
            <a:off x="928688" y="3071022"/>
            <a:ext cx="5072062" cy="5816584"/>
            <a:chOff x="0" y="0"/>
            <a:chExt cx="6762750" cy="7755446"/>
          </a:xfrm>
        </p:grpSpPr>
        <p:sp>
          <p:nvSpPr>
            <p:cNvPr name="Freeform 8" id="8"/>
            <p:cNvSpPr/>
            <p:nvPr/>
          </p:nvSpPr>
          <p:spPr>
            <a:xfrm flipH="false" flipV="false" rot="0">
              <a:off x="0" y="0"/>
              <a:ext cx="6762750" cy="7755509"/>
            </a:xfrm>
            <a:custGeom>
              <a:avLst/>
              <a:gdLst/>
              <a:ahLst/>
              <a:cxnLst/>
              <a:rect r="r" b="b" t="t" l="l"/>
              <a:pathLst>
                <a:path h="7755509" w="6762750">
                  <a:moveTo>
                    <a:pt x="0" y="0"/>
                  </a:moveTo>
                  <a:lnTo>
                    <a:pt x="6762750" y="0"/>
                  </a:lnTo>
                  <a:lnTo>
                    <a:pt x="6762750" y="7755509"/>
                  </a:lnTo>
                  <a:lnTo>
                    <a:pt x="0" y="7755509"/>
                  </a:lnTo>
                  <a:lnTo>
                    <a:pt x="0" y="0"/>
                  </a:lnTo>
                  <a:close/>
                </a:path>
              </a:pathLst>
            </a:custGeom>
            <a:blipFill>
              <a:blip r:embed="rId3"/>
              <a:stretch>
                <a:fillRect l="0" t="0" r="0" b="0"/>
              </a:stretch>
            </a:blipFill>
          </p:spPr>
        </p:sp>
      </p:grpSp>
      <p:sp>
        <p:nvSpPr>
          <p:cNvPr name="TextBox 9" id="9"/>
          <p:cNvSpPr txBox="true"/>
          <p:nvPr/>
        </p:nvSpPr>
        <p:spPr>
          <a:xfrm rot="0">
            <a:off x="6849428" y="3103245"/>
            <a:ext cx="10447020" cy="822960"/>
          </a:xfrm>
          <a:prstGeom prst="rect">
            <a:avLst/>
          </a:prstGeom>
        </p:spPr>
        <p:txBody>
          <a:bodyPr anchor="t" rtlCol="false" tIns="0" lIns="0" bIns="0" rIns="0">
            <a:spAutoFit/>
          </a:bodyPr>
          <a:lstStyle/>
          <a:p>
            <a:pPr algn="l">
              <a:lnSpc>
                <a:spcPts val="4725"/>
              </a:lnSpc>
            </a:pPr>
            <a:r>
              <a:rPr lang="en-US" sz="3937" b="true">
                <a:solidFill>
                  <a:srgbClr val="6650D7"/>
                </a:solidFill>
                <a:latin typeface="Arial Bold"/>
                <a:ea typeface="Arial Bold"/>
                <a:cs typeface="Arial Bold"/>
                <a:sym typeface="Arial Bold"/>
              </a:rPr>
              <a:t>HK$118 + HK$20 + HK$0 = HK$138</a:t>
            </a:r>
          </a:p>
        </p:txBody>
      </p:sp>
      <p:sp>
        <p:nvSpPr>
          <p:cNvPr name="TextBox 10" id="10"/>
          <p:cNvSpPr txBox="true"/>
          <p:nvPr/>
        </p:nvSpPr>
        <p:spPr>
          <a:xfrm rot="0">
            <a:off x="6892290" y="4036695"/>
            <a:ext cx="10261282" cy="475297"/>
          </a:xfrm>
          <a:prstGeom prst="rect">
            <a:avLst/>
          </a:prstGeom>
        </p:spPr>
        <p:txBody>
          <a:bodyPr anchor="t" rtlCol="false" tIns="0" lIns="0" bIns="0" rIns="0">
            <a:spAutoFit/>
          </a:bodyPr>
          <a:lstStyle/>
          <a:p>
            <a:pPr algn="l">
              <a:lnSpc>
                <a:spcPts val="2835"/>
              </a:lnSpc>
            </a:pPr>
            <a:r>
              <a:rPr lang="en-US" sz="2362">
                <a:solidFill>
                  <a:srgbClr val="696575"/>
                </a:solidFill>
                <a:latin typeface="Arial"/>
                <a:ea typeface="Arial"/>
                <a:cs typeface="Arial"/>
                <a:sym typeface="Arial"/>
              </a:rPr>
              <a:t>Item                  Delivery                Fee                 Total</a:t>
            </a:r>
          </a:p>
        </p:txBody>
      </p:sp>
      <p:sp>
        <p:nvSpPr>
          <p:cNvPr name="TextBox 11" id="11"/>
          <p:cNvSpPr txBox="true"/>
          <p:nvPr/>
        </p:nvSpPr>
        <p:spPr>
          <a:xfrm rot="0">
            <a:off x="6892290" y="5327332"/>
            <a:ext cx="3574733" cy="613410"/>
          </a:xfrm>
          <a:prstGeom prst="rect">
            <a:avLst/>
          </a:prstGeom>
        </p:spPr>
        <p:txBody>
          <a:bodyPr anchor="t" rtlCol="false" tIns="0" lIns="0" bIns="0" rIns="0">
            <a:spAutoFit/>
          </a:bodyPr>
          <a:lstStyle/>
          <a:p>
            <a:pPr algn="l">
              <a:lnSpc>
                <a:spcPts val="3644"/>
              </a:lnSpc>
            </a:pPr>
            <a:r>
              <a:rPr lang="en-US" sz="3037" b="true">
                <a:solidFill>
                  <a:srgbClr val="17151F"/>
                </a:solidFill>
                <a:latin typeface="Arial Bold"/>
                <a:ea typeface="Arial Bold"/>
                <a:cs typeface="Arial Bold"/>
                <a:sym typeface="Arial Bold"/>
              </a:rPr>
              <a:t>1  Recheck</a:t>
            </a:r>
          </a:p>
        </p:txBody>
      </p:sp>
      <p:sp>
        <p:nvSpPr>
          <p:cNvPr name="TextBox 12" id="12"/>
          <p:cNvSpPr txBox="true"/>
          <p:nvPr/>
        </p:nvSpPr>
        <p:spPr>
          <a:xfrm rot="0">
            <a:off x="10878502" y="5327332"/>
            <a:ext cx="6389370" cy="813435"/>
          </a:xfrm>
          <a:prstGeom prst="rect">
            <a:avLst/>
          </a:prstGeom>
        </p:spPr>
        <p:txBody>
          <a:bodyPr anchor="t" rtlCol="false" tIns="0" lIns="0" bIns="0" rIns="0">
            <a:spAutoFit/>
          </a:bodyPr>
          <a:lstStyle/>
          <a:p>
            <a:pPr algn="l">
              <a:lnSpc>
                <a:spcPts val="3375"/>
              </a:lnSpc>
            </a:pPr>
            <a:r>
              <a:rPr lang="en-US" sz="2812">
                <a:solidFill>
                  <a:srgbClr val="696575"/>
                </a:solidFill>
                <a:latin typeface="Arial"/>
                <a:ea typeface="Arial"/>
                <a:cs typeface="Arial"/>
                <a:sym typeface="Arial"/>
              </a:rPr>
              <a:t>Read current rules and the cart version.</a:t>
            </a:r>
          </a:p>
        </p:txBody>
      </p:sp>
      <p:sp>
        <p:nvSpPr>
          <p:cNvPr name="TextBox 13" id="13"/>
          <p:cNvSpPr txBox="true"/>
          <p:nvPr/>
        </p:nvSpPr>
        <p:spPr>
          <a:xfrm rot="0">
            <a:off x="6892290" y="6470332"/>
            <a:ext cx="3574733" cy="613410"/>
          </a:xfrm>
          <a:prstGeom prst="rect">
            <a:avLst/>
          </a:prstGeom>
        </p:spPr>
        <p:txBody>
          <a:bodyPr anchor="t" rtlCol="false" tIns="0" lIns="0" bIns="0" rIns="0">
            <a:spAutoFit/>
          </a:bodyPr>
          <a:lstStyle/>
          <a:p>
            <a:pPr algn="l">
              <a:lnSpc>
                <a:spcPts val="3644"/>
              </a:lnSpc>
            </a:pPr>
            <a:r>
              <a:rPr lang="en-US" sz="3037" b="true">
                <a:solidFill>
                  <a:srgbClr val="17151F"/>
                </a:solidFill>
                <a:latin typeface="Arial Bold"/>
                <a:ea typeface="Arial Bold"/>
                <a:cs typeface="Arial Bold"/>
                <a:sym typeface="Arial Bold"/>
              </a:rPr>
              <a:t>2  Settle together</a:t>
            </a:r>
          </a:p>
        </p:txBody>
      </p:sp>
      <p:sp>
        <p:nvSpPr>
          <p:cNvPr name="TextBox 14" id="14"/>
          <p:cNvSpPr txBox="true"/>
          <p:nvPr/>
        </p:nvSpPr>
        <p:spPr>
          <a:xfrm rot="0">
            <a:off x="10878502" y="6470332"/>
            <a:ext cx="6389370" cy="813435"/>
          </a:xfrm>
          <a:prstGeom prst="rect">
            <a:avLst/>
          </a:prstGeom>
        </p:spPr>
        <p:txBody>
          <a:bodyPr anchor="t" rtlCol="false" tIns="0" lIns="0" bIns="0" rIns="0">
            <a:spAutoFit/>
          </a:bodyPr>
          <a:lstStyle/>
          <a:p>
            <a:pPr algn="l">
              <a:lnSpc>
                <a:spcPts val="3375"/>
              </a:lnSpc>
            </a:pPr>
            <a:r>
              <a:rPr lang="en-US" sz="2812">
                <a:solidFill>
                  <a:srgbClr val="696575"/>
                </a:solidFill>
                <a:latin typeface="Arial"/>
                <a:ea typeface="Arial"/>
                <a:cs typeface="Arial"/>
                <a:sym typeface="Arial"/>
              </a:rPr>
              <a:t>Update allowance, uses, stock and balances.</a:t>
            </a:r>
          </a:p>
        </p:txBody>
      </p:sp>
      <p:sp>
        <p:nvSpPr>
          <p:cNvPr name="TextBox 15" id="15"/>
          <p:cNvSpPr txBox="true"/>
          <p:nvPr/>
        </p:nvSpPr>
        <p:spPr>
          <a:xfrm rot="0">
            <a:off x="6892290" y="7613332"/>
            <a:ext cx="3574733" cy="613410"/>
          </a:xfrm>
          <a:prstGeom prst="rect">
            <a:avLst/>
          </a:prstGeom>
        </p:spPr>
        <p:txBody>
          <a:bodyPr anchor="t" rtlCol="false" tIns="0" lIns="0" bIns="0" rIns="0">
            <a:spAutoFit/>
          </a:bodyPr>
          <a:lstStyle/>
          <a:p>
            <a:pPr algn="l">
              <a:lnSpc>
                <a:spcPts val="3644"/>
              </a:lnSpc>
            </a:pPr>
            <a:r>
              <a:rPr lang="en-US" sz="3037" b="true">
                <a:solidFill>
                  <a:srgbClr val="17151F"/>
                </a:solidFill>
                <a:latin typeface="Arial Bold"/>
                <a:ea typeface="Arial Bold"/>
                <a:cs typeface="Arial Bold"/>
                <a:sym typeface="Arial Bold"/>
              </a:rPr>
              <a:t>3  Explain later</a:t>
            </a:r>
          </a:p>
        </p:txBody>
      </p:sp>
      <p:sp>
        <p:nvSpPr>
          <p:cNvPr name="TextBox 16" id="16"/>
          <p:cNvSpPr txBox="true"/>
          <p:nvPr/>
        </p:nvSpPr>
        <p:spPr>
          <a:xfrm rot="0">
            <a:off x="10878502" y="7613332"/>
            <a:ext cx="6389370" cy="813435"/>
          </a:xfrm>
          <a:prstGeom prst="rect">
            <a:avLst/>
          </a:prstGeom>
        </p:spPr>
        <p:txBody>
          <a:bodyPr anchor="t" rtlCol="false" tIns="0" lIns="0" bIns="0" rIns="0">
            <a:spAutoFit/>
          </a:bodyPr>
          <a:lstStyle/>
          <a:p>
            <a:pPr algn="l">
              <a:lnSpc>
                <a:spcPts val="3375"/>
              </a:lnSpc>
            </a:pPr>
            <a:r>
              <a:rPr lang="en-US" sz="2812">
                <a:solidFill>
                  <a:srgbClr val="696575"/>
                </a:solidFill>
                <a:latin typeface="Arial"/>
                <a:ea typeface="Arial"/>
                <a:cs typeface="Arial"/>
                <a:sym typeface="Arial"/>
              </a:rPr>
              <a:t>Keep the mandate, decision and receipt linked.</a:t>
            </a:r>
          </a:p>
        </p:txBody>
      </p:sp>
      <p:sp>
        <p:nvSpPr>
          <p:cNvPr name="TextBox 17" id="17"/>
          <p:cNvSpPr txBox="true"/>
          <p:nvPr/>
        </p:nvSpPr>
        <p:spPr>
          <a:xfrm rot="0">
            <a:off x="6878003" y="8899207"/>
            <a:ext cx="10461307" cy="527685"/>
          </a:xfrm>
          <a:prstGeom prst="rect">
            <a:avLst/>
          </a:prstGeom>
        </p:spPr>
        <p:txBody>
          <a:bodyPr anchor="t" rtlCol="false" tIns="0" lIns="0" bIns="0" rIns="0">
            <a:spAutoFit/>
          </a:bodyPr>
          <a:lstStyle/>
          <a:p>
            <a:pPr algn="l">
              <a:lnSpc>
                <a:spcPts val="3510"/>
              </a:lnSpc>
            </a:pPr>
            <a:r>
              <a:rPr lang="en-US" sz="2925" b="true">
                <a:solidFill>
                  <a:srgbClr val="17151F"/>
                </a:solidFill>
                <a:latin typeface="Arial Bold"/>
                <a:ea typeface="Arial Bold"/>
                <a:cs typeface="Arial Bold"/>
                <a:sym typeface="Arial Bold"/>
              </a:rPr>
              <a:t>HK$162 allowance left. One purchase remaining.</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48690" y="645795"/>
            <a:ext cx="16390620" cy="865823"/>
          </a:xfrm>
          <a:prstGeom prst="rect">
            <a:avLst/>
          </a:prstGeom>
        </p:spPr>
        <p:txBody>
          <a:bodyPr anchor="t" rtlCol="false" tIns="0" lIns="0" bIns="0" rIns="0">
            <a:spAutoFit/>
          </a:bodyPr>
          <a:lstStyle/>
          <a:p>
            <a:pPr algn="l">
              <a:lnSpc>
                <a:spcPts val="5535"/>
              </a:lnSpc>
            </a:pPr>
            <a:r>
              <a:rPr lang="en-US" sz="4612" b="true">
                <a:solidFill>
                  <a:srgbClr val="17151F"/>
                </a:solidFill>
                <a:latin typeface="Arial Bold"/>
                <a:ea typeface="Arial Bold"/>
                <a:cs typeface="Arial Bold"/>
                <a:sym typeface="Arial Bold"/>
              </a:rPr>
              <a:t>Value starts with repeat household shopping</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For young adults who already know their preferences and want less work each time they restock.</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11</a:t>
            </a:r>
          </a:p>
        </p:txBody>
      </p:sp>
      <p:sp>
        <p:nvSpPr>
          <p:cNvPr name="TextBox 6" id="6"/>
          <p:cNvSpPr txBox="true"/>
          <p:nvPr/>
        </p:nvSpPr>
        <p:spPr>
          <a:xfrm rot="0">
            <a:off x="2334578" y="9665970"/>
            <a:ext cx="13961745" cy="432435"/>
          </a:xfrm>
          <a:prstGeom prst="rect">
            <a:avLst/>
          </a:prstGeom>
        </p:spPr>
        <p:txBody>
          <a:bodyPr anchor="t" rtlCol="false" tIns="0" lIns="0" bIns="0" rIns="0">
            <a:spAutoFit/>
          </a:bodyPr>
          <a:lstStyle/>
          <a:p>
            <a:pPr algn="l">
              <a:lnSpc>
                <a:spcPts val="1755"/>
              </a:lnSpc>
            </a:pPr>
            <a:r>
              <a:rPr lang="en-US" sz="1462">
                <a:solidFill>
                  <a:srgbClr val="696575"/>
                </a:solidFill>
                <a:latin typeface="Arial"/>
                <a:ea typeface="Arial"/>
                <a:cs typeface="Arial"/>
                <a:sym typeface="Arial"/>
              </a:rPr>
              <a:t>Value hypotheses awaiting user tests. No measured time saving, adoption or commercial traction claimed.</a:t>
            </a:r>
          </a:p>
        </p:txBody>
      </p:sp>
      <p:graphicFrame>
        <p:nvGraphicFramePr>
          <p:cNvPr name="Table 7" id="7"/>
          <p:cNvGraphicFramePr>
            <a:graphicFrameLocks noGrp="true"/>
          </p:cNvGraphicFramePr>
          <p:nvPr/>
        </p:nvGraphicFramePr>
        <p:xfrm>
          <a:off x="900112" y="3128962"/>
          <a:ext cx="16478250" cy="4724400"/>
        </p:xfrm>
        <a:graphic>
          <a:graphicData uri="http://schemas.openxmlformats.org/drawingml/2006/table">
            <a:tbl>
              <a:tblPr/>
              <a:tblGrid>
                <a:gridCol w="3780724"/>
                <a:gridCol w="6248895"/>
                <a:gridCol w="6448631"/>
              </a:tblGrid>
              <a:tr h="1181100">
                <a:tc>
                  <a:txBody>
                    <a:bodyPr anchor="t" rtlCol="false"/>
                    <a:lstStyle/>
                    <a:p>
                      <a:pPr algn="l">
                        <a:lnSpc>
                          <a:spcPts val="3104"/>
                        </a:lnSpc>
                        <a:defRPr/>
                      </a:pPr>
                      <a:r>
                        <a:rPr lang="en-US" sz="2587" b="true">
                          <a:solidFill>
                            <a:srgbClr val="FFFFFF"/>
                          </a:solidFill>
                          <a:latin typeface="Arial Bold"/>
                          <a:ea typeface="Arial Bold"/>
                          <a:cs typeface="Arial Bold"/>
                          <a:sym typeface="Arial Bold"/>
                        </a:rPr>
                        <a:t>Who / problem</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6650D7"/>
                    </a:solidFill>
                  </a:tcPr>
                </a:tc>
                <a:tc>
                  <a:txBody>
                    <a:bodyPr anchor="t" rtlCol="false"/>
                    <a:lstStyle/>
                    <a:p>
                      <a:pPr algn="l">
                        <a:lnSpc>
                          <a:spcPts val="3104"/>
                        </a:lnSpc>
                        <a:defRPr/>
                      </a:pPr>
                      <a:r>
                        <a:rPr lang="en-US" sz="2587" b="true">
                          <a:solidFill>
                            <a:srgbClr val="FFFFFF"/>
                          </a:solidFill>
                          <a:latin typeface="Arial Bold"/>
                          <a:ea typeface="Arial Bold"/>
                          <a:cs typeface="Arial Bold"/>
                          <a:sym typeface="Arial Bold"/>
                        </a:rPr>
                        <a:t>What Zev changes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6650D7"/>
                    </a:solidFill>
                  </a:tcPr>
                </a:tc>
                <a:tc>
                  <a:txBody>
                    <a:bodyPr anchor="t" rtlCol="false"/>
                    <a:lstStyle/>
                    <a:p>
                      <a:pPr algn="l">
                        <a:lnSpc>
                          <a:spcPts val="3104"/>
                        </a:lnSpc>
                        <a:defRPr/>
                      </a:pPr>
                      <a:r>
                        <a:rPr lang="en-US" sz="2587" b="true">
                          <a:solidFill>
                            <a:srgbClr val="FFFFFF"/>
                          </a:solidFill>
                          <a:latin typeface="Arial Bold"/>
                          <a:ea typeface="Arial Bold"/>
                          <a:cs typeface="Arial Bold"/>
                          <a:sym typeface="Arial Bold"/>
                        </a:rPr>
                        <a:t>Evidence to collect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6650D7"/>
                    </a:solidFill>
                  </a:tcPr>
                </a:tc>
              </a:tr>
              <a:tr h="1181100">
                <a:tc>
                  <a:txBody>
                    <a:bodyPr anchor="t" rtlCol="false"/>
                    <a:lstStyle/>
                    <a:p>
                      <a:pPr algn="l">
                        <a:lnSpc>
                          <a:spcPts val="3104"/>
                        </a:lnSpc>
                        <a:defRPr/>
                      </a:pPr>
                      <a:r>
                        <a:rPr lang="en-US" sz="2587">
                          <a:solidFill>
                            <a:srgbClr val="17151F"/>
                          </a:solidFill>
                          <a:latin typeface="Arial"/>
                          <a:ea typeface="Arial"/>
                          <a:cs typeface="Arial"/>
                          <a:sym typeface="Arial"/>
                        </a:rPr>
                        <a:t>Shoppers repeat the same checks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c>
                  <a:txBody>
                    <a:bodyPr anchor="t" rtlCol="false"/>
                    <a:lstStyle/>
                    <a:p>
                      <a:pPr algn="l">
                        <a:lnSpc>
                          <a:spcPts val="3104"/>
                        </a:lnSpc>
                        <a:defRPr/>
                      </a:pPr>
                      <a:r>
                        <a:rPr lang="en-US" sz="2587">
                          <a:solidFill>
                            <a:srgbClr val="17151F"/>
                          </a:solidFill>
                          <a:latin typeface="Arial"/>
                          <a:ea typeface="Arial"/>
                          <a:cs typeface="Arial"/>
                          <a:sym typeface="Arial"/>
                        </a:rPr>
                        <a:t>Reuse budget, count and expiry.</a:t>
                      </a:r>
                      <a:endParaRPr lang="en-US" sz="1100"/>
                    </a:p>
                    <a:p>
                      <a:pPr algn="l">
                        <a:lnSpc>
                          <a:spcPts val="3104"/>
                        </a:lnSpc>
                      </a:pPr>
                      <a:r>
                        <a:rPr lang="en-US" sz="2587">
                          <a:solidFill>
                            <a:srgbClr val="17151F"/>
                          </a:solidFill>
                          <a:latin typeface="Arial"/>
                          <a:ea typeface="Arial"/>
                          <a:cs typeface="Arial"/>
                          <a:sym typeface="Arial"/>
                        </a:rPr>
                        <a:t>Review only defined exceptions.</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c>
                  <a:txBody>
                    <a:bodyPr anchor="t" rtlCol="false"/>
                    <a:lstStyle/>
                    <a:p>
                      <a:pPr algn="l">
                        <a:lnSpc>
                          <a:spcPts val="3104"/>
                        </a:lnSpc>
                        <a:defRPr/>
                      </a:pPr>
                      <a:r>
                        <a:rPr lang="en-US" sz="2587">
                          <a:solidFill>
                            <a:srgbClr val="17151F"/>
                          </a:solidFill>
                          <a:latin typeface="Arial"/>
                          <a:ea typeface="Arial"/>
                          <a:cs typeface="Arial"/>
                          <a:sym typeface="Arial"/>
                        </a:rPr>
                        <a:t>First-use and repeat-task time.</a:t>
                      </a:r>
                      <a:endParaRPr lang="en-US" sz="1100"/>
                    </a:p>
                    <a:p>
                      <a:pPr algn="l">
                        <a:lnSpc>
                          <a:spcPts val="3104"/>
                        </a:lnSpc>
                      </a:pPr>
                      <a:r>
                        <a:rPr lang="en-US" sz="2587">
                          <a:solidFill>
                            <a:srgbClr val="17151F"/>
                          </a:solidFill>
                          <a:latin typeface="Arial"/>
                          <a:ea typeface="Arial"/>
                          <a:cs typeface="Arial"/>
                          <a:sym typeface="Arial"/>
                        </a:rPr>
                        <a:t>Can users predict buy / ask / block?</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r>
              <a:tr h="1181100">
                <a:tc>
                  <a:txBody>
                    <a:bodyPr anchor="t" rtlCol="false"/>
                    <a:lstStyle/>
                    <a:p>
                      <a:pPr algn="l">
                        <a:lnSpc>
                          <a:spcPts val="3104"/>
                        </a:lnSpc>
                        <a:defRPr/>
                      </a:pPr>
                      <a:r>
                        <a:rPr lang="en-US" sz="2587">
                          <a:solidFill>
                            <a:srgbClr val="17151F"/>
                          </a:solidFill>
                          <a:latin typeface="Arial"/>
                          <a:ea typeface="Arial"/>
                          <a:cs typeface="Arial"/>
                          <a:sym typeface="Arial"/>
                        </a:rPr>
                        <a:t>Merchants explain order issues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104"/>
                        </a:lnSpc>
                        <a:defRPr/>
                      </a:pPr>
                      <a:r>
                        <a:rPr lang="en-US" sz="2587">
                          <a:solidFill>
                            <a:srgbClr val="17151F"/>
                          </a:solidFill>
                          <a:latin typeface="Arial"/>
                          <a:ea typeface="Arial"/>
                          <a:cs typeface="Arial"/>
                          <a:sym typeface="Arial"/>
                        </a:rPr>
                        <a:t>Link the order to the permission</a:t>
                      </a:r>
                      <a:endParaRPr lang="en-US" sz="1100"/>
                    </a:p>
                    <a:p>
                      <a:pPr algn="l">
                        <a:lnSpc>
                          <a:spcPts val="3104"/>
                        </a:lnSpc>
                      </a:pPr>
                      <a:r>
                        <a:rPr lang="en-US" sz="2587">
                          <a:solidFill>
                            <a:srgbClr val="17151F"/>
                          </a:solidFill>
                          <a:latin typeface="Arial"/>
                          <a:ea typeface="Arial"/>
                          <a:cs typeface="Arial"/>
                          <a:sym typeface="Arial"/>
                        </a:rPr>
                        <a:t>and recorded decision.</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104"/>
                        </a:lnSpc>
                        <a:defRPr/>
                      </a:pPr>
                      <a:r>
                        <a:rPr lang="en-US" sz="2587">
                          <a:solidFill>
                            <a:srgbClr val="17151F"/>
                          </a:solidFill>
                          <a:latin typeface="Arial"/>
                          <a:ea typeface="Arial"/>
                          <a:cs typeface="Arial"/>
                          <a:sym typeface="Arial"/>
                        </a:rPr>
                        <a:t>Time to explain a disputed order.</a:t>
                      </a:r>
                      <a:endParaRPr lang="en-US" sz="1100"/>
                    </a:p>
                    <a:p>
                      <a:pPr algn="l">
                        <a:lnSpc>
                          <a:spcPts val="3104"/>
                        </a:lnSpc>
                      </a:pPr>
                      <a:r>
                        <a:rPr lang="en-US" sz="2587">
                          <a:solidFill>
                            <a:srgbClr val="17151F"/>
                          </a:solidFill>
                          <a:latin typeface="Arial"/>
                          <a:ea typeface="Arial"/>
                          <a:cs typeface="Arial"/>
                          <a:sym typeface="Arial"/>
                        </a:rPr>
                        <a:t>Eligible purchase completion.</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181100">
                <a:tc>
                  <a:txBody>
                    <a:bodyPr anchor="t" rtlCol="false"/>
                    <a:lstStyle/>
                    <a:p>
                      <a:pPr algn="l">
                        <a:lnSpc>
                          <a:spcPts val="3104"/>
                        </a:lnSpc>
                        <a:defRPr/>
                      </a:pPr>
                      <a:r>
                        <a:rPr lang="en-US" sz="2587">
                          <a:solidFill>
                            <a:srgbClr val="17151F"/>
                          </a:solidFill>
                          <a:latin typeface="Arial"/>
                          <a:ea typeface="Arial"/>
                          <a:cs typeface="Arial"/>
                          <a:sym typeface="Arial"/>
                        </a:rPr>
                        <a:t>Wallets need bounded delegation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c>
                  <a:txBody>
                    <a:bodyPr anchor="t" rtlCol="false"/>
                    <a:lstStyle/>
                    <a:p>
                      <a:pPr algn="l">
                        <a:lnSpc>
                          <a:spcPts val="3104"/>
                        </a:lnSpc>
                        <a:defRPr/>
                      </a:pPr>
                      <a:r>
                        <a:rPr lang="en-US" sz="2587">
                          <a:solidFill>
                            <a:srgbClr val="17151F"/>
                          </a:solidFill>
                          <a:latin typeface="Arial"/>
                          <a:ea typeface="Arial"/>
                          <a:cs typeface="Arial"/>
                          <a:sym typeface="Arial"/>
                        </a:rPr>
                        <a:t>Add shopping under explicit limits</a:t>
                      </a:r>
                      <a:endParaRPr lang="en-US" sz="1100"/>
                    </a:p>
                    <a:p>
                      <a:pPr algn="l">
                        <a:lnSpc>
                          <a:spcPts val="3104"/>
                        </a:lnSpc>
                      </a:pPr>
                      <a:r>
                        <a:rPr lang="en-US" sz="2587">
                          <a:solidFill>
                            <a:srgbClr val="17151F"/>
                          </a:solidFill>
                          <a:latin typeface="Arial"/>
                          <a:ea typeface="Arial"/>
                          <a:cs typeface="Arial"/>
                          <a:sym typeface="Arial"/>
                        </a:rPr>
                        <a:t>with a linked payment record.</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c>
                  <a:txBody>
                    <a:bodyPr anchor="t" rtlCol="false"/>
                    <a:lstStyle/>
                    <a:p>
                      <a:pPr algn="l">
                        <a:lnSpc>
                          <a:spcPts val="3104"/>
                        </a:lnSpc>
                        <a:defRPr/>
                      </a:pPr>
                      <a:r>
                        <a:rPr lang="en-US" sz="2587">
                          <a:solidFill>
                            <a:srgbClr val="17151F"/>
                          </a:solidFill>
                          <a:latin typeface="Arial"/>
                          <a:ea typeface="Arial"/>
                          <a:cs typeface="Arial"/>
                          <a:sym typeface="Arial"/>
                        </a:rPr>
                        <a:t>Repeat delegation and support effort.</a:t>
                      </a:r>
                      <a:endParaRPr lang="en-US" sz="1100"/>
                    </a:p>
                    <a:p>
                      <a:pPr algn="l">
                        <a:lnSpc>
                          <a:spcPts val="3104"/>
                        </a:lnSpc>
                      </a:pPr>
                      <a:r>
                        <a:rPr lang="en-US" sz="2587">
                          <a:solidFill>
                            <a:srgbClr val="17151F"/>
                          </a:solidFill>
                          <a:latin typeface="Arial"/>
                          <a:ea typeface="Arial"/>
                          <a:cs typeface="Arial"/>
                          <a:sym typeface="Arial"/>
                        </a:rPr>
                        <a:t>Control failures and duplicate charges.</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r>
            </a:tbl>
          </a:graphicData>
        </a:graphic>
      </p:graphicFrame>
      <p:sp>
        <p:nvSpPr>
          <p:cNvPr name="TextBox 8" id="8"/>
          <p:cNvSpPr txBox="true"/>
          <p:nvPr/>
        </p:nvSpPr>
        <p:spPr>
          <a:xfrm rot="0">
            <a:off x="1020127" y="8284845"/>
            <a:ext cx="3531870" cy="527685"/>
          </a:xfrm>
          <a:prstGeom prst="rect">
            <a:avLst/>
          </a:prstGeom>
        </p:spPr>
        <p:txBody>
          <a:bodyPr anchor="t" rtlCol="false" tIns="0" lIns="0" bIns="0" rIns="0">
            <a:spAutoFit/>
          </a:bodyPr>
          <a:lstStyle/>
          <a:p>
            <a:pPr algn="l">
              <a:lnSpc>
                <a:spcPts val="3510"/>
              </a:lnSpc>
            </a:pPr>
            <a:r>
              <a:rPr lang="en-US" sz="2925" b="true">
                <a:solidFill>
                  <a:srgbClr val="6650D7"/>
                </a:solidFill>
                <a:latin typeface="Arial Bold"/>
                <a:ea typeface="Arial Bold"/>
                <a:cs typeface="Arial Bold"/>
                <a:sym typeface="Arial Bold"/>
              </a:rPr>
              <a:t>Our focus</a:t>
            </a:r>
          </a:p>
        </p:txBody>
      </p:sp>
      <p:sp>
        <p:nvSpPr>
          <p:cNvPr name="TextBox 9" id="9"/>
          <p:cNvSpPr txBox="true"/>
          <p:nvPr/>
        </p:nvSpPr>
        <p:spPr>
          <a:xfrm rot="0">
            <a:off x="5077778" y="8241982"/>
            <a:ext cx="12090082" cy="999173"/>
          </a:xfrm>
          <a:prstGeom prst="rect">
            <a:avLst/>
          </a:prstGeom>
        </p:spPr>
        <p:txBody>
          <a:bodyPr anchor="t" rtlCol="false" tIns="0" lIns="0" bIns="0" rIns="0">
            <a:spAutoFit/>
          </a:bodyPr>
          <a:lstStyle/>
          <a:p>
            <a:pPr algn="l">
              <a:lnSpc>
                <a:spcPts val="3240"/>
              </a:lnSpc>
            </a:pPr>
            <a:r>
              <a:rPr lang="en-US" sz="2700">
                <a:solidFill>
                  <a:srgbClr val="17151F"/>
                </a:solidFill>
                <a:latin typeface="Arial"/>
                <a:ea typeface="Arial"/>
                <a:cs typeface="Arial"/>
                <a:sym typeface="Arial"/>
              </a:rPr>
              <a:t>Reusable limits in an everyday shopping experience.</a:t>
            </a:r>
          </a:p>
          <a:p>
            <a:pPr algn="l">
              <a:lnSpc>
                <a:spcPts val="3240"/>
              </a:lnSpc>
            </a:pPr>
            <a:r>
              <a:rPr lang="en-US" sz="2700">
                <a:solidFill>
                  <a:srgbClr val="17151F"/>
                </a:solidFill>
                <a:latin typeface="Arial"/>
                <a:ea typeface="Arial"/>
                <a:cs typeface="Arial"/>
                <a:sym typeface="Arial"/>
              </a:rPr>
              <a:t>ACP and AP2 provide relevant foundations (appendix 16).</a:t>
            </a:r>
          </a:p>
        </p:txBody>
      </p:sp>
      <p:sp>
        <p:nvSpPr>
          <p:cNvPr name="TextBox 10" id="10"/>
          <p:cNvSpPr txBox="true"/>
          <p:nvPr/>
        </p:nvSpPr>
        <p:spPr>
          <a:xfrm rot="0">
            <a:off x="1020127" y="9237345"/>
            <a:ext cx="16276320" cy="303847"/>
          </a:xfrm>
          <a:prstGeom prst="rect">
            <a:avLst/>
          </a:prstGeom>
        </p:spPr>
        <p:txBody>
          <a:bodyPr anchor="t" rtlCol="false" tIns="0" lIns="0" bIns="0" rIns="0">
            <a:spAutoFit/>
          </a:bodyPr>
          <a:lstStyle/>
          <a:p>
            <a:pPr algn="l">
              <a:lnSpc>
                <a:spcPts val="2565"/>
              </a:lnSpc>
            </a:pPr>
            <a:r>
              <a:rPr lang="en-US" sz="2137">
                <a:solidFill>
                  <a:srgbClr val="696575"/>
                </a:solidFill>
                <a:latin typeface="Arial"/>
                <a:ea typeface="Arial"/>
                <a:cs typeface="Arial"/>
                <a:sym typeface="Arial"/>
              </a:rPr>
              <a:t>Commercial hypothesis: integration fee + subscription for wallets or commerce platforms.</a:t>
            </a:r>
          </a:p>
        </p:txBody>
      </p:sp>
    </p:spTree>
  </p:cSld>
  <p:clrMapOvr>
    <a:masterClrMapping/>
  </p:clrMapOvr>
</p:sld>
</file>

<file path=ppt/slides/slide12.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Zev makes delegated shopping inspectable</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A complete purchase connects permission, product choice, agent work and payment evidence.</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12</a:t>
            </a:r>
          </a:p>
        </p:txBody>
      </p:sp>
      <p:sp>
        <p:nvSpPr>
          <p:cNvPr name="TextBox 6" id="6"/>
          <p:cNvSpPr txBox="true"/>
          <p:nvPr/>
        </p:nvSpPr>
        <p:spPr>
          <a:xfrm rot="0">
            <a:off x="1005840" y="3584258"/>
            <a:ext cx="3789045" cy="627698"/>
          </a:xfrm>
          <a:prstGeom prst="rect">
            <a:avLst/>
          </a:prstGeom>
        </p:spPr>
        <p:txBody>
          <a:bodyPr anchor="t" rtlCol="false" tIns="0" lIns="0" bIns="0" rIns="0">
            <a:spAutoFit/>
          </a:bodyPr>
          <a:lstStyle/>
          <a:p>
            <a:pPr algn="l">
              <a:lnSpc>
                <a:spcPts val="4185"/>
              </a:lnSpc>
            </a:pPr>
            <a:r>
              <a:rPr lang="en-US" sz="3487" b="true">
                <a:solidFill>
                  <a:srgbClr val="6650D7"/>
                </a:solidFill>
                <a:latin typeface="Arial Bold"/>
                <a:ea typeface="Arial Bold"/>
                <a:cs typeface="Arial Bold"/>
                <a:sym typeface="Arial Bold"/>
              </a:rPr>
              <a:t>Trust</a:t>
            </a:r>
          </a:p>
        </p:txBody>
      </p:sp>
      <p:sp>
        <p:nvSpPr>
          <p:cNvPr name="TextBox 7" id="7"/>
          <p:cNvSpPr txBox="true"/>
          <p:nvPr/>
        </p:nvSpPr>
        <p:spPr>
          <a:xfrm rot="0">
            <a:off x="1005840" y="4674870"/>
            <a:ext cx="3731895" cy="1137285"/>
          </a:xfrm>
          <a:prstGeom prst="rect">
            <a:avLst/>
          </a:prstGeom>
        </p:spPr>
        <p:txBody>
          <a:bodyPr anchor="t" rtlCol="false" tIns="0" lIns="0" bIns="0" rIns="0">
            <a:spAutoFit/>
          </a:bodyPr>
          <a:lstStyle/>
          <a:p>
            <a:pPr algn="l">
              <a:lnSpc>
                <a:spcPts val="3915"/>
              </a:lnSpc>
            </a:pPr>
            <a:r>
              <a:rPr lang="en-US" sz="3262" b="true">
                <a:solidFill>
                  <a:srgbClr val="17151F"/>
                </a:solidFill>
                <a:latin typeface="Arial Bold"/>
                <a:ea typeface="Arial Bold"/>
                <a:cs typeface="Arial Bold"/>
                <a:sym typeface="Arial Bold"/>
              </a:rPr>
              <a:t>Know what is allowed</a:t>
            </a:r>
          </a:p>
        </p:txBody>
      </p:sp>
      <p:sp>
        <p:nvSpPr>
          <p:cNvPr name="TextBox 8" id="8"/>
          <p:cNvSpPr txBox="true"/>
          <p:nvPr/>
        </p:nvSpPr>
        <p:spPr>
          <a:xfrm rot="0">
            <a:off x="5349240" y="3584258"/>
            <a:ext cx="3789045" cy="627698"/>
          </a:xfrm>
          <a:prstGeom prst="rect">
            <a:avLst/>
          </a:prstGeom>
        </p:spPr>
        <p:txBody>
          <a:bodyPr anchor="t" rtlCol="false" tIns="0" lIns="0" bIns="0" rIns="0">
            <a:spAutoFit/>
          </a:bodyPr>
          <a:lstStyle/>
          <a:p>
            <a:pPr algn="l">
              <a:lnSpc>
                <a:spcPts val="4185"/>
              </a:lnSpc>
            </a:pPr>
            <a:r>
              <a:rPr lang="en-US" sz="3487" b="true">
                <a:solidFill>
                  <a:srgbClr val="6650D7"/>
                </a:solidFill>
                <a:latin typeface="Arial Bold"/>
                <a:ea typeface="Arial Bold"/>
                <a:cs typeface="Arial Bold"/>
                <a:sym typeface="Arial Bold"/>
              </a:rPr>
              <a:t>E-commerce</a:t>
            </a:r>
          </a:p>
        </p:txBody>
      </p:sp>
      <p:sp>
        <p:nvSpPr>
          <p:cNvPr name="TextBox 9" id="9"/>
          <p:cNvSpPr txBox="true"/>
          <p:nvPr/>
        </p:nvSpPr>
        <p:spPr>
          <a:xfrm rot="0">
            <a:off x="5349240" y="4674870"/>
            <a:ext cx="3731895" cy="1137285"/>
          </a:xfrm>
          <a:prstGeom prst="rect">
            <a:avLst/>
          </a:prstGeom>
        </p:spPr>
        <p:txBody>
          <a:bodyPr anchor="t" rtlCol="false" tIns="0" lIns="0" bIns="0" rIns="0">
            <a:spAutoFit/>
          </a:bodyPr>
          <a:lstStyle/>
          <a:p>
            <a:pPr algn="l">
              <a:lnSpc>
                <a:spcPts val="3915"/>
              </a:lnSpc>
            </a:pPr>
            <a:r>
              <a:rPr lang="en-US" sz="3262" b="true">
                <a:solidFill>
                  <a:srgbClr val="17151F"/>
                </a:solidFill>
                <a:latin typeface="Arial Bold"/>
                <a:ea typeface="Arial Bold"/>
                <a:cs typeface="Arial Bold"/>
                <a:sym typeface="Arial Bold"/>
              </a:rPr>
              <a:t>See the whole basket</a:t>
            </a:r>
          </a:p>
        </p:txBody>
      </p:sp>
      <p:sp>
        <p:nvSpPr>
          <p:cNvPr name="TextBox 10" id="10"/>
          <p:cNvSpPr txBox="true"/>
          <p:nvPr/>
        </p:nvSpPr>
        <p:spPr>
          <a:xfrm rot="0">
            <a:off x="9692640" y="3584258"/>
            <a:ext cx="3789045" cy="627698"/>
          </a:xfrm>
          <a:prstGeom prst="rect">
            <a:avLst/>
          </a:prstGeom>
        </p:spPr>
        <p:txBody>
          <a:bodyPr anchor="t" rtlCol="false" tIns="0" lIns="0" bIns="0" rIns="0">
            <a:spAutoFit/>
          </a:bodyPr>
          <a:lstStyle/>
          <a:p>
            <a:pPr algn="l">
              <a:lnSpc>
                <a:spcPts val="4185"/>
              </a:lnSpc>
            </a:pPr>
            <a:r>
              <a:rPr lang="en-US" sz="3487" b="true">
                <a:solidFill>
                  <a:srgbClr val="6650D7"/>
                </a:solidFill>
                <a:latin typeface="Arial Bold"/>
                <a:ea typeface="Arial Bold"/>
                <a:cs typeface="Arial Bold"/>
                <a:sym typeface="Arial Bold"/>
              </a:rPr>
              <a:t>Agent</a:t>
            </a:r>
          </a:p>
        </p:txBody>
      </p:sp>
      <p:sp>
        <p:nvSpPr>
          <p:cNvPr name="TextBox 11" id="11"/>
          <p:cNvSpPr txBox="true"/>
          <p:nvPr/>
        </p:nvSpPr>
        <p:spPr>
          <a:xfrm rot="0">
            <a:off x="9692640" y="4674870"/>
            <a:ext cx="3731895" cy="1137285"/>
          </a:xfrm>
          <a:prstGeom prst="rect">
            <a:avLst/>
          </a:prstGeom>
        </p:spPr>
        <p:txBody>
          <a:bodyPr anchor="t" rtlCol="false" tIns="0" lIns="0" bIns="0" rIns="0">
            <a:spAutoFit/>
          </a:bodyPr>
          <a:lstStyle/>
          <a:p>
            <a:pPr algn="l">
              <a:lnSpc>
                <a:spcPts val="3915"/>
              </a:lnSpc>
            </a:pPr>
            <a:r>
              <a:rPr lang="en-US" sz="3262" b="true">
                <a:solidFill>
                  <a:srgbClr val="17151F"/>
                </a:solidFill>
                <a:latin typeface="Arial Bold"/>
                <a:ea typeface="Arial Bold"/>
                <a:cs typeface="Arial Bold"/>
                <a:sym typeface="Arial Bold"/>
              </a:rPr>
              <a:t>Delegate the comparison</a:t>
            </a:r>
          </a:p>
        </p:txBody>
      </p:sp>
      <p:sp>
        <p:nvSpPr>
          <p:cNvPr name="TextBox 12" id="12"/>
          <p:cNvSpPr txBox="true"/>
          <p:nvPr/>
        </p:nvSpPr>
        <p:spPr>
          <a:xfrm rot="0">
            <a:off x="14036040" y="3584258"/>
            <a:ext cx="3789045" cy="627698"/>
          </a:xfrm>
          <a:prstGeom prst="rect">
            <a:avLst/>
          </a:prstGeom>
        </p:spPr>
        <p:txBody>
          <a:bodyPr anchor="t" rtlCol="false" tIns="0" lIns="0" bIns="0" rIns="0">
            <a:spAutoFit/>
          </a:bodyPr>
          <a:lstStyle/>
          <a:p>
            <a:pPr algn="l">
              <a:lnSpc>
                <a:spcPts val="4185"/>
              </a:lnSpc>
            </a:pPr>
            <a:r>
              <a:rPr lang="en-US" sz="3487" b="true">
                <a:solidFill>
                  <a:srgbClr val="6650D7"/>
                </a:solidFill>
                <a:latin typeface="Arial Bold"/>
                <a:ea typeface="Arial Bold"/>
                <a:cs typeface="Arial Bold"/>
                <a:sym typeface="Arial Bold"/>
              </a:rPr>
              <a:t>Payment</a:t>
            </a:r>
          </a:p>
        </p:txBody>
      </p:sp>
      <p:sp>
        <p:nvSpPr>
          <p:cNvPr name="TextBox 13" id="13"/>
          <p:cNvSpPr txBox="true"/>
          <p:nvPr/>
        </p:nvSpPr>
        <p:spPr>
          <a:xfrm rot="0">
            <a:off x="14036040" y="4674870"/>
            <a:ext cx="3731895" cy="1137285"/>
          </a:xfrm>
          <a:prstGeom prst="rect">
            <a:avLst/>
          </a:prstGeom>
        </p:spPr>
        <p:txBody>
          <a:bodyPr anchor="t" rtlCol="false" tIns="0" lIns="0" bIns="0" rIns="0">
            <a:spAutoFit/>
          </a:bodyPr>
          <a:lstStyle/>
          <a:p>
            <a:pPr algn="l">
              <a:lnSpc>
                <a:spcPts val="3915"/>
              </a:lnSpc>
            </a:pPr>
            <a:r>
              <a:rPr lang="en-US" sz="3262" b="true">
                <a:solidFill>
                  <a:srgbClr val="17151F"/>
                </a:solidFill>
                <a:latin typeface="Arial Bold"/>
                <a:ea typeface="Arial Bold"/>
                <a:cs typeface="Arial Bold"/>
                <a:sym typeface="Arial Bold"/>
              </a:rPr>
              <a:t>Trace the final charge</a:t>
            </a:r>
          </a:p>
        </p:txBody>
      </p:sp>
      <p:sp>
        <p:nvSpPr>
          <p:cNvPr name="AutoShape 14" id="14"/>
          <p:cNvSpPr/>
          <p:nvPr/>
        </p:nvSpPr>
        <p:spPr>
          <a:xfrm rot="3900">
            <a:off x="905104" y="6438900"/>
            <a:ext cx="16477783" cy="0"/>
          </a:xfrm>
          <a:prstGeom prst="line">
            <a:avLst/>
          </a:prstGeom>
          <a:ln cap="rnd" w="9525">
            <a:solidFill>
              <a:srgbClr val="DDD9E9"/>
            </a:solidFill>
            <a:prstDash val="solid"/>
            <a:headEnd type="none" len="sm" w="sm"/>
            <a:tailEnd type="none" len="sm" w="sm"/>
          </a:ln>
        </p:spPr>
      </p:sp>
      <p:sp>
        <p:nvSpPr>
          <p:cNvPr name="TextBox 15" id="15"/>
          <p:cNvSpPr txBox="true"/>
          <p:nvPr/>
        </p:nvSpPr>
        <p:spPr>
          <a:xfrm rot="0">
            <a:off x="1005840" y="6918007"/>
            <a:ext cx="3789045" cy="665797"/>
          </a:xfrm>
          <a:prstGeom prst="rect">
            <a:avLst/>
          </a:prstGeom>
        </p:spPr>
        <p:txBody>
          <a:bodyPr anchor="t" rtlCol="false" tIns="0" lIns="0" bIns="0" rIns="0">
            <a:spAutoFit/>
          </a:bodyPr>
          <a:lstStyle/>
          <a:p>
            <a:pPr algn="l">
              <a:lnSpc>
                <a:spcPts val="3915"/>
              </a:lnSpc>
            </a:pPr>
            <a:r>
              <a:rPr lang="en-US" sz="3262" b="true">
                <a:solidFill>
                  <a:srgbClr val="17151F"/>
                </a:solidFill>
                <a:latin typeface="Arial Bold"/>
                <a:ea typeface="Arial Bold"/>
                <a:cs typeface="Arial Bold"/>
                <a:sym typeface="Arial Bold"/>
              </a:rPr>
              <a:t>Live demo</a:t>
            </a:r>
          </a:p>
        </p:txBody>
      </p:sp>
      <p:sp>
        <p:nvSpPr>
          <p:cNvPr name="TextBox 16" id="16"/>
          <p:cNvSpPr txBox="true"/>
          <p:nvPr/>
        </p:nvSpPr>
        <p:spPr>
          <a:xfrm rot="0">
            <a:off x="5249228" y="6898957"/>
            <a:ext cx="11947207" cy="799148"/>
          </a:xfrm>
          <a:prstGeom prst="rect">
            <a:avLst/>
          </a:prstGeom>
        </p:spPr>
        <p:txBody>
          <a:bodyPr anchor="t" rtlCol="false" tIns="0" lIns="0" bIns="0" rIns="0">
            <a:spAutoFit/>
          </a:bodyPr>
          <a:lstStyle/>
          <a:p>
            <a:pPr algn="l">
              <a:lnSpc>
                <a:spcPts val="5130"/>
              </a:lnSpc>
            </a:pPr>
            <a:r>
              <a:rPr lang="en-US" sz="4275" b="true">
                <a:solidFill>
                  <a:srgbClr val="6650D7"/>
                </a:solidFill>
                <a:latin typeface="Arial Bold"/>
                <a:ea typeface="Arial Bold"/>
                <a:cs typeface="Arial Bold"/>
                <a:sym typeface="Arial Bold"/>
              </a:rPr>
              <a:t>mandate-wallet-ui.vercel.app</a:t>
            </a:r>
          </a:p>
        </p:txBody>
      </p:sp>
      <p:sp>
        <p:nvSpPr>
          <p:cNvPr name="TextBox 17" id="17"/>
          <p:cNvSpPr txBox="true"/>
          <p:nvPr/>
        </p:nvSpPr>
        <p:spPr>
          <a:xfrm rot="0">
            <a:off x="1020127" y="8370570"/>
            <a:ext cx="16247745" cy="1013460"/>
          </a:xfrm>
          <a:prstGeom prst="rect">
            <a:avLst/>
          </a:prstGeom>
        </p:spPr>
        <p:txBody>
          <a:bodyPr anchor="t" rtlCol="false" tIns="0" lIns="0" bIns="0" rIns="0">
            <a:spAutoFit/>
          </a:bodyPr>
          <a:lstStyle/>
          <a:p>
            <a:pPr algn="l">
              <a:lnSpc>
                <a:spcPts val="3104"/>
              </a:lnSpc>
            </a:pPr>
            <a:r>
              <a:rPr lang="en-US" sz="2587">
                <a:solidFill>
                  <a:srgbClr val="17151F"/>
                </a:solidFill>
                <a:latin typeface="Arial"/>
                <a:ea typeface="Arial"/>
                <a:cs typeface="Arial"/>
                <a:sym typeface="Arial"/>
              </a:rPr>
              <a:t>Jingxuan Xie / Product &amp; interface                 Qicheng Li / Rules &amp; settlement</a:t>
            </a:r>
          </a:p>
          <a:p>
            <a:pPr algn="l">
              <a:lnSpc>
                <a:spcPts val="3104"/>
              </a:lnSpc>
            </a:pPr>
            <a:r>
              <a:rPr lang="en-US" sz="2587">
                <a:solidFill>
                  <a:srgbClr val="17151F"/>
                </a:solidFill>
                <a:latin typeface="Arial"/>
                <a:ea typeface="Arial"/>
                <a:cs typeface="Arial"/>
                <a:sym typeface="Arial"/>
              </a:rPr>
              <a:t>Yiyun Qi / Rates &amp; evidence                              Siyuan Zou / Narrative</a:t>
            </a:r>
          </a:p>
        </p:txBody>
      </p:sp>
      <p:pic>
        <p:nvPicPr>
          <p:cNvPr id="18" name="Zev demo QR"/>
          <p:cNvPicPr>
            <a:picLocks noChangeAspect="1"/>
          </p:cNvPicPr>
          <p:nvPr/>
        </p:nvPicPr>
        <p:blipFill>
          <a:blip r:embed="rIdZevDemoQR"/>
          <a:stretch/>
        </p:blipFill>
        <p:spPr>
          <a:xfrm>
            <a:off x="14773275" y="6572250"/>
            <a:ext cx="2571750" cy="2571750"/>
          </a:xfrm>
          <a:prstGeom prst="rect">
            <a:avLst/>
          </a:prstGeom>
        </p:spPr>
      </p:pic>
      <p:sp>
        <p:nvSpPr>
          <p:cNvPr id="19" name="Zev demo QR caption">
            <a:extLst>
              <a:ext uri="{FF2B5EF4-FFF2-40B4-BE49-F238E27FC236}">
                <ns3:creationId id="{AB13AF91-E44E-40CF-B98F-390A9B4DFE9E}"/>
              </a:ext>
            </a:extLst>
          </p:cNvPr>
          <p:cNvSpPr>
            <a:spLocks noGrp="1"/>
          </p:cNvSpPr>
          <p:nvPr/>
        </p:nvSpPr>
        <p:spPr>
          <a:xfrm>
            <a:off x="14630400" y="9239250"/>
            <a:ext cx="3143250" cy="357188"/>
          </a:xfrm>
          <a:prstGeom prst="rect">
            <a:avLst/>
          </a:prstGeom>
          <a:noFill/>
          <a:ln w="0">
            <a:noFill/>
          </a:ln>
        </p:spPr>
        <p:txBody>
          <a:bodyPr>
            <a:noAutofit/>
          </a:bodyPr>
          <a:lstStyle/>
          <a:p>
            <a:pPr>
              <a:defRPr sz="1913">
                <a:solidFill>
                  <a:srgbClr val="6650D7"/>
                </a:solidFill>
                <a:latin typeface="Arial"/>
                <a:ea typeface="Arial"/>
                <a:cs typeface="Arial"/>
              </a:defRPr>
            </a:pPr>
            <a:r>
              <a:rPr sz="1913">
                <a:solidFill>
                  <a:srgbClr val="6650D7"/>
                </a:solidFill>
                <a:latin typeface="Arial"/>
                <a:ea typeface="Arial"/>
                <a:cs typeface="Arial"/>
              </a:rPr>
              <a:t>Scan to try the demo</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Appendix: demonstrated capability and remaining work</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The prototype provides evidence of the experience. Production guarantees need separate validation.</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13</a:t>
            </a:r>
          </a:p>
        </p:txBody>
      </p:sp>
      <p:sp>
        <p:nvSpPr>
          <p:cNvPr name="TextBox 6" id="6"/>
          <p:cNvSpPr txBox="true"/>
          <p:nvPr/>
        </p:nvSpPr>
        <p:spPr>
          <a:xfrm rot="0">
            <a:off x="1005840" y="3241358"/>
            <a:ext cx="4774882" cy="870585"/>
          </a:xfrm>
          <a:prstGeom prst="rect">
            <a:avLst/>
          </a:prstGeom>
        </p:spPr>
        <p:txBody>
          <a:bodyPr anchor="t" rtlCol="false" tIns="0" lIns="0" bIns="0" rIns="0">
            <a:spAutoFit/>
          </a:bodyPr>
          <a:lstStyle/>
          <a:p>
            <a:pPr algn="l">
              <a:lnSpc>
                <a:spcPts val="3510"/>
              </a:lnSpc>
            </a:pPr>
            <a:r>
              <a:rPr lang="en-US" sz="2925" b="true">
                <a:solidFill>
                  <a:srgbClr val="6650D7"/>
                </a:solidFill>
                <a:latin typeface="Arial Bold"/>
                <a:ea typeface="Arial Bold"/>
                <a:cs typeface="Arial Bold"/>
                <a:sym typeface="Arial Bold"/>
              </a:rPr>
              <a:t>Observed on the website</a:t>
            </a:r>
          </a:p>
        </p:txBody>
      </p:sp>
      <p:sp>
        <p:nvSpPr>
          <p:cNvPr name="TextBox 7" id="7"/>
          <p:cNvSpPr txBox="true"/>
          <p:nvPr/>
        </p:nvSpPr>
        <p:spPr>
          <a:xfrm rot="0">
            <a:off x="6349365" y="3241358"/>
            <a:ext cx="10918507" cy="1142048"/>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Named-product draft, full basket comparison, buy / ask / block,</a:t>
            </a:r>
          </a:p>
          <a:p>
            <a:pPr algn="l">
              <a:lnSpc>
                <a:spcPts val="3375"/>
              </a:lnSpc>
            </a:pPr>
            <a:r>
              <a:rPr lang="en-US" sz="2812">
                <a:solidFill>
                  <a:srgbClr val="17151F"/>
                </a:solidFill>
                <a:latin typeface="Arial"/>
                <a:ea typeface="Arial"/>
                <a:cs typeface="Arial"/>
                <a:sym typeface="Arial"/>
              </a:rPr>
              <a:t>follow-up on the same task, payment explanation and receipt.</a:t>
            </a:r>
          </a:p>
        </p:txBody>
      </p:sp>
      <p:sp>
        <p:nvSpPr>
          <p:cNvPr name="AutoShape 8" id="8"/>
          <p:cNvSpPr/>
          <p:nvPr/>
        </p:nvSpPr>
        <p:spPr>
          <a:xfrm rot="3900">
            <a:off x="905104" y="4481512"/>
            <a:ext cx="16449208" cy="0"/>
          </a:xfrm>
          <a:prstGeom prst="line">
            <a:avLst/>
          </a:prstGeom>
          <a:ln cap="rnd" w="9525">
            <a:solidFill>
              <a:srgbClr val="DDD9E9"/>
            </a:solidFill>
            <a:prstDash val="solid"/>
            <a:headEnd type="none" len="sm" w="sm"/>
            <a:tailEnd type="none" len="sm" w="sm"/>
          </a:ln>
        </p:spPr>
      </p:sp>
      <p:sp>
        <p:nvSpPr>
          <p:cNvPr name="TextBox 9" id="9"/>
          <p:cNvSpPr txBox="true"/>
          <p:nvPr/>
        </p:nvSpPr>
        <p:spPr>
          <a:xfrm rot="0">
            <a:off x="1005840" y="4727258"/>
            <a:ext cx="4774882" cy="870585"/>
          </a:xfrm>
          <a:prstGeom prst="rect">
            <a:avLst/>
          </a:prstGeom>
        </p:spPr>
        <p:txBody>
          <a:bodyPr anchor="t" rtlCol="false" tIns="0" lIns="0" bIns="0" rIns="0">
            <a:spAutoFit/>
          </a:bodyPr>
          <a:lstStyle/>
          <a:p>
            <a:pPr algn="l">
              <a:lnSpc>
                <a:spcPts val="3510"/>
              </a:lnSpc>
            </a:pPr>
            <a:r>
              <a:rPr lang="en-US" sz="2925" b="true">
                <a:solidFill>
                  <a:srgbClr val="6650D7"/>
                </a:solidFill>
                <a:latin typeface="Arial Bold"/>
                <a:ea typeface="Arial Bold"/>
                <a:cs typeface="Arial Bold"/>
                <a:sym typeface="Arial Bold"/>
              </a:rPr>
              <a:t>Implemented in local backend</a:t>
            </a:r>
          </a:p>
        </p:txBody>
      </p:sp>
      <p:sp>
        <p:nvSpPr>
          <p:cNvPr name="TextBox 10" id="10"/>
          <p:cNvSpPr txBox="true"/>
          <p:nvPr/>
        </p:nvSpPr>
        <p:spPr>
          <a:xfrm rot="0">
            <a:off x="6349365" y="4727258"/>
            <a:ext cx="10918507" cy="1142048"/>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Deterministic decisions, fresh settlement checks, idempotency,</a:t>
            </a:r>
          </a:p>
          <a:p>
            <a:pPr algn="l">
              <a:lnSpc>
                <a:spcPts val="3375"/>
              </a:lnSpc>
            </a:pPr>
            <a:r>
              <a:rPr lang="en-US" sz="2812">
                <a:solidFill>
                  <a:srgbClr val="17151F"/>
                </a:solidFill>
                <a:latin typeface="Arial"/>
                <a:ea typeface="Arial"/>
                <a:cs typeface="Arial"/>
                <a:sym typeface="Arial"/>
              </a:rPr>
              <a:t>transactional quota, stock, balance and journal updates.</a:t>
            </a:r>
          </a:p>
        </p:txBody>
      </p:sp>
      <p:sp>
        <p:nvSpPr>
          <p:cNvPr name="AutoShape 11" id="11"/>
          <p:cNvSpPr/>
          <p:nvPr/>
        </p:nvSpPr>
        <p:spPr>
          <a:xfrm rot="3900">
            <a:off x="905104" y="5967412"/>
            <a:ext cx="16449208" cy="0"/>
          </a:xfrm>
          <a:prstGeom prst="line">
            <a:avLst/>
          </a:prstGeom>
          <a:ln cap="rnd" w="9525">
            <a:solidFill>
              <a:srgbClr val="DDD9E9"/>
            </a:solidFill>
            <a:prstDash val="solid"/>
            <a:headEnd type="none" len="sm" w="sm"/>
            <a:tailEnd type="none" len="sm" w="sm"/>
          </a:ln>
        </p:spPr>
      </p:sp>
      <p:sp>
        <p:nvSpPr>
          <p:cNvPr name="TextBox 12" id="12"/>
          <p:cNvSpPr txBox="true"/>
          <p:nvPr/>
        </p:nvSpPr>
        <p:spPr>
          <a:xfrm rot="0">
            <a:off x="1005840" y="6213158"/>
            <a:ext cx="4774882" cy="870585"/>
          </a:xfrm>
          <a:prstGeom prst="rect">
            <a:avLst/>
          </a:prstGeom>
        </p:spPr>
        <p:txBody>
          <a:bodyPr anchor="t" rtlCol="false" tIns="0" lIns="0" bIns="0" rIns="0">
            <a:spAutoFit/>
          </a:bodyPr>
          <a:lstStyle/>
          <a:p>
            <a:pPr algn="l">
              <a:lnSpc>
                <a:spcPts val="3510"/>
              </a:lnSpc>
            </a:pPr>
            <a:r>
              <a:rPr lang="en-US" sz="2925" b="true">
                <a:solidFill>
                  <a:srgbClr val="6650D7"/>
                </a:solidFill>
                <a:latin typeface="Arial Bold"/>
                <a:ea typeface="Arial Bold"/>
                <a:cs typeface="Arial Bold"/>
                <a:sym typeface="Arial Bold"/>
              </a:rPr>
              <a:t>Simulated or not yet verified</a:t>
            </a:r>
          </a:p>
        </p:txBody>
      </p:sp>
      <p:sp>
        <p:nvSpPr>
          <p:cNvPr name="TextBox 13" id="13"/>
          <p:cNvSpPr txBox="true"/>
          <p:nvPr/>
        </p:nvSpPr>
        <p:spPr>
          <a:xfrm rot="0">
            <a:off x="6349365" y="6213158"/>
            <a:ext cx="10918507" cy="1142048"/>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Payment rails, merchant catalogue, passkey / PIN and SMS.</a:t>
            </a:r>
          </a:p>
          <a:p>
            <a:pPr algn="l">
              <a:lnSpc>
                <a:spcPts val="3375"/>
              </a:lnSpc>
            </a:pPr>
            <a:r>
              <a:rPr lang="en-US" sz="2812">
                <a:solidFill>
                  <a:srgbClr val="17151F"/>
                </a:solidFill>
                <a:latin typeface="Arial"/>
                <a:ea typeface="Arial"/>
                <a:cs typeface="Arial"/>
                <a:sym typeface="Arial"/>
              </a:rPr>
              <a:t>Address-delay enforcement requires server-side hardening.</a:t>
            </a:r>
          </a:p>
        </p:txBody>
      </p:sp>
      <p:sp>
        <p:nvSpPr>
          <p:cNvPr name="AutoShape 14" id="14"/>
          <p:cNvSpPr/>
          <p:nvPr/>
        </p:nvSpPr>
        <p:spPr>
          <a:xfrm rot="3900">
            <a:off x="905104" y="7453312"/>
            <a:ext cx="16449208" cy="0"/>
          </a:xfrm>
          <a:prstGeom prst="line">
            <a:avLst/>
          </a:prstGeom>
          <a:ln cap="rnd" w="9525">
            <a:solidFill>
              <a:srgbClr val="DDD9E9"/>
            </a:solidFill>
            <a:prstDash val="solid"/>
            <a:headEnd type="none" len="sm" w="sm"/>
            <a:tailEnd type="none" len="sm" w="sm"/>
          </a:ln>
        </p:spPr>
      </p:sp>
      <p:sp>
        <p:nvSpPr>
          <p:cNvPr name="TextBox 15" id="15"/>
          <p:cNvSpPr txBox="true"/>
          <p:nvPr/>
        </p:nvSpPr>
        <p:spPr>
          <a:xfrm rot="0">
            <a:off x="1005840" y="7699057"/>
            <a:ext cx="4774882" cy="870585"/>
          </a:xfrm>
          <a:prstGeom prst="rect">
            <a:avLst/>
          </a:prstGeom>
        </p:spPr>
        <p:txBody>
          <a:bodyPr anchor="t" rtlCol="false" tIns="0" lIns="0" bIns="0" rIns="0">
            <a:spAutoFit/>
          </a:bodyPr>
          <a:lstStyle/>
          <a:p>
            <a:pPr algn="l">
              <a:lnSpc>
                <a:spcPts val="3510"/>
              </a:lnSpc>
            </a:pPr>
            <a:r>
              <a:rPr lang="en-US" sz="2925" b="true">
                <a:solidFill>
                  <a:srgbClr val="6650D7"/>
                </a:solidFill>
                <a:latin typeface="Arial Bold"/>
                <a:ea typeface="Arial Bold"/>
                <a:cs typeface="Arial Bold"/>
                <a:sym typeface="Arial Bold"/>
              </a:rPr>
              <a:t>Evidence still to collect</a:t>
            </a:r>
          </a:p>
        </p:txBody>
      </p:sp>
      <p:sp>
        <p:nvSpPr>
          <p:cNvPr name="TextBox 16" id="16"/>
          <p:cNvSpPr txBox="true"/>
          <p:nvPr/>
        </p:nvSpPr>
        <p:spPr>
          <a:xfrm rot="0">
            <a:off x="6349365" y="7699057"/>
            <a:ext cx="10918507" cy="1142048"/>
          </a:xfrm>
          <a:prstGeom prst="rect">
            <a:avLst/>
          </a:prstGeom>
        </p:spPr>
        <p:txBody>
          <a:bodyPr anchor="t" rtlCol="false" tIns="0" lIns="0" bIns="0" rIns="0">
            <a:spAutoFit/>
          </a:bodyPr>
          <a:lstStyle/>
          <a:p>
            <a:pPr algn="l">
              <a:lnSpc>
                <a:spcPts val="3375"/>
              </a:lnSpc>
            </a:pPr>
            <a:r>
              <a:rPr lang="en-US" sz="2812">
                <a:solidFill>
                  <a:srgbClr val="17151F"/>
                </a:solidFill>
                <a:latin typeface="Arial"/>
                <a:ea typeface="Arial"/>
                <a:cs typeface="Arial"/>
                <a:sym typeface="Arial"/>
              </a:rPr>
              <a:t>End-to-end security and concurrency results for the deployed build.</a:t>
            </a:r>
          </a:p>
          <a:p>
            <a:pPr algn="l">
              <a:lnSpc>
                <a:spcPts val="3375"/>
              </a:lnSpc>
            </a:pPr>
            <a:r>
              <a:rPr lang="en-US" sz="2812">
                <a:solidFill>
                  <a:srgbClr val="17151F"/>
                </a:solidFill>
                <a:latin typeface="Arial"/>
                <a:ea typeface="Arial"/>
                <a:cs typeface="Arial"/>
                <a:sym typeface="Arial"/>
              </a:rPr>
              <a:t>Timed user study, repeat usage and willingness to pay.</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Appendix: a demonstration for each dimension</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Each route gives a concrete answer to a judging question.</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14</a:t>
            </a:r>
          </a:p>
        </p:txBody>
      </p:sp>
      <p:sp>
        <p:nvSpPr>
          <p:cNvPr name="TextBox 6" id="6"/>
          <p:cNvSpPr txBox="true"/>
          <p:nvPr/>
        </p:nvSpPr>
        <p:spPr>
          <a:xfrm rot="0">
            <a:off x="1005840" y="3227070"/>
            <a:ext cx="3031808" cy="656272"/>
          </a:xfrm>
          <a:prstGeom prst="rect">
            <a:avLst/>
          </a:prstGeom>
        </p:spPr>
        <p:txBody>
          <a:bodyPr anchor="t" rtlCol="false" tIns="0" lIns="0" bIns="0" rIns="0">
            <a:spAutoFit/>
          </a:bodyPr>
          <a:lstStyle/>
          <a:p>
            <a:pPr algn="l">
              <a:lnSpc>
                <a:spcPts val="3779"/>
              </a:lnSpc>
            </a:pPr>
            <a:r>
              <a:rPr lang="en-US" sz="3150" b="true">
                <a:solidFill>
                  <a:srgbClr val="6650D7"/>
                </a:solidFill>
                <a:latin typeface="Arial Bold"/>
                <a:ea typeface="Arial Bold"/>
                <a:cs typeface="Arial Bold"/>
                <a:sym typeface="Arial Bold"/>
              </a:rPr>
              <a:t>Trust</a:t>
            </a:r>
          </a:p>
        </p:txBody>
      </p:sp>
      <p:sp>
        <p:nvSpPr>
          <p:cNvPr name="TextBox 7" id="7"/>
          <p:cNvSpPr txBox="true"/>
          <p:nvPr/>
        </p:nvSpPr>
        <p:spPr>
          <a:xfrm rot="0">
            <a:off x="4391978" y="3227070"/>
            <a:ext cx="12747307" cy="599122"/>
          </a:xfrm>
          <a:prstGeom prst="rect">
            <a:avLst/>
          </a:prstGeom>
        </p:spPr>
        <p:txBody>
          <a:bodyPr anchor="t" rtlCol="false" tIns="0" lIns="0" bIns="0" rIns="0">
            <a:spAutoFit/>
          </a:bodyPr>
          <a:lstStyle/>
          <a:p>
            <a:pPr algn="l">
              <a:lnSpc>
                <a:spcPts val="3779"/>
              </a:lnSpc>
            </a:pPr>
            <a:r>
              <a:rPr lang="en-US" sz="3150" b="true">
                <a:solidFill>
                  <a:srgbClr val="17151F"/>
                </a:solidFill>
                <a:latin typeface="Arial Bold"/>
                <a:ea typeface="Arial Bold"/>
                <a:cs typeface="Arial Bold"/>
                <a:sym typeface="Arial Bold"/>
              </a:rPr>
              <a:t>What stops an over-budget order?</a:t>
            </a:r>
          </a:p>
        </p:txBody>
      </p:sp>
      <p:sp>
        <p:nvSpPr>
          <p:cNvPr name="TextBox 8" id="8"/>
          <p:cNvSpPr txBox="true"/>
          <p:nvPr/>
        </p:nvSpPr>
        <p:spPr>
          <a:xfrm rot="0">
            <a:off x="4420553" y="3855720"/>
            <a:ext cx="12690157" cy="556260"/>
          </a:xfrm>
          <a:prstGeom prst="rect">
            <a:avLst/>
          </a:prstGeom>
        </p:spPr>
        <p:txBody>
          <a:bodyPr anchor="t" rtlCol="false" tIns="0" lIns="0" bIns="0" rIns="0">
            <a:spAutoFit/>
          </a:bodyPr>
          <a:lstStyle/>
          <a:p>
            <a:pPr algn="l">
              <a:lnSpc>
                <a:spcPts val="3104"/>
              </a:lnSpc>
            </a:pPr>
            <a:r>
              <a:rPr lang="en-US" sz="2587">
                <a:solidFill>
                  <a:srgbClr val="696575"/>
                </a:solidFill>
                <a:latin typeface="Arial"/>
                <a:ea typeface="Arial"/>
                <a:cs typeface="Arial"/>
                <a:sym typeface="Arial"/>
              </a:rPr>
              <a:t>/task/s3  and  /mandate/md_daily</a:t>
            </a:r>
          </a:p>
        </p:txBody>
      </p:sp>
      <p:sp>
        <p:nvSpPr>
          <p:cNvPr name="AutoShape 9" id="9"/>
          <p:cNvSpPr/>
          <p:nvPr/>
        </p:nvSpPr>
        <p:spPr>
          <a:xfrm rot="3900">
            <a:off x="905104" y="4424362"/>
            <a:ext cx="16449208" cy="0"/>
          </a:xfrm>
          <a:prstGeom prst="line">
            <a:avLst/>
          </a:prstGeom>
          <a:ln cap="rnd" w="9525">
            <a:solidFill>
              <a:srgbClr val="DDD9E9"/>
            </a:solidFill>
            <a:prstDash val="solid"/>
            <a:headEnd type="none" len="sm" w="sm"/>
            <a:tailEnd type="none" len="sm" w="sm"/>
          </a:ln>
        </p:spPr>
      </p:sp>
      <p:sp>
        <p:nvSpPr>
          <p:cNvPr name="TextBox 10" id="10"/>
          <p:cNvSpPr txBox="true"/>
          <p:nvPr/>
        </p:nvSpPr>
        <p:spPr>
          <a:xfrm rot="0">
            <a:off x="1005840" y="4627245"/>
            <a:ext cx="3031808" cy="656272"/>
          </a:xfrm>
          <a:prstGeom prst="rect">
            <a:avLst/>
          </a:prstGeom>
        </p:spPr>
        <p:txBody>
          <a:bodyPr anchor="t" rtlCol="false" tIns="0" lIns="0" bIns="0" rIns="0">
            <a:spAutoFit/>
          </a:bodyPr>
          <a:lstStyle/>
          <a:p>
            <a:pPr algn="l">
              <a:lnSpc>
                <a:spcPts val="3779"/>
              </a:lnSpc>
            </a:pPr>
            <a:r>
              <a:rPr lang="en-US" sz="3150" b="true">
                <a:solidFill>
                  <a:srgbClr val="6650D7"/>
                </a:solidFill>
                <a:latin typeface="Arial Bold"/>
                <a:ea typeface="Arial Bold"/>
                <a:cs typeface="Arial Bold"/>
                <a:sym typeface="Arial Bold"/>
              </a:rPr>
              <a:t>E-commerce</a:t>
            </a:r>
          </a:p>
        </p:txBody>
      </p:sp>
      <p:sp>
        <p:nvSpPr>
          <p:cNvPr name="TextBox 11" id="11"/>
          <p:cNvSpPr txBox="true"/>
          <p:nvPr/>
        </p:nvSpPr>
        <p:spPr>
          <a:xfrm rot="0">
            <a:off x="4391978" y="4627245"/>
            <a:ext cx="12747307" cy="599122"/>
          </a:xfrm>
          <a:prstGeom prst="rect">
            <a:avLst/>
          </a:prstGeom>
        </p:spPr>
        <p:txBody>
          <a:bodyPr anchor="t" rtlCol="false" tIns="0" lIns="0" bIns="0" rIns="0">
            <a:spAutoFit/>
          </a:bodyPr>
          <a:lstStyle/>
          <a:p>
            <a:pPr algn="l">
              <a:lnSpc>
                <a:spcPts val="3779"/>
              </a:lnSpc>
            </a:pPr>
            <a:r>
              <a:rPr lang="en-US" sz="3150" b="true">
                <a:solidFill>
                  <a:srgbClr val="17151F"/>
                </a:solidFill>
                <a:latin typeface="Arial Bold"/>
                <a:ea typeface="Arial Bold"/>
                <a:cs typeface="Arial Bold"/>
                <a:sym typeface="Arial Bold"/>
              </a:rPr>
              <a:t>Can I keep personal choice?</a:t>
            </a:r>
          </a:p>
        </p:txBody>
      </p:sp>
      <p:sp>
        <p:nvSpPr>
          <p:cNvPr name="TextBox 12" id="12"/>
          <p:cNvSpPr txBox="true"/>
          <p:nvPr/>
        </p:nvSpPr>
        <p:spPr>
          <a:xfrm rot="0">
            <a:off x="4420553" y="5255895"/>
            <a:ext cx="12690157" cy="556260"/>
          </a:xfrm>
          <a:prstGeom prst="rect">
            <a:avLst/>
          </a:prstGeom>
        </p:spPr>
        <p:txBody>
          <a:bodyPr anchor="t" rtlCol="false" tIns="0" lIns="0" bIns="0" rIns="0">
            <a:spAutoFit/>
          </a:bodyPr>
          <a:lstStyle/>
          <a:p>
            <a:pPr algn="l">
              <a:lnSpc>
                <a:spcPts val="3104"/>
              </a:lnSpc>
            </a:pPr>
            <a:r>
              <a:rPr lang="en-US" sz="2587">
                <a:solidFill>
                  <a:srgbClr val="696575"/>
                </a:solidFill>
                <a:latin typeface="Arial"/>
                <a:ea typeface="Arial"/>
                <a:cs typeface="Arial"/>
                <a:sym typeface="Arial"/>
              </a:rPr>
              <a:t>/task/c1</a:t>
            </a:r>
          </a:p>
        </p:txBody>
      </p:sp>
      <p:sp>
        <p:nvSpPr>
          <p:cNvPr name="AutoShape 13" id="13"/>
          <p:cNvSpPr/>
          <p:nvPr/>
        </p:nvSpPr>
        <p:spPr>
          <a:xfrm rot="3900">
            <a:off x="905104" y="5824538"/>
            <a:ext cx="16449208" cy="0"/>
          </a:xfrm>
          <a:prstGeom prst="line">
            <a:avLst/>
          </a:prstGeom>
          <a:ln cap="rnd" w="9525">
            <a:solidFill>
              <a:srgbClr val="DDD9E9"/>
            </a:solidFill>
            <a:prstDash val="solid"/>
            <a:headEnd type="none" len="sm" w="sm"/>
            <a:tailEnd type="none" len="sm" w="sm"/>
          </a:ln>
        </p:spPr>
      </p:sp>
      <p:sp>
        <p:nvSpPr>
          <p:cNvPr name="TextBox 14" id="14"/>
          <p:cNvSpPr txBox="true"/>
          <p:nvPr/>
        </p:nvSpPr>
        <p:spPr>
          <a:xfrm rot="0">
            <a:off x="1005840" y="6027420"/>
            <a:ext cx="3031808" cy="656272"/>
          </a:xfrm>
          <a:prstGeom prst="rect">
            <a:avLst/>
          </a:prstGeom>
        </p:spPr>
        <p:txBody>
          <a:bodyPr anchor="t" rtlCol="false" tIns="0" lIns="0" bIns="0" rIns="0">
            <a:spAutoFit/>
          </a:bodyPr>
          <a:lstStyle/>
          <a:p>
            <a:pPr algn="l">
              <a:lnSpc>
                <a:spcPts val="3779"/>
              </a:lnSpc>
            </a:pPr>
            <a:r>
              <a:rPr lang="en-US" sz="3150" b="true">
                <a:solidFill>
                  <a:srgbClr val="6650D7"/>
                </a:solidFill>
                <a:latin typeface="Arial Bold"/>
                <a:ea typeface="Arial Bold"/>
                <a:cs typeface="Arial Bold"/>
                <a:sym typeface="Arial Bold"/>
              </a:rPr>
              <a:t>Agent</a:t>
            </a:r>
          </a:p>
        </p:txBody>
      </p:sp>
      <p:sp>
        <p:nvSpPr>
          <p:cNvPr name="TextBox 15" id="15"/>
          <p:cNvSpPr txBox="true"/>
          <p:nvPr/>
        </p:nvSpPr>
        <p:spPr>
          <a:xfrm rot="0">
            <a:off x="4391978" y="6027420"/>
            <a:ext cx="12747307" cy="599122"/>
          </a:xfrm>
          <a:prstGeom prst="rect">
            <a:avLst/>
          </a:prstGeom>
        </p:spPr>
        <p:txBody>
          <a:bodyPr anchor="t" rtlCol="false" tIns="0" lIns="0" bIns="0" rIns="0">
            <a:spAutoFit/>
          </a:bodyPr>
          <a:lstStyle/>
          <a:p>
            <a:pPr algn="l">
              <a:lnSpc>
                <a:spcPts val="3779"/>
              </a:lnSpc>
            </a:pPr>
            <a:r>
              <a:rPr lang="en-US" sz="3150" b="true">
                <a:solidFill>
                  <a:srgbClr val="17151F"/>
                </a:solidFill>
                <a:latin typeface="Arial Bold"/>
                <a:ea typeface="Arial Bold"/>
                <a:cs typeface="Arial Bold"/>
                <a:sym typeface="Arial Bold"/>
              </a:rPr>
              <a:t>What happens after “arrives today”?</a:t>
            </a:r>
          </a:p>
        </p:txBody>
      </p:sp>
      <p:sp>
        <p:nvSpPr>
          <p:cNvPr name="TextBox 16" id="16"/>
          <p:cNvSpPr txBox="true"/>
          <p:nvPr/>
        </p:nvSpPr>
        <p:spPr>
          <a:xfrm rot="0">
            <a:off x="4420553" y="6656070"/>
            <a:ext cx="12690157" cy="556260"/>
          </a:xfrm>
          <a:prstGeom prst="rect">
            <a:avLst/>
          </a:prstGeom>
        </p:spPr>
        <p:txBody>
          <a:bodyPr anchor="t" rtlCol="false" tIns="0" lIns="0" bIns="0" rIns="0">
            <a:spAutoFit/>
          </a:bodyPr>
          <a:lstStyle/>
          <a:p>
            <a:pPr algn="l">
              <a:lnSpc>
                <a:spcPts val="3104"/>
              </a:lnSpc>
            </a:pPr>
            <a:r>
              <a:rPr lang="en-US" sz="2587">
                <a:solidFill>
                  <a:srgbClr val="696575"/>
                </a:solidFill>
                <a:latin typeface="Arial"/>
                <a:ea typeface="Arial"/>
                <a:cs typeface="Arial"/>
                <a:sym typeface="Arial"/>
              </a:rPr>
              <a:t>New dish-soap draft, then a follow-up</a:t>
            </a:r>
          </a:p>
        </p:txBody>
      </p:sp>
      <p:sp>
        <p:nvSpPr>
          <p:cNvPr name="AutoShape 17" id="17"/>
          <p:cNvSpPr/>
          <p:nvPr/>
        </p:nvSpPr>
        <p:spPr>
          <a:xfrm rot="3900">
            <a:off x="905104" y="7224712"/>
            <a:ext cx="16449208" cy="0"/>
          </a:xfrm>
          <a:prstGeom prst="line">
            <a:avLst/>
          </a:prstGeom>
          <a:ln cap="rnd" w="9525">
            <a:solidFill>
              <a:srgbClr val="DDD9E9"/>
            </a:solidFill>
            <a:prstDash val="solid"/>
            <a:headEnd type="none" len="sm" w="sm"/>
            <a:tailEnd type="none" len="sm" w="sm"/>
          </a:ln>
        </p:spPr>
      </p:sp>
      <p:sp>
        <p:nvSpPr>
          <p:cNvPr name="TextBox 18" id="18"/>
          <p:cNvSpPr txBox="true"/>
          <p:nvPr/>
        </p:nvSpPr>
        <p:spPr>
          <a:xfrm rot="0">
            <a:off x="1005840" y="7427595"/>
            <a:ext cx="3031808" cy="656272"/>
          </a:xfrm>
          <a:prstGeom prst="rect">
            <a:avLst/>
          </a:prstGeom>
        </p:spPr>
        <p:txBody>
          <a:bodyPr anchor="t" rtlCol="false" tIns="0" lIns="0" bIns="0" rIns="0">
            <a:spAutoFit/>
          </a:bodyPr>
          <a:lstStyle/>
          <a:p>
            <a:pPr algn="l">
              <a:lnSpc>
                <a:spcPts val="3779"/>
              </a:lnSpc>
            </a:pPr>
            <a:r>
              <a:rPr lang="en-US" sz="3150" b="true">
                <a:solidFill>
                  <a:srgbClr val="6650D7"/>
                </a:solidFill>
                <a:latin typeface="Arial Bold"/>
                <a:ea typeface="Arial Bold"/>
                <a:cs typeface="Arial Bold"/>
                <a:sym typeface="Arial Bold"/>
              </a:rPr>
              <a:t>Payment</a:t>
            </a:r>
          </a:p>
        </p:txBody>
      </p:sp>
      <p:sp>
        <p:nvSpPr>
          <p:cNvPr name="TextBox 19" id="19"/>
          <p:cNvSpPr txBox="true"/>
          <p:nvPr/>
        </p:nvSpPr>
        <p:spPr>
          <a:xfrm rot="0">
            <a:off x="4391978" y="7427595"/>
            <a:ext cx="12747307" cy="599122"/>
          </a:xfrm>
          <a:prstGeom prst="rect">
            <a:avLst/>
          </a:prstGeom>
        </p:spPr>
        <p:txBody>
          <a:bodyPr anchor="t" rtlCol="false" tIns="0" lIns="0" bIns="0" rIns="0">
            <a:spAutoFit/>
          </a:bodyPr>
          <a:lstStyle/>
          <a:p>
            <a:pPr algn="l">
              <a:lnSpc>
                <a:spcPts val="3779"/>
              </a:lnSpc>
            </a:pPr>
            <a:r>
              <a:rPr lang="en-US" sz="3150" b="true">
                <a:solidFill>
                  <a:srgbClr val="17151F"/>
                </a:solidFill>
                <a:latin typeface="Arial Bold"/>
                <a:ea typeface="Arial Bold"/>
                <a:cs typeface="Arial Bold"/>
                <a:sym typeface="Arial Bold"/>
              </a:rPr>
              <a:t>Why this rail, and what did it charge?</a:t>
            </a:r>
          </a:p>
        </p:txBody>
      </p:sp>
      <p:sp>
        <p:nvSpPr>
          <p:cNvPr name="TextBox 20" id="20"/>
          <p:cNvSpPr txBox="true"/>
          <p:nvPr/>
        </p:nvSpPr>
        <p:spPr>
          <a:xfrm rot="0">
            <a:off x="4420553" y="8056245"/>
            <a:ext cx="12690157" cy="556260"/>
          </a:xfrm>
          <a:prstGeom prst="rect">
            <a:avLst/>
          </a:prstGeom>
        </p:spPr>
        <p:txBody>
          <a:bodyPr anchor="t" rtlCol="false" tIns="0" lIns="0" bIns="0" rIns="0">
            <a:spAutoFit/>
          </a:bodyPr>
          <a:lstStyle/>
          <a:p>
            <a:pPr algn="l">
              <a:lnSpc>
                <a:spcPts val="3104"/>
              </a:lnSpc>
            </a:pPr>
            <a:r>
              <a:rPr lang="en-US" sz="2587">
                <a:solidFill>
                  <a:srgbClr val="696575"/>
                </a:solidFill>
                <a:latin typeface="Arial"/>
                <a:ea typeface="Arial"/>
                <a:cs typeface="Arial"/>
                <a:sym typeface="Arial"/>
              </a:rPr>
              <a:t>/pay-methods  and  the latest paid task</a:t>
            </a:r>
          </a:p>
        </p:txBody>
      </p:sp>
      <p:sp>
        <p:nvSpPr>
          <p:cNvPr name="TextBox 21" id="21"/>
          <p:cNvSpPr txBox="true"/>
          <p:nvPr/>
        </p:nvSpPr>
        <p:spPr>
          <a:xfrm rot="0">
            <a:off x="1005840" y="9013507"/>
            <a:ext cx="16276320" cy="441960"/>
          </a:xfrm>
          <a:prstGeom prst="rect">
            <a:avLst/>
          </a:prstGeom>
        </p:spPr>
        <p:txBody>
          <a:bodyPr anchor="t" rtlCol="false" tIns="0" lIns="0" bIns="0" rIns="0">
            <a:spAutoFit/>
          </a:bodyPr>
          <a:lstStyle/>
          <a:p>
            <a:pPr algn="l">
              <a:lnSpc>
                <a:spcPts val="3240"/>
              </a:lnSpc>
            </a:pPr>
            <a:r>
              <a:rPr lang="en-US" sz="2700" b="true">
                <a:solidFill>
                  <a:srgbClr val="6650D7"/>
                </a:solidFill>
                <a:latin typeface="Arial Bold"/>
                <a:ea typeface="Arial Bold"/>
                <a:cs typeface="Arial Bold"/>
                <a:sym typeface="Arial Bold"/>
              </a:rPr>
              <a:t>Security detail: /me/security and /me/address</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48690" y="655320"/>
            <a:ext cx="16390620" cy="813435"/>
          </a:xfrm>
          <a:prstGeom prst="rect">
            <a:avLst/>
          </a:prstGeom>
        </p:spPr>
        <p:txBody>
          <a:bodyPr anchor="t" rtlCol="false" tIns="0" lIns="0" bIns="0" rIns="0">
            <a:spAutoFit/>
          </a:bodyPr>
          <a:lstStyle/>
          <a:p>
            <a:pPr algn="l">
              <a:lnSpc>
                <a:spcPts val="5670"/>
              </a:lnSpc>
            </a:pPr>
            <a:r>
              <a:rPr lang="en-US" sz="4725" b="true">
                <a:solidFill>
                  <a:srgbClr val="17151F"/>
                </a:solidFill>
                <a:latin typeface="Arial Bold"/>
                <a:ea typeface="Arial Bold"/>
                <a:cs typeface="Arial Bold"/>
                <a:sym typeface="Arial Bold"/>
              </a:rPr>
              <a:t>Appendix: sources and evidence</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Product evidence checked on 4 October 2026. Full URLs and scope notes appear in PowerPoint speaker notes.</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15</a:t>
            </a:r>
          </a:p>
        </p:txBody>
      </p:sp>
      <p:sp>
        <p:nvSpPr>
          <p:cNvPr name="TextBox 6" id="6"/>
          <p:cNvSpPr txBox="true"/>
          <p:nvPr/>
        </p:nvSpPr>
        <p:spPr>
          <a:xfrm rot="0">
            <a:off x="1005840" y="3127058"/>
            <a:ext cx="3917633" cy="756285"/>
          </a:xfrm>
          <a:prstGeom prst="rect">
            <a:avLst/>
          </a:prstGeom>
        </p:spPr>
        <p:txBody>
          <a:bodyPr anchor="t" rtlCol="false" tIns="0" lIns="0" bIns="0" rIns="0">
            <a:spAutoFit/>
          </a:bodyPr>
          <a:lstStyle/>
          <a:p>
            <a:pPr algn="l">
              <a:lnSpc>
                <a:spcPts val="3510"/>
              </a:lnSpc>
            </a:pPr>
            <a:r>
              <a:rPr lang="en-US" sz="2925" b="true">
                <a:solidFill>
                  <a:srgbClr val="6650D7"/>
                </a:solidFill>
                <a:latin typeface="Arial Bold"/>
                <a:ea typeface="Arial Bold"/>
                <a:cs typeface="Arial Bold"/>
                <a:sym typeface="Arial Bold"/>
              </a:rPr>
              <a:t>Live product</a:t>
            </a:r>
          </a:p>
        </p:txBody>
      </p:sp>
      <p:sp>
        <p:nvSpPr>
          <p:cNvPr name="TextBox 7" id="7"/>
          <p:cNvSpPr txBox="true"/>
          <p:nvPr/>
        </p:nvSpPr>
        <p:spPr>
          <a:xfrm rot="0">
            <a:off x="5420678" y="3127058"/>
            <a:ext cx="11832907" cy="627698"/>
          </a:xfrm>
          <a:prstGeom prst="rect">
            <a:avLst/>
          </a:prstGeom>
        </p:spPr>
        <p:txBody>
          <a:bodyPr anchor="t" rtlCol="false" tIns="0" lIns="0" bIns="0" rIns="0">
            <a:spAutoFit/>
          </a:bodyPr>
          <a:lstStyle/>
          <a:p>
            <a:pPr algn="l">
              <a:lnSpc>
                <a:spcPts val="3104"/>
              </a:lnSpc>
            </a:pPr>
            <a:r>
              <a:rPr lang="en-US" sz="2587" b="true">
                <a:solidFill>
                  <a:srgbClr val="17151F"/>
                </a:solidFill>
                <a:latin typeface="Arial Bold"/>
                <a:ea typeface="Arial Bold"/>
                <a:cs typeface="Arial Bold"/>
                <a:sym typeface="Arial Bold"/>
              </a:rPr>
              <a:t>mandate-wallet-ui.vercel.app</a:t>
            </a:r>
          </a:p>
        </p:txBody>
      </p:sp>
      <p:sp>
        <p:nvSpPr>
          <p:cNvPr name="TextBox 8" id="8"/>
          <p:cNvSpPr txBox="true"/>
          <p:nvPr/>
        </p:nvSpPr>
        <p:spPr>
          <a:xfrm rot="0">
            <a:off x="5449253" y="3798570"/>
            <a:ext cx="11804332" cy="727710"/>
          </a:xfrm>
          <a:prstGeom prst="rect">
            <a:avLst/>
          </a:prstGeom>
        </p:spPr>
        <p:txBody>
          <a:bodyPr anchor="t" rtlCol="false" tIns="0" lIns="0" bIns="0" rIns="0">
            <a:spAutoFit/>
          </a:bodyPr>
          <a:lstStyle/>
          <a:p>
            <a:pPr algn="l">
              <a:lnSpc>
                <a:spcPts val="3104"/>
              </a:lnSpc>
            </a:pPr>
            <a:r>
              <a:rPr lang="en-US" sz="2587">
                <a:solidFill>
                  <a:srgbClr val="696575"/>
                </a:solidFill>
                <a:latin typeface="Arial"/>
                <a:ea typeface="Arial"/>
                <a:cs typeface="Arial"/>
                <a:sym typeface="Arial"/>
              </a:rPr>
              <a:t>Current UI, fresh screenshots and the latest observed order</a:t>
            </a:r>
          </a:p>
        </p:txBody>
      </p:sp>
      <p:sp>
        <p:nvSpPr>
          <p:cNvPr name="TextBox 9" id="9"/>
          <p:cNvSpPr txBox="true"/>
          <p:nvPr/>
        </p:nvSpPr>
        <p:spPr>
          <a:xfrm rot="0">
            <a:off x="1005840" y="4655820"/>
            <a:ext cx="3917633" cy="756285"/>
          </a:xfrm>
          <a:prstGeom prst="rect">
            <a:avLst/>
          </a:prstGeom>
        </p:spPr>
        <p:txBody>
          <a:bodyPr anchor="t" rtlCol="false" tIns="0" lIns="0" bIns="0" rIns="0">
            <a:spAutoFit/>
          </a:bodyPr>
          <a:lstStyle/>
          <a:p>
            <a:pPr algn="l">
              <a:lnSpc>
                <a:spcPts val="3510"/>
              </a:lnSpc>
            </a:pPr>
            <a:r>
              <a:rPr lang="en-US" sz="2925" b="true">
                <a:solidFill>
                  <a:srgbClr val="6650D7"/>
                </a:solidFill>
                <a:latin typeface="Arial Bold"/>
                <a:ea typeface="Arial Bold"/>
                <a:cs typeface="Arial Bold"/>
                <a:sym typeface="Arial Bold"/>
              </a:rPr>
              <a:t>Market research</a:t>
            </a:r>
          </a:p>
        </p:txBody>
      </p:sp>
      <p:sp>
        <p:nvSpPr>
          <p:cNvPr name="TextBox 10" id="10"/>
          <p:cNvSpPr txBox="true"/>
          <p:nvPr/>
        </p:nvSpPr>
        <p:spPr>
          <a:xfrm rot="0">
            <a:off x="5420678" y="4655820"/>
            <a:ext cx="11832907" cy="627698"/>
          </a:xfrm>
          <a:prstGeom prst="rect">
            <a:avLst/>
          </a:prstGeom>
        </p:spPr>
        <p:txBody>
          <a:bodyPr anchor="t" rtlCol="false" tIns="0" lIns="0" bIns="0" rIns="0">
            <a:spAutoFit/>
          </a:bodyPr>
          <a:lstStyle/>
          <a:p>
            <a:pPr algn="l">
              <a:lnSpc>
                <a:spcPts val="3104"/>
              </a:lnSpc>
            </a:pPr>
            <a:r>
              <a:rPr lang="en-US" sz="2587" b="true">
                <a:solidFill>
                  <a:srgbClr val="17151F"/>
                </a:solidFill>
                <a:latin typeface="Arial Bold"/>
                <a:ea typeface="Arial Bold"/>
                <a:cs typeface="Arial Bold"/>
                <a:sym typeface="Arial Bold"/>
              </a:rPr>
              <a:t>adyen.com/press-and-media/adyen-index-hk-2026</a:t>
            </a:r>
          </a:p>
        </p:txBody>
      </p:sp>
      <p:sp>
        <p:nvSpPr>
          <p:cNvPr name="TextBox 11" id="11"/>
          <p:cNvSpPr txBox="true"/>
          <p:nvPr/>
        </p:nvSpPr>
        <p:spPr>
          <a:xfrm rot="0">
            <a:off x="5449253" y="5327332"/>
            <a:ext cx="11804332" cy="727710"/>
          </a:xfrm>
          <a:prstGeom prst="rect">
            <a:avLst/>
          </a:prstGeom>
        </p:spPr>
        <p:txBody>
          <a:bodyPr anchor="t" rtlCol="false" tIns="0" lIns="0" bIns="0" rIns="0">
            <a:spAutoFit/>
          </a:bodyPr>
          <a:lstStyle/>
          <a:p>
            <a:pPr algn="l">
              <a:lnSpc>
                <a:spcPts val="3104"/>
              </a:lnSpc>
            </a:pPr>
            <a:r>
              <a:rPr lang="en-US" sz="2587">
                <a:solidFill>
                  <a:srgbClr val="696575"/>
                </a:solidFill>
                <a:latin typeface="Arial"/>
                <a:ea typeface="Arial"/>
                <a:cs typeface="Arial"/>
                <a:sym typeface="Arial"/>
              </a:rPr>
              <a:t>9 July 2026. YouGov survey of 1,026 Hong Kong adults</a:t>
            </a:r>
          </a:p>
        </p:txBody>
      </p:sp>
      <p:sp>
        <p:nvSpPr>
          <p:cNvPr name="TextBox 12" id="12"/>
          <p:cNvSpPr txBox="true"/>
          <p:nvPr/>
        </p:nvSpPr>
        <p:spPr>
          <a:xfrm rot="0">
            <a:off x="1005840" y="6184582"/>
            <a:ext cx="3917633" cy="756285"/>
          </a:xfrm>
          <a:prstGeom prst="rect">
            <a:avLst/>
          </a:prstGeom>
        </p:spPr>
        <p:txBody>
          <a:bodyPr anchor="t" rtlCol="false" tIns="0" lIns="0" bIns="0" rIns="0">
            <a:spAutoFit/>
          </a:bodyPr>
          <a:lstStyle/>
          <a:p>
            <a:pPr algn="l">
              <a:lnSpc>
                <a:spcPts val="3510"/>
              </a:lnSpc>
            </a:pPr>
            <a:r>
              <a:rPr lang="en-US" sz="2925" b="true">
                <a:solidFill>
                  <a:srgbClr val="6650D7"/>
                </a:solidFill>
                <a:latin typeface="Arial Bold"/>
                <a:ea typeface="Arial Bold"/>
                <a:cs typeface="Arial Bold"/>
                <a:sym typeface="Arial Bold"/>
              </a:rPr>
              <a:t>Product and engineering</a:t>
            </a:r>
          </a:p>
        </p:txBody>
      </p:sp>
      <p:sp>
        <p:nvSpPr>
          <p:cNvPr name="TextBox 13" id="13"/>
          <p:cNvSpPr txBox="true"/>
          <p:nvPr/>
        </p:nvSpPr>
        <p:spPr>
          <a:xfrm rot="0">
            <a:off x="5420678" y="6184582"/>
            <a:ext cx="11832907" cy="627698"/>
          </a:xfrm>
          <a:prstGeom prst="rect">
            <a:avLst/>
          </a:prstGeom>
        </p:spPr>
        <p:txBody>
          <a:bodyPr anchor="t" rtlCol="false" tIns="0" lIns="0" bIns="0" rIns="0">
            <a:spAutoFit/>
          </a:bodyPr>
          <a:lstStyle/>
          <a:p>
            <a:pPr algn="l">
              <a:lnSpc>
                <a:spcPts val="3104"/>
              </a:lnSpc>
            </a:pPr>
            <a:r>
              <a:rPr lang="en-US" sz="2587" b="true">
                <a:solidFill>
                  <a:srgbClr val="17151F"/>
                </a:solidFill>
                <a:latin typeface="Arial Bold"/>
                <a:ea typeface="Arial Bold"/>
                <a:cs typeface="Arial Bold"/>
                <a:sym typeface="Arial Bold"/>
              </a:rPr>
              <a:t>docs/MANUAL.md and mandate-wallet-integrate/src/server</a:t>
            </a:r>
          </a:p>
        </p:txBody>
      </p:sp>
      <p:sp>
        <p:nvSpPr>
          <p:cNvPr name="TextBox 14" id="14"/>
          <p:cNvSpPr txBox="true"/>
          <p:nvPr/>
        </p:nvSpPr>
        <p:spPr>
          <a:xfrm rot="0">
            <a:off x="5449253" y="6856095"/>
            <a:ext cx="11804332" cy="727710"/>
          </a:xfrm>
          <a:prstGeom prst="rect">
            <a:avLst/>
          </a:prstGeom>
        </p:spPr>
        <p:txBody>
          <a:bodyPr anchor="t" rtlCol="false" tIns="0" lIns="0" bIns="0" rIns="0">
            <a:spAutoFit/>
          </a:bodyPr>
          <a:lstStyle/>
          <a:p>
            <a:pPr algn="l">
              <a:lnSpc>
                <a:spcPts val="3104"/>
              </a:lnSpc>
            </a:pPr>
            <a:r>
              <a:rPr lang="en-US" sz="2587">
                <a:solidFill>
                  <a:srgbClr val="696575"/>
                </a:solidFill>
                <a:latin typeface="Arial"/>
                <a:ea typeface="Arial"/>
                <a:cs typeface="Arial"/>
                <a:sym typeface="Arial"/>
              </a:rPr>
              <a:t>Four dimensions, rules and transactional settlement design</a:t>
            </a:r>
          </a:p>
        </p:txBody>
      </p:sp>
      <p:sp>
        <p:nvSpPr>
          <p:cNvPr name="TextBox 15" id="15"/>
          <p:cNvSpPr txBox="true"/>
          <p:nvPr/>
        </p:nvSpPr>
        <p:spPr>
          <a:xfrm rot="0">
            <a:off x="1005840" y="7713345"/>
            <a:ext cx="3917633" cy="756285"/>
          </a:xfrm>
          <a:prstGeom prst="rect">
            <a:avLst/>
          </a:prstGeom>
        </p:spPr>
        <p:txBody>
          <a:bodyPr anchor="t" rtlCol="false" tIns="0" lIns="0" bIns="0" rIns="0">
            <a:spAutoFit/>
          </a:bodyPr>
          <a:lstStyle/>
          <a:p>
            <a:pPr algn="l">
              <a:lnSpc>
                <a:spcPts val="3510"/>
              </a:lnSpc>
            </a:pPr>
            <a:r>
              <a:rPr lang="en-US" sz="2925" b="true">
                <a:solidFill>
                  <a:srgbClr val="6650D7"/>
                </a:solidFill>
                <a:latin typeface="Arial Bold"/>
                <a:ea typeface="Arial Bold"/>
                <a:cs typeface="Arial Bold"/>
                <a:sym typeface="Arial Bold"/>
              </a:rPr>
              <a:t>Team and visual reference</a:t>
            </a:r>
          </a:p>
        </p:txBody>
      </p:sp>
      <p:sp>
        <p:nvSpPr>
          <p:cNvPr name="TextBox 16" id="16"/>
          <p:cNvSpPr txBox="true"/>
          <p:nvPr/>
        </p:nvSpPr>
        <p:spPr>
          <a:xfrm rot="0">
            <a:off x="5420678" y="7713345"/>
            <a:ext cx="11832907" cy="627698"/>
          </a:xfrm>
          <a:prstGeom prst="rect">
            <a:avLst/>
          </a:prstGeom>
        </p:spPr>
        <p:txBody>
          <a:bodyPr anchor="t" rtlCol="false" tIns="0" lIns="0" bIns="0" rIns="0">
            <a:spAutoFit/>
          </a:bodyPr>
          <a:lstStyle/>
          <a:p>
            <a:pPr algn="l">
              <a:lnSpc>
                <a:spcPts val="3104"/>
              </a:lnSpc>
            </a:pPr>
            <a:r>
              <a:rPr lang="en-US" sz="2587" b="true">
                <a:solidFill>
                  <a:srgbClr val="17151F"/>
                </a:solidFill>
                <a:latin typeface="Arial Bold"/>
                <a:ea typeface="Arial Bold"/>
                <a:cs typeface="Arial Bold"/>
                <a:sym typeface="Arial Bold"/>
              </a:rPr>
              <a:t>Teammate Canva and the supplied Zev presentation</a:t>
            </a:r>
          </a:p>
        </p:txBody>
      </p:sp>
      <p:sp>
        <p:nvSpPr>
          <p:cNvPr name="TextBox 17" id="17"/>
          <p:cNvSpPr txBox="true"/>
          <p:nvPr/>
        </p:nvSpPr>
        <p:spPr>
          <a:xfrm rot="0">
            <a:off x="5449253" y="8384857"/>
            <a:ext cx="11804332" cy="727710"/>
          </a:xfrm>
          <a:prstGeom prst="rect">
            <a:avLst/>
          </a:prstGeom>
        </p:spPr>
        <p:txBody>
          <a:bodyPr anchor="t" rtlCol="false" tIns="0" lIns="0" bIns="0" rIns="0">
            <a:spAutoFit/>
          </a:bodyPr>
          <a:lstStyle/>
          <a:p>
            <a:pPr algn="l">
              <a:lnSpc>
                <a:spcPts val="3104"/>
              </a:lnSpc>
            </a:pPr>
            <a:r>
              <a:rPr lang="en-US" sz="2587">
                <a:solidFill>
                  <a:srgbClr val="696575"/>
                </a:solidFill>
                <a:latin typeface="Arial"/>
                <a:ea typeface="Arial"/>
                <a:cs typeface="Arial"/>
                <a:sym typeface="Arial"/>
              </a:rPr>
              <a:t>Team attribution and the white / purple visual direction</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48690" y="645795"/>
            <a:ext cx="16390620" cy="865823"/>
          </a:xfrm>
          <a:prstGeom prst="rect">
            <a:avLst/>
          </a:prstGeom>
        </p:spPr>
        <p:txBody>
          <a:bodyPr anchor="t" rtlCol="false" tIns="0" lIns="0" bIns="0" rIns="0">
            <a:spAutoFit/>
          </a:bodyPr>
          <a:lstStyle/>
          <a:p>
            <a:pPr algn="l">
              <a:lnSpc>
                <a:spcPts val="5535"/>
              </a:lnSpc>
            </a:pPr>
            <a:r>
              <a:rPr lang="en-US" sz="4612" b="true">
                <a:solidFill>
                  <a:srgbClr val="17151F"/>
                </a:solidFill>
                <a:latin typeface="Arial Bold"/>
                <a:ea typeface="Arial Bold"/>
                <a:cs typeface="Arial Bold"/>
                <a:sym typeface="Arial Bold"/>
              </a:rPr>
              <a:t>Appendix: existing approaches and Zev’s focus</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Comparison of roles and workflows. Protocols already support commerce and authorization.</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16</a:t>
            </a:r>
          </a:p>
        </p:txBody>
      </p:sp>
      <p:sp>
        <p:nvSpPr>
          <p:cNvPr name="TextBox 6" id="6"/>
          <p:cNvSpPr txBox="true"/>
          <p:nvPr/>
        </p:nvSpPr>
        <p:spPr>
          <a:xfrm rot="0">
            <a:off x="2334578" y="9665970"/>
            <a:ext cx="13961745" cy="432435"/>
          </a:xfrm>
          <a:prstGeom prst="rect">
            <a:avLst/>
          </a:prstGeom>
        </p:spPr>
        <p:txBody>
          <a:bodyPr anchor="t" rtlCol="false" tIns="0" lIns="0" bIns="0" rIns="0">
            <a:spAutoFit/>
          </a:bodyPr>
          <a:lstStyle/>
          <a:p>
            <a:pPr algn="l">
              <a:lnSpc>
                <a:spcPts val="1755"/>
              </a:lnSpc>
            </a:pPr>
            <a:r>
              <a:rPr lang="en-US" sz="1462">
                <a:solidFill>
                  <a:srgbClr val="696575"/>
                </a:solidFill>
                <a:latin typeface="Arial"/>
                <a:ea typeface="Arial"/>
                <a:cs typeface="Arial"/>
                <a:sym typeface="Arial"/>
              </a:rPr>
              <a:t>Sources: OpenAI ACP documentation; Google Cloud AP2 announcement. Checked 4 October 2026.</a:t>
            </a:r>
          </a:p>
        </p:txBody>
      </p:sp>
      <p:graphicFrame>
        <p:nvGraphicFramePr>
          <p:cNvPr name="Table 7" id="7"/>
          <p:cNvGraphicFramePr>
            <a:graphicFrameLocks noGrp="true"/>
          </p:cNvGraphicFramePr>
          <p:nvPr/>
        </p:nvGraphicFramePr>
        <p:xfrm>
          <a:off x="900112" y="2971800"/>
          <a:ext cx="16478250" cy="5257800"/>
        </p:xfrm>
        <a:graphic>
          <a:graphicData uri="http://schemas.openxmlformats.org/drawingml/2006/table">
            <a:tbl>
              <a:tblPr/>
              <a:tblGrid>
                <a:gridCol w="3737923"/>
                <a:gridCol w="6305962"/>
                <a:gridCol w="6434364"/>
              </a:tblGrid>
              <a:tr h="876300">
                <a:tc>
                  <a:txBody>
                    <a:bodyPr anchor="t" rtlCol="false"/>
                    <a:lstStyle/>
                    <a:p>
                      <a:pPr algn="l">
                        <a:lnSpc>
                          <a:spcPts val="2903"/>
                        </a:lnSpc>
                        <a:defRPr/>
                      </a:pPr>
                      <a:r>
                        <a:rPr lang="en-US" sz="2419" b="true">
                          <a:solidFill>
                            <a:srgbClr val="FFFFFF"/>
                          </a:solidFill>
                          <a:latin typeface="Arial Bold"/>
                          <a:ea typeface="Arial Bold"/>
                          <a:cs typeface="Arial Bold"/>
                          <a:sym typeface="Arial Bold"/>
                        </a:rPr>
                        <a:t>Approach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6650D7"/>
                    </a:solidFill>
                  </a:tcPr>
                </a:tc>
                <a:tc>
                  <a:txBody>
                    <a:bodyPr anchor="t" rtlCol="false"/>
                    <a:lstStyle/>
                    <a:p>
                      <a:pPr algn="l">
                        <a:lnSpc>
                          <a:spcPts val="2903"/>
                        </a:lnSpc>
                        <a:defRPr/>
                      </a:pPr>
                      <a:r>
                        <a:rPr lang="en-US" sz="2419" b="true">
                          <a:solidFill>
                            <a:srgbClr val="FFFFFF"/>
                          </a:solidFill>
                          <a:latin typeface="Arial Bold"/>
                          <a:ea typeface="Arial Bold"/>
                          <a:cs typeface="Arial Bold"/>
                          <a:sym typeface="Arial Bold"/>
                        </a:rPr>
                        <a:t>What it provides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6650D7"/>
                    </a:solidFill>
                  </a:tcPr>
                </a:tc>
                <a:tc>
                  <a:txBody>
                    <a:bodyPr anchor="t" rtlCol="false"/>
                    <a:lstStyle/>
                    <a:p>
                      <a:pPr algn="l">
                        <a:lnSpc>
                          <a:spcPts val="2903"/>
                        </a:lnSpc>
                        <a:defRPr/>
                      </a:pPr>
                      <a:r>
                        <a:rPr lang="en-US" sz="2419" b="true">
                          <a:solidFill>
                            <a:srgbClr val="FFFFFF"/>
                          </a:solidFill>
                          <a:latin typeface="Arial Bold"/>
                          <a:ea typeface="Arial Bold"/>
                          <a:cs typeface="Arial Bold"/>
                          <a:sym typeface="Arial Bold"/>
                        </a:rPr>
                        <a:t>Where Zev focuses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6650D7"/>
                    </a:solidFill>
                  </a:tcPr>
                </a:tc>
              </a:tr>
              <a:tr h="876300">
                <a:tc>
                  <a:txBody>
                    <a:bodyPr anchor="t" rtlCol="false"/>
                    <a:lstStyle/>
                    <a:p>
                      <a:pPr algn="l">
                        <a:lnSpc>
                          <a:spcPts val="2903"/>
                        </a:lnSpc>
                        <a:defRPr/>
                      </a:pPr>
                      <a:r>
                        <a:rPr lang="en-US" sz="2419">
                          <a:solidFill>
                            <a:srgbClr val="17151F"/>
                          </a:solidFill>
                          <a:latin typeface="Arial"/>
                          <a:ea typeface="Arial"/>
                          <a:cs typeface="Arial"/>
                          <a:sym typeface="Arial"/>
                        </a:rPr>
                        <a:t>Manual shopping</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c>
                  <a:txBody>
                    <a:bodyPr anchor="t" rtlCol="false"/>
                    <a:lstStyle/>
                    <a:p>
                      <a:pPr algn="l">
                        <a:lnSpc>
                          <a:spcPts val="2903"/>
                        </a:lnSpc>
                        <a:defRPr/>
                      </a:pPr>
                      <a:r>
                        <a:rPr lang="en-US" sz="2419">
                          <a:solidFill>
                            <a:srgbClr val="17151F"/>
                          </a:solidFill>
                          <a:latin typeface="Arial"/>
                          <a:ea typeface="Arial"/>
                          <a:cs typeface="Arial"/>
                          <a:sym typeface="Arial"/>
                        </a:rPr>
                        <a:t>The shopper compares baskets</a:t>
                      </a:r>
                      <a:endParaRPr lang="en-US" sz="1100"/>
                    </a:p>
                    <a:p>
                      <a:pPr algn="l">
                        <a:lnSpc>
                          <a:spcPts val="2903"/>
                        </a:lnSpc>
                      </a:pPr>
                      <a:r>
                        <a:rPr lang="en-US" sz="2419">
                          <a:solidFill>
                            <a:srgbClr val="17151F"/>
                          </a:solidFill>
                          <a:latin typeface="Arial"/>
                          <a:ea typeface="Arial"/>
                          <a:cs typeface="Arial"/>
                          <a:sym typeface="Arial"/>
                        </a:rPr>
                        <a:t>and approves each purchase.</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c>
                  <a:txBody>
                    <a:bodyPr anchor="t" rtlCol="false"/>
                    <a:lstStyle/>
                    <a:p>
                      <a:pPr algn="l">
                        <a:lnSpc>
                          <a:spcPts val="2903"/>
                        </a:lnSpc>
                        <a:defRPr/>
                      </a:pPr>
                      <a:r>
                        <a:rPr lang="en-US" sz="2419">
                          <a:solidFill>
                            <a:srgbClr val="17151F"/>
                          </a:solidFill>
                          <a:latin typeface="Arial"/>
                          <a:ea typeface="Arial"/>
                          <a:cs typeface="Arial"/>
                          <a:sym typeface="Arial"/>
                        </a:rPr>
                        <a:t>A reusable mandate for repeat</a:t>
                      </a:r>
                      <a:endParaRPr lang="en-US" sz="1100"/>
                    </a:p>
                    <a:p>
                      <a:pPr algn="l">
                        <a:lnSpc>
                          <a:spcPts val="2903"/>
                        </a:lnSpc>
                      </a:pPr>
                      <a:r>
                        <a:rPr lang="en-US" sz="2419">
                          <a:solidFill>
                            <a:srgbClr val="17151F"/>
                          </a:solidFill>
                          <a:latin typeface="Arial"/>
                          <a:ea typeface="Arial"/>
                          <a:cs typeface="Arial"/>
                          <a:sym typeface="Arial"/>
                        </a:rPr>
                        <a:t>shopping, with defined exceptions.</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r>
              <a:tr h="876300">
                <a:tc>
                  <a:txBody>
                    <a:bodyPr anchor="t" rtlCol="false"/>
                    <a:lstStyle/>
                    <a:p>
                      <a:pPr algn="l">
                        <a:lnSpc>
                          <a:spcPts val="2903"/>
                        </a:lnSpc>
                        <a:defRPr/>
                      </a:pPr>
                      <a:r>
                        <a:rPr lang="en-US" sz="2419">
                          <a:solidFill>
                            <a:srgbClr val="17151F"/>
                          </a:solidFill>
                          <a:latin typeface="Arial"/>
                          <a:ea typeface="Arial"/>
                          <a:cs typeface="Arial"/>
                          <a:sym typeface="Arial"/>
                        </a:rPr>
                        <a:t>Advice-only AI workflow</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03"/>
                        </a:lnSpc>
                        <a:defRPr/>
                      </a:pPr>
                      <a:r>
                        <a:rPr lang="en-US" sz="2419">
                          <a:solidFill>
                            <a:srgbClr val="17151F"/>
                          </a:solidFill>
                          <a:latin typeface="Arial"/>
                          <a:ea typeface="Arial"/>
                          <a:cs typeface="Arial"/>
                          <a:sym typeface="Arial"/>
                        </a:rPr>
                        <a:t>Suggests products. The user still</a:t>
                      </a:r>
                      <a:endParaRPr lang="en-US" sz="1100"/>
                    </a:p>
                    <a:p>
                      <a:pPr algn="l">
                        <a:lnSpc>
                          <a:spcPts val="2903"/>
                        </a:lnSpc>
                      </a:pPr>
                      <a:r>
                        <a:rPr lang="en-US" sz="2419">
                          <a:solidFill>
                            <a:srgbClr val="17151F"/>
                          </a:solidFill>
                          <a:latin typeface="Arial"/>
                          <a:ea typeface="Arial"/>
                          <a:cs typeface="Arial"/>
                          <a:sym typeface="Arial"/>
                        </a:rPr>
                        <a:t>checks the basket and buys.</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03"/>
                        </a:lnSpc>
                        <a:defRPr/>
                      </a:pPr>
                      <a:r>
                        <a:rPr lang="en-US" sz="2419">
                          <a:solidFill>
                            <a:srgbClr val="17151F"/>
                          </a:solidFill>
                          <a:latin typeface="Arial"/>
                          <a:ea typeface="Arial"/>
                          <a:cs typeface="Arial"/>
                          <a:sym typeface="Arial"/>
                        </a:rPr>
                        <a:t>Delegates execution within rules.</a:t>
                      </a:r>
                      <a:endParaRPr lang="en-US" sz="1100"/>
                    </a:p>
                    <a:p>
                      <a:pPr algn="l">
                        <a:lnSpc>
                          <a:spcPts val="2903"/>
                        </a:lnSpc>
                      </a:pPr>
                      <a:r>
                        <a:rPr lang="en-US" sz="2419">
                          <a:solidFill>
                            <a:srgbClr val="17151F"/>
                          </a:solidFill>
                          <a:latin typeface="Arial"/>
                          <a:ea typeface="Arial"/>
                          <a:cs typeface="Arial"/>
                          <a:sym typeface="Arial"/>
                        </a:rPr>
                        <a:t>Sends exceptions to the user.</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76300">
                <a:tc>
                  <a:txBody>
                    <a:bodyPr anchor="t" rtlCol="false"/>
                    <a:lstStyle/>
                    <a:p>
                      <a:pPr algn="l">
                        <a:lnSpc>
                          <a:spcPts val="2903"/>
                        </a:lnSpc>
                        <a:defRPr/>
                      </a:pPr>
                      <a:r>
                        <a:rPr lang="en-US" sz="2419">
                          <a:solidFill>
                            <a:srgbClr val="17151F"/>
                          </a:solidFill>
                          <a:latin typeface="Arial"/>
                          <a:ea typeface="Arial"/>
                          <a:cs typeface="Arial"/>
                          <a:sym typeface="Arial"/>
                        </a:rPr>
                        <a:t>ACP / agentic checkout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c>
                  <a:txBody>
                    <a:bodyPr anchor="t" rtlCol="false"/>
                    <a:lstStyle/>
                    <a:p>
                      <a:pPr algn="l">
                        <a:lnSpc>
                          <a:spcPts val="2903"/>
                        </a:lnSpc>
                        <a:defRPr/>
                      </a:pPr>
                      <a:r>
                        <a:rPr lang="en-US" sz="2419">
                          <a:solidFill>
                            <a:srgbClr val="17151F"/>
                          </a:solidFill>
                          <a:latin typeface="Arial"/>
                          <a:ea typeface="Arial"/>
                          <a:cs typeface="Arial"/>
                          <a:sym typeface="Arial"/>
                        </a:rPr>
                        <a:t>Agent-to-merchant checkout.</a:t>
                      </a:r>
                      <a:endParaRPr lang="en-US" sz="1100"/>
                    </a:p>
                    <a:p>
                      <a:pPr algn="l">
                        <a:lnSpc>
                          <a:spcPts val="2903"/>
                        </a:lnSpc>
                      </a:pPr>
                      <a:r>
                        <a:rPr lang="en-US" sz="2419">
                          <a:solidFill>
                            <a:srgbClr val="17151F"/>
                          </a:solidFill>
                          <a:latin typeface="Arial"/>
                          <a:ea typeface="Arial"/>
                          <a:cs typeface="Arial"/>
                          <a:sym typeface="Arial"/>
                        </a:rPr>
                        <a:t>The merchant processes payment.</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c>
                  <a:txBody>
                    <a:bodyPr anchor="t" rtlCol="false"/>
                    <a:lstStyle/>
                    <a:p>
                      <a:pPr algn="l">
                        <a:lnSpc>
                          <a:spcPts val="2903"/>
                        </a:lnSpc>
                        <a:defRPr/>
                      </a:pPr>
                      <a:r>
                        <a:rPr lang="en-US" sz="2419">
                          <a:solidFill>
                            <a:srgbClr val="17151F"/>
                          </a:solidFill>
                          <a:latin typeface="Arial"/>
                          <a:ea typeface="Arial"/>
                          <a:cs typeface="Arial"/>
                          <a:sym typeface="Arial"/>
                        </a:rPr>
                        <a:t>Shopping decisions and permission</a:t>
                      </a:r>
                      <a:endParaRPr lang="en-US" sz="1100"/>
                    </a:p>
                    <a:p>
                      <a:pPr algn="l">
                        <a:lnSpc>
                          <a:spcPts val="2903"/>
                        </a:lnSpc>
                      </a:pPr>
                      <a:r>
                        <a:rPr lang="en-US" sz="2419">
                          <a:solidFill>
                            <a:srgbClr val="17151F"/>
                          </a:solidFill>
                          <a:latin typeface="Arial"/>
                          <a:ea typeface="Arial"/>
                          <a:cs typeface="Arial"/>
                          <a:sym typeface="Arial"/>
                        </a:rPr>
                        <a:t>controls around the checkout flow.</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r>
              <a:tr h="876300">
                <a:tc>
                  <a:txBody>
                    <a:bodyPr anchor="t" rtlCol="false"/>
                    <a:lstStyle/>
                    <a:p>
                      <a:pPr algn="l">
                        <a:lnSpc>
                          <a:spcPts val="2903"/>
                        </a:lnSpc>
                        <a:defRPr/>
                      </a:pPr>
                      <a:r>
                        <a:rPr lang="en-US" sz="2419">
                          <a:solidFill>
                            <a:srgbClr val="17151F"/>
                          </a:solidFill>
                          <a:latin typeface="Arial"/>
                          <a:ea typeface="Arial"/>
                          <a:cs typeface="Arial"/>
                          <a:sym typeface="Arial"/>
                        </a:rPr>
                        <a:t>AP2 / payment mandates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03"/>
                        </a:lnSpc>
                        <a:defRPr/>
                      </a:pPr>
                      <a:r>
                        <a:rPr lang="en-US" sz="2419">
                          <a:solidFill>
                            <a:srgbClr val="17151F"/>
                          </a:solidFill>
                          <a:latin typeface="Arial"/>
                          <a:ea typeface="Arial"/>
                          <a:cs typeface="Arial"/>
                          <a:sym typeface="Arial"/>
                        </a:rPr>
                        <a:t>Verifiable intent and cart mandates.</a:t>
                      </a:r>
                      <a:endParaRPr lang="en-US" sz="1100"/>
                    </a:p>
                    <a:p>
                      <a:pPr algn="l">
                        <a:lnSpc>
                          <a:spcPts val="2903"/>
                        </a:lnSpc>
                      </a:pPr>
                      <a:r>
                        <a:rPr lang="en-US" sz="2419">
                          <a:solidFill>
                            <a:srgbClr val="17151F"/>
                          </a:solidFill>
                          <a:latin typeface="Arial"/>
                          <a:ea typeface="Arial"/>
                          <a:cs typeface="Arial"/>
                          <a:sym typeface="Arial"/>
                        </a:rPr>
                        <a:t>Supports delegated purchases.</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03"/>
                        </a:lnSpc>
                        <a:defRPr/>
                      </a:pPr>
                      <a:r>
                        <a:rPr lang="en-US" sz="2419">
                          <a:solidFill>
                            <a:srgbClr val="17151F"/>
                          </a:solidFill>
                          <a:latin typeface="Arial"/>
                          <a:ea typeface="Arial"/>
                          <a:cs typeface="Arial"/>
                          <a:sym typeface="Arial"/>
                        </a:rPr>
                        <a:t>A concrete household workflow</a:t>
                      </a:r>
                      <a:endParaRPr lang="en-US" sz="1100"/>
                    </a:p>
                    <a:p>
                      <a:pPr algn="l">
                        <a:lnSpc>
                          <a:spcPts val="2903"/>
                        </a:lnSpc>
                      </a:pPr>
                      <a:r>
                        <a:rPr lang="en-US" sz="2419">
                          <a:solidFill>
                            <a:srgbClr val="17151F"/>
                          </a:solidFill>
                          <a:latin typeface="Arial"/>
                          <a:ea typeface="Arial"/>
                          <a:cs typeface="Arial"/>
                          <a:sym typeface="Arial"/>
                        </a:rPr>
                        <a:t>that exposes buy / ask / block.</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76300">
                <a:tc>
                  <a:txBody>
                    <a:bodyPr anchor="t" rtlCol="false"/>
                    <a:lstStyle/>
                    <a:p>
                      <a:pPr algn="l">
                        <a:lnSpc>
                          <a:spcPts val="2903"/>
                        </a:lnSpc>
                        <a:defRPr/>
                      </a:pPr>
                      <a:r>
                        <a:rPr lang="en-US" sz="2419">
                          <a:solidFill>
                            <a:srgbClr val="17151F"/>
                          </a:solidFill>
                          <a:latin typeface="Arial"/>
                          <a:ea typeface="Arial"/>
                          <a:cs typeface="Arial"/>
                          <a:sym typeface="Arial"/>
                        </a:rPr>
                        <a:t>Zev prototype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c>
                  <a:txBody>
                    <a:bodyPr anchor="t" rtlCol="false"/>
                    <a:lstStyle/>
                    <a:p>
                      <a:pPr algn="l">
                        <a:lnSpc>
                          <a:spcPts val="2903"/>
                        </a:lnSpc>
                        <a:defRPr/>
                      </a:pPr>
                      <a:r>
                        <a:rPr lang="en-US" sz="2419">
                          <a:solidFill>
                            <a:srgbClr val="17151F"/>
                          </a:solidFill>
                          <a:latin typeface="Arial"/>
                          <a:ea typeface="Arial"/>
                          <a:cs typeface="Arial"/>
                          <a:sym typeface="Arial"/>
                        </a:rPr>
                        <a:t>Editable limits, full-basket choice,</a:t>
                      </a:r>
                      <a:endParaRPr lang="en-US" sz="1100"/>
                    </a:p>
                    <a:p>
                      <a:pPr algn="l">
                        <a:lnSpc>
                          <a:spcPts val="2903"/>
                        </a:lnSpc>
                      </a:pPr>
                      <a:r>
                        <a:rPr lang="en-US" sz="2419">
                          <a:solidFill>
                            <a:srgbClr val="17151F"/>
                          </a:solidFill>
                          <a:latin typeface="Arial"/>
                          <a:ea typeface="Arial"/>
                          <a:cs typeface="Arial"/>
                          <a:sym typeface="Arial"/>
                        </a:rPr>
                        <a:t>rule outcomes and linked receipts.</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c>
                  <a:txBody>
                    <a:bodyPr anchor="t" rtlCol="false"/>
                    <a:lstStyle/>
                    <a:p>
                      <a:pPr algn="l">
                        <a:lnSpc>
                          <a:spcPts val="2903"/>
                        </a:lnSpc>
                        <a:defRPr/>
                      </a:pPr>
                      <a:r>
                        <a:rPr lang="en-US" sz="2419">
                          <a:solidFill>
                            <a:srgbClr val="17151F"/>
                          </a:solidFill>
                          <a:latin typeface="Arial"/>
                          <a:ea typeface="Arial"/>
                          <a:cs typeface="Arial"/>
                          <a:sym typeface="Arial"/>
                        </a:rPr>
                        <a:t>End-to-end experience today.</a:t>
                      </a:r>
                      <a:endParaRPr lang="en-US" sz="1100"/>
                    </a:p>
                    <a:p>
                      <a:pPr algn="l">
                        <a:lnSpc>
                          <a:spcPts val="2903"/>
                        </a:lnSpc>
                      </a:pPr>
                      <a:r>
                        <a:rPr lang="en-US" sz="2419">
                          <a:solidFill>
                            <a:srgbClr val="17151F"/>
                          </a:solidFill>
                          <a:latin typeface="Arial"/>
                          <a:ea typeface="Arial"/>
                          <a:cs typeface="Arial"/>
                          <a:sym typeface="Arial"/>
                        </a:rPr>
                        <a:t>Protocol / rail integration proposed.</a:t>
                      </a:r>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1F8"/>
                    </a:solidFill>
                  </a:tcPr>
                </a:tc>
              </a:tr>
            </a:tbl>
          </a:graphicData>
        </a:graphic>
      </p:graphicFrame>
      <p:sp>
        <p:nvSpPr>
          <p:cNvPr name="TextBox 8" id="8"/>
          <p:cNvSpPr txBox="true"/>
          <p:nvPr/>
        </p:nvSpPr>
        <p:spPr>
          <a:xfrm rot="0">
            <a:off x="1020127" y="8532495"/>
            <a:ext cx="16176307" cy="551497"/>
          </a:xfrm>
          <a:prstGeom prst="rect">
            <a:avLst/>
          </a:prstGeom>
        </p:spPr>
        <p:txBody>
          <a:bodyPr anchor="t" rtlCol="false" tIns="0" lIns="0" bIns="0" rIns="0">
            <a:spAutoFit/>
          </a:bodyPr>
          <a:lstStyle/>
          <a:p>
            <a:pPr algn="l">
              <a:lnSpc>
                <a:spcPts val="3915"/>
              </a:lnSpc>
            </a:pPr>
            <a:r>
              <a:rPr lang="en-US" sz="3262" b="true">
                <a:solidFill>
                  <a:srgbClr val="6650D7"/>
                </a:solidFill>
                <a:latin typeface="Arial Bold"/>
                <a:ea typeface="Arial Bold"/>
                <a:cs typeface="Arial Bold"/>
                <a:sym typeface="Arial Bold"/>
              </a:rPr>
              <a:t>The distinction is the workflow and implementation.</a:t>
            </a:r>
          </a:p>
        </p:txBody>
      </p:sp>
      <p:sp>
        <p:nvSpPr>
          <p:cNvPr name="TextBox 9" id="9"/>
          <p:cNvSpPr txBox="true"/>
          <p:nvPr/>
        </p:nvSpPr>
        <p:spPr>
          <a:xfrm rot="0">
            <a:off x="1020127" y="9194482"/>
            <a:ext cx="16190595" cy="346710"/>
          </a:xfrm>
          <a:prstGeom prst="rect">
            <a:avLst/>
          </a:prstGeom>
        </p:spPr>
        <p:txBody>
          <a:bodyPr anchor="t" rtlCol="false" tIns="0" lIns="0" bIns="0" rIns="0">
            <a:spAutoFit/>
          </a:bodyPr>
          <a:lstStyle/>
          <a:p>
            <a:pPr algn="l">
              <a:lnSpc>
                <a:spcPts val="2430"/>
              </a:lnSpc>
            </a:pPr>
            <a:r>
              <a:rPr lang="en-US" sz="2025">
                <a:solidFill>
                  <a:srgbClr val="696575"/>
                </a:solidFill>
                <a:latin typeface="Arial"/>
                <a:ea typeface="Arial"/>
                <a:cs typeface="Arial"/>
                <a:sym typeface="Arial"/>
              </a:rPr>
              <a:t>No claim that Zev invented mandates, outperforms these systems or already integrates with them.</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48690" y="645795"/>
            <a:ext cx="16390620" cy="865823"/>
          </a:xfrm>
          <a:prstGeom prst="rect">
            <a:avLst/>
          </a:prstGeom>
        </p:spPr>
        <p:txBody>
          <a:bodyPr anchor="t" rtlCol="false" tIns="0" lIns="0" bIns="0" rIns="0">
            <a:spAutoFit/>
          </a:bodyPr>
          <a:lstStyle/>
          <a:p>
            <a:pPr algn="l">
              <a:lnSpc>
                <a:spcPts val="5535"/>
              </a:lnSpc>
            </a:pPr>
            <a:r>
              <a:rPr lang="en-US" sz="4612" b="true">
                <a:solidFill>
                  <a:srgbClr val="17151F"/>
                </a:solidFill>
                <a:latin typeface="Arial Bold"/>
                <a:ea typeface="Arial Bold"/>
                <a:cs typeface="Arial Bold"/>
                <a:sym typeface="Arial Bold"/>
              </a:rPr>
              <a:t>Appendix: a proposed path to real payment</a:t>
            </a:r>
          </a:p>
        </p:txBody>
      </p:sp>
      <p:sp>
        <p:nvSpPr>
          <p:cNvPr name="TextBox 3" id="3"/>
          <p:cNvSpPr txBox="true"/>
          <p:nvPr/>
        </p:nvSpPr>
        <p:spPr>
          <a:xfrm rot="0">
            <a:off x="977265" y="1812608"/>
            <a:ext cx="16333470" cy="856298"/>
          </a:xfrm>
          <a:prstGeom prst="rect">
            <a:avLst/>
          </a:prstGeom>
        </p:spPr>
        <p:txBody>
          <a:bodyPr anchor="t" rtlCol="false" tIns="0" lIns="0" bIns="0" rIns="0">
            <a:spAutoFit/>
          </a:bodyPr>
          <a:lstStyle/>
          <a:p>
            <a:pPr algn="l">
              <a:lnSpc>
                <a:spcPts val="3240"/>
              </a:lnSpc>
            </a:pPr>
            <a:r>
              <a:rPr lang="en-US" sz="2700">
                <a:solidFill>
                  <a:srgbClr val="696575"/>
                </a:solidFill>
                <a:latin typeface="Arial"/>
                <a:ea typeface="Arial"/>
                <a:cs typeface="Arial"/>
                <a:sym typeface="Arial"/>
              </a:rPr>
              <a:t>Zev checks permission. A contracted payment provider processes funds and returns the result.</a:t>
            </a:r>
          </a:p>
        </p:txBody>
      </p:sp>
      <p:sp>
        <p:nvSpPr>
          <p:cNvPr name="TextBox 4" id="4"/>
          <p:cNvSpPr txBox="true"/>
          <p:nvPr/>
        </p:nvSpPr>
        <p:spPr>
          <a:xfrm rot="0">
            <a:off x="977265" y="9651682"/>
            <a:ext cx="1031557" cy="289560"/>
          </a:xfrm>
          <a:prstGeom prst="rect">
            <a:avLst/>
          </a:prstGeom>
        </p:spPr>
        <p:txBody>
          <a:bodyPr anchor="t" rtlCol="false" tIns="0" lIns="0" bIns="0" rIns="0">
            <a:spAutoFit/>
          </a:bodyPr>
          <a:lstStyle/>
          <a:p>
            <a:pPr algn="l">
              <a:lnSpc>
                <a:spcPts val="2295"/>
              </a:lnSpc>
            </a:pPr>
            <a:r>
              <a:rPr lang="en-US" sz="1912" b="true">
                <a:solidFill>
                  <a:srgbClr val="6650D7"/>
                </a:solidFill>
                <a:latin typeface="Arial Bold"/>
                <a:ea typeface="Arial Bold"/>
                <a:cs typeface="Arial Bold"/>
                <a:sym typeface="Arial Bold"/>
              </a:rPr>
              <a:t>Zev</a:t>
            </a:r>
          </a:p>
        </p:txBody>
      </p:sp>
      <p:sp>
        <p:nvSpPr>
          <p:cNvPr name="TextBox 5" id="5"/>
          <p:cNvSpPr txBox="true"/>
          <p:nvPr/>
        </p:nvSpPr>
        <p:spPr>
          <a:xfrm rot="0">
            <a:off x="16850677" y="9651682"/>
            <a:ext cx="488632" cy="289560"/>
          </a:xfrm>
          <a:prstGeom prst="rect">
            <a:avLst/>
          </a:prstGeom>
        </p:spPr>
        <p:txBody>
          <a:bodyPr anchor="t" rtlCol="false" tIns="0" lIns="0" bIns="0" rIns="0">
            <a:spAutoFit/>
          </a:bodyPr>
          <a:lstStyle/>
          <a:p>
            <a:pPr algn="l">
              <a:lnSpc>
                <a:spcPts val="2295"/>
              </a:lnSpc>
            </a:pPr>
            <a:r>
              <a:rPr lang="en-US" sz="1912">
                <a:solidFill>
                  <a:srgbClr val="6650D7"/>
                </a:solidFill>
                <a:latin typeface="Arial"/>
                <a:ea typeface="Arial"/>
                <a:cs typeface="Arial"/>
                <a:sym typeface="Arial"/>
              </a:rPr>
              <a:t>17</a:t>
            </a:r>
          </a:p>
        </p:txBody>
      </p:sp>
      <p:sp>
        <p:nvSpPr>
          <p:cNvPr name="TextBox 6" id="6"/>
          <p:cNvSpPr txBox="true"/>
          <p:nvPr/>
        </p:nvSpPr>
        <p:spPr>
          <a:xfrm rot="0">
            <a:off x="2334578" y="9665970"/>
            <a:ext cx="13961745" cy="432435"/>
          </a:xfrm>
          <a:prstGeom prst="rect">
            <a:avLst/>
          </a:prstGeom>
        </p:spPr>
        <p:txBody>
          <a:bodyPr anchor="t" rtlCol="false" tIns="0" lIns="0" bIns="0" rIns="0">
            <a:spAutoFit/>
          </a:bodyPr>
          <a:lstStyle/>
          <a:p>
            <a:pPr algn="l">
              <a:lnSpc>
                <a:spcPts val="1755"/>
              </a:lnSpc>
            </a:pPr>
            <a:r>
              <a:rPr lang="en-US" sz="1462">
                <a:solidFill>
                  <a:srgbClr val="696575"/>
                </a:solidFill>
                <a:latin typeface="Arial"/>
                <a:ea typeface="Arial"/>
                <a:cs typeface="Arial"/>
                <a:sym typeface="Arial"/>
              </a:rPr>
              <a:t>Proposed integration, not a live connection. FPS participation source: HKICL. Full sources in notes.</a:t>
            </a:r>
          </a:p>
        </p:txBody>
      </p:sp>
      <p:sp>
        <p:nvSpPr>
          <p:cNvPr name="TextBox 7" id="7"/>
          <p:cNvSpPr txBox="true"/>
          <p:nvPr/>
        </p:nvSpPr>
        <p:spPr>
          <a:xfrm rot="0">
            <a:off x="1005840" y="3141345"/>
            <a:ext cx="3817620" cy="656272"/>
          </a:xfrm>
          <a:prstGeom prst="rect">
            <a:avLst/>
          </a:prstGeom>
        </p:spPr>
        <p:txBody>
          <a:bodyPr anchor="t" rtlCol="false" tIns="0" lIns="0" bIns="0" rIns="0">
            <a:spAutoFit/>
          </a:bodyPr>
          <a:lstStyle/>
          <a:p>
            <a:pPr algn="l">
              <a:lnSpc>
                <a:spcPts val="3644"/>
              </a:lnSpc>
            </a:pPr>
            <a:r>
              <a:rPr lang="en-US" sz="3037" b="true">
                <a:solidFill>
                  <a:srgbClr val="6650D7"/>
                </a:solidFill>
                <a:latin typeface="Arial Bold"/>
                <a:ea typeface="Arial Bold"/>
                <a:cs typeface="Arial Bold"/>
                <a:sym typeface="Arial Bold"/>
              </a:rPr>
              <a:t>1  Permission</a:t>
            </a:r>
          </a:p>
        </p:txBody>
      </p:sp>
      <p:sp>
        <p:nvSpPr>
          <p:cNvPr name="TextBox 8" id="8"/>
          <p:cNvSpPr txBox="true"/>
          <p:nvPr/>
        </p:nvSpPr>
        <p:spPr>
          <a:xfrm rot="0">
            <a:off x="1005840" y="4112895"/>
            <a:ext cx="3817620" cy="541972"/>
          </a:xfrm>
          <a:prstGeom prst="rect">
            <a:avLst/>
          </a:prstGeom>
        </p:spPr>
        <p:txBody>
          <a:bodyPr anchor="t" rtlCol="false" tIns="0" lIns="0" bIns="0" rIns="0">
            <a:spAutoFit/>
          </a:bodyPr>
          <a:lstStyle/>
          <a:p>
            <a:pPr algn="l">
              <a:lnSpc>
                <a:spcPts val="3240"/>
              </a:lnSpc>
            </a:pPr>
            <a:r>
              <a:rPr lang="en-US" sz="2700" b="true">
                <a:solidFill>
                  <a:srgbClr val="17151F"/>
                </a:solidFill>
                <a:latin typeface="Arial Bold"/>
                <a:ea typeface="Arial Bold"/>
                <a:cs typeface="Arial Bold"/>
                <a:sym typeface="Arial Bold"/>
              </a:rPr>
              <a:t>Zev backend</a:t>
            </a:r>
          </a:p>
        </p:txBody>
      </p:sp>
      <p:sp>
        <p:nvSpPr>
          <p:cNvPr name="TextBox 9" id="9"/>
          <p:cNvSpPr txBox="true"/>
          <p:nvPr/>
        </p:nvSpPr>
        <p:spPr>
          <a:xfrm rot="0">
            <a:off x="1005840" y="4841558"/>
            <a:ext cx="3817620" cy="1299210"/>
          </a:xfrm>
          <a:prstGeom prst="rect">
            <a:avLst/>
          </a:prstGeom>
        </p:spPr>
        <p:txBody>
          <a:bodyPr anchor="t" rtlCol="false" tIns="0" lIns="0" bIns="0" rIns="0">
            <a:spAutoFit/>
          </a:bodyPr>
          <a:lstStyle/>
          <a:p>
            <a:pPr algn="l">
              <a:lnSpc>
                <a:spcPts val="3240"/>
              </a:lnSpc>
            </a:pPr>
            <a:r>
              <a:rPr lang="en-US" sz="2700">
                <a:solidFill>
                  <a:srgbClr val="17151F"/>
                </a:solidFill>
                <a:latin typeface="Arial"/>
                <a:ea typeface="Arial"/>
                <a:cs typeface="Arial"/>
                <a:sym typeface="Arial"/>
              </a:rPr>
              <a:t>Recheck current limits,</a:t>
            </a:r>
          </a:p>
          <a:p>
            <a:pPr algn="l">
              <a:lnSpc>
                <a:spcPts val="3240"/>
              </a:lnSpc>
            </a:pPr>
            <a:r>
              <a:rPr lang="en-US" sz="2700">
                <a:solidFill>
                  <a:srgbClr val="17151F"/>
                </a:solidFill>
                <a:latin typeface="Arial"/>
                <a:ea typeface="Arial"/>
                <a:cs typeface="Arial"/>
                <a:sym typeface="Arial"/>
              </a:rPr>
              <a:t>cart and revocation.</a:t>
            </a:r>
          </a:p>
        </p:txBody>
      </p:sp>
      <p:sp>
        <p:nvSpPr>
          <p:cNvPr name="AutoShape 10" id="10"/>
          <p:cNvSpPr/>
          <p:nvPr/>
        </p:nvSpPr>
        <p:spPr>
          <a:xfrm rot="177660">
            <a:off x="4906108" y="4467225"/>
            <a:ext cx="331918" cy="0"/>
          </a:xfrm>
          <a:prstGeom prst="line">
            <a:avLst/>
          </a:prstGeom>
          <a:ln cap="rnd" w="9525">
            <a:solidFill>
              <a:srgbClr val="DDD9E9"/>
            </a:solidFill>
            <a:prstDash val="solid"/>
            <a:headEnd type="none" len="sm" w="sm"/>
            <a:tailEnd type="none" len="sm" w="sm"/>
          </a:ln>
        </p:spPr>
      </p:sp>
      <p:sp>
        <p:nvSpPr>
          <p:cNvPr name="TextBox 11" id="11"/>
          <p:cNvSpPr txBox="true"/>
          <p:nvPr/>
        </p:nvSpPr>
        <p:spPr>
          <a:xfrm rot="0">
            <a:off x="5349240" y="3141345"/>
            <a:ext cx="3817620" cy="656272"/>
          </a:xfrm>
          <a:prstGeom prst="rect">
            <a:avLst/>
          </a:prstGeom>
        </p:spPr>
        <p:txBody>
          <a:bodyPr anchor="t" rtlCol="false" tIns="0" lIns="0" bIns="0" rIns="0">
            <a:spAutoFit/>
          </a:bodyPr>
          <a:lstStyle/>
          <a:p>
            <a:pPr algn="l">
              <a:lnSpc>
                <a:spcPts val="3644"/>
              </a:lnSpc>
            </a:pPr>
            <a:r>
              <a:rPr lang="en-US" sz="3037" b="true">
                <a:solidFill>
                  <a:srgbClr val="6650D7"/>
                </a:solidFill>
                <a:latin typeface="Arial Bold"/>
                <a:ea typeface="Arial Bold"/>
                <a:cs typeface="Arial Bold"/>
                <a:sym typeface="Arial Bold"/>
              </a:rPr>
              <a:t>2  Request</a:t>
            </a:r>
          </a:p>
        </p:txBody>
      </p:sp>
      <p:sp>
        <p:nvSpPr>
          <p:cNvPr name="TextBox 12" id="12"/>
          <p:cNvSpPr txBox="true"/>
          <p:nvPr/>
        </p:nvSpPr>
        <p:spPr>
          <a:xfrm rot="0">
            <a:off x="5349240" y="4112895"/>
            <a:ext cx="3817620" cy="541972"/>
          </a:xfrm>
          <a:prstGeom prst="rect">
            <a:avLst/>
          </a:prstGeom>
        </p:spPr>
        <p:txBody>
          <a:bodyPr anchor="t" rtlCol="false" tIns="0" lIns="0" bIns="0" rIns="0">
            <a:spAutoFit/>
          </a:bodyPr>
          <a:lstStyle/>
          <a:p>
            <a:pPr algn="l">
              <a:lnSpc>
                <a:spcPts val="3240"/>
              </a:lnSpc>
            </a:pPr>
            <a:r>
              <a:rPr lang="en-US" sz="2700" b="true">
                <a:solidFill>
                  <a:srgbClr val="17151F"/>
                </a:solidFill>
                <a:latin typeface="Arial Bold"/>
                <a:ea typeface="Arial Bold"/>
                <a:cs typeface="Arial Bold"/>
                <a:sym typeface="Arial Bold"/>
              </a:rPr>
              <a:t>Provider adapter</a:t>
            </a:r>
          </a:p>
        </p:txBody>
      </p:sp>
      <p:sp>
        <p:nvSpPr>
          <p:cNvPr name="TextBox 13" id="13"/>
          <p:cNvSpPr txBox="true"/>
          <p:nvPr/>
        </p:nvSpPr>
        <p:spPr>
          <a:xfrm rot="0">
            <a:off x="5349240" y="4841558"/>
            <a:ext cx="3817620" cy="1299210"/>
          </a:xfrm>
          <a:prstGeom prst="rect">
            <a:avLst/>
          </a:prstGeom>
        </p:spPr>
        <p:txBody>
          <a:bodyPr anchor="t" rtlCol="false" tIns="0" lIns="0" bIns="0" rIns="0">
            <a:spAutoFit/>
          </a:bodyPr>
          <a:lstStyle/>
          <a:p>
            <a:pPr algn="l">
              <a:lnSpc>
                <a:spcPts val="3240"/>
              </a:lnSpc>
            </a:pPr>
            <a:r>
              <a:rPr lang="en-US" sz="2700">
                <a:solidFill>
                  <a:srgbClr val="17151F"/>
                </a:solidFill>
                <a:latin typeface="Arial"/>
                <a:ea typeface="Arial"/>
                <a:cs typeface="Arial"/>
                <a:sym typeface="Arial"/>
              </a:rPr>
              <a:t>Send amount, merchant</a:t>
            </a:r>
          </a:p>
          <a:p>
            <a:pPr algn="l">
              <a:lnSpc>
                <a:spcPts val="3240"/>
              </a:lnSpc>
            </a:pPr>
            <a:r>
              <a:rPr lang="en-US" sz="2700">
                <a:solidFill>
                  <a:srgbClr val="17151F"/>
                </a:solidFill>
                <a:latin typeface="Arial"/>
                <a:ea typeface="Arial"/>
                <a:cs typeface="Arial"/>
                <a:sym typeface="Arial"/>
              </a:rPr>
              <a:t>and an idempotency key.</a:t>
            </a:r>
          </a:p>
        </p:txBody>
      </p:sp>
      <p:sp>
        <p:nvSpPr>
          <p:cNvPr name="AutoShape 14" id="14"/>
          <p:cNvSpPr/>
          <p:nvPr/>
        </p:nvSpPr>
        <p:spPr>
          <a:xfrm rot="177660">
            <a:off x="9249508" y="4467225"/>
            <a:ext cx="331918" cy="0"/>
          </a:xfrm>
          <a:prstGeom prst="line">
            <a:avLst/>
          </a:prstGeom>
          <a:ln cap="rnd" w="9525">
            <a:solidFill>
              <a:srgbClr val="DDD9E9"/>
            </a:solidFill>
            <a:prstDash val="solid"/>
            <a:headEnd type="none" len="sm" w="sm"/>
            <a:tailEnd type="none" len="sm" w="sm"/>
          </a:ln>
        </p:spPr>
      </p:sp>
      <p:sp>
        <p:nvSpPr>
          <p:cNvPr name="TextBox 15" id="15"/>
          <p:cNvSpPr txBox="true"/>
          <p:nvPr/>
        </p:nvSpPr>
        <p:spPr>
          <a:xfrm rot="0">
            <a:off x="9692640" y="3141345"/>
            <a:ext cx="3817620" cy="656272"/>
          </a:xfrm>
          <a:prstGeom prst="rect">
            <a:avLst/>
          </a:prstGeom>
        </p:spPr>
        <p:txBody>
          <a:bodyPr anchor="t" rtlCol="false" tIns="0" lIns="0" bIns="0" rIns="0">
            <a:spAutoFit/>
          </a:bodyPr>
          <a:lstStyle/>
          <a:p>
            <a:pPr algn="l">
              <a:lnSpc>
                <a:spcPts val="3644"/>
              </a:lnSpc>
            </a:pPr>
            <a:r>
              <a:rPr lang="en-US" sz="3037" b="true">
                <a:solidFill>
                  <a:srgbClr val="6650D7"/>
                </a:solidFill>
                <a:latin typeface="Arial Bold"/>
                <a:ea typeface="Arial Bold"/>
                <a:cs typeface="Arial Bold"/>
                <a:sym typeface="Arial Bold"/>
              </a:rPr>
              <a:t>3  Payment</a:t>
            </a:r>
          </a:p>
        </p:txBody>
      </p:sp>
      <p:sp>
        <p:nvSpPr>
          <p:cNvPr name="TextBox 16" id="16"/>
          <p:cNvSpPr txBox="true"/>
          <p:nvPr/>
        </p:nvSpPr>
        <p:spPr>
          <a:xfrm rot="0">
            <a:off x="9692640" y="4112895"/>
            <a:ext cx="3817620" cy="541972"/>
          </a:xfrm>
          <a:prstGeom prst="rect">
            <a:avLst/>
          </a:prstGeom>
        </p:spPr>
        <p:txBody>
          <a:bodyPr anchor="t" rtlCol="false" tIns="0" lIns="0" bIns="0" rIns="0">
            <a:spAutoFit/>
          </a:bodyPr>
          <a:lstStyle/>
          <a:p>
            <a:pPr algn="l">
              <a:lnSpc>
                <a:spcPts val="3240"/>
              </a:lnSpc>
            </a:pPr>
            <a:r>
              <a:rPr lang="en-US" sz="2700" b="true">
                <a:solidFill>
                  <a:srgbClr val="17151F"/>
                </a:solidFill>
                <a:latin typeface="Arial Bold"/>
                <a:ea typeface="Arial Bold"/>
                <a:cs typeface="Arial Bold"/>
                <a:sym typeface="Arial Bold"/>
              </a:rPr>
              <a:t>Wallet / PSP</a:t>
            </a:r>
          </a:p>
        </p:txBody>
      </p:sp>
      <p:sp>
        <p:nvSpPr>
          <p:cNvPr name="TextBox 17" id="17"/>
          <p:cNvSpPr txBox="true"/>
          <p:nvPr/>
        </p:nvSpPr>
        <p:spPr>
          <a:xfrm rot="0">
            <a:off x="9692640" y="4841558"/>
            <a:ext cx="3817620" cy="1299210"/>
          </a:xfrm>
          <a:prstGeom prst="rect">
            <a:avLst/>
          </a:prstGeom>
        </p:spPr>
        <p:txBody>
          <a:bodyPr anchor="t" rtlCol="false" tIns="0" lIns="0" bIns="0" rIns="0">
            <a:spAutoFit/>
          </a:bodyPr>
          <a:lstStyle/>
          <a:p>
            <a:pPr algn="l">
              <a:lnSpc>
                <a:spcPts val="3240"/>
              </a:lnSpc>
            </a:pPr>
            <a:r>
              <a:rPr lang="en-US" sz="2700">
                <a:solidFill>
                  <a:srgbClr val="17151F"/>
                </a:solidFill>
                <a:latin typeface="Arial"/>
                <a:ea typeface="Arial"/>
                <a:cs typeface="Arial"/>
                <a:sym typeface="Arial"/>
              </a:rPr>
              <a:t>Verify the payer.</a:t>
            </a:r>
          </a:p>
          <a:p>
            <a:pPr algn="l">
              <a:lnSpc>
                <a:spcPts val="3240"/>
              </a:lnSpc>
            </a:pPr>
            <a:r>
              <a:rPr lang="en-US" sz="2700">
                <a:solidFill>
                  <a:srgbClr val="17151F"/>
                </a:solidFill>
                <a:latin typeface="Arial"/>
                <a:ea typeface="Arial"/>
                <a:cs typeface="Arial"/>
                <a:sym typeface="Arial"/>
              </a:rPr>
              <a:t>Return payment status.</a:t>
            </a:r>
          </a:p>
        </p:txBody>
      </p:sp>
      <p:sp>
        <p:nvSpPr>
          <p:cNvPr name="AutoShape 18" id="18"/>
          <p:cNvSpPr/>
          <p:nvPr/>
        </p:nvSpPr>
        <p:spPr>
          <a:xfrm rot="177660">
            <a:off x="13592908" y="4467225"/>
            <a:ext cx="331918" cy="0"/>
          </a:xfrm>
          <a:prstGeom prst="line">
            <a:avLst/>
          </a:prstGeom>
          <a:ln cap="rnd" w="9525">
            <a:solidFill>
              <a:srgbClr val="DDD9E9"/>
            </a:solidFill>
            <a:prstDash val="solid"/>
            <a:headEnd type="none" len="sm" w="sm"/>
            <a:tailEnd type="none" len="sm" w="sm"/>
          </a:ln>
        </p:spPr>
      </p:sp>
      <p:sp>
        <p:nvSpPr>
          <p:cNvPr name="TextBox 19" id="19"/>
          <p:cNvSpPr txBox="true"/>
          <p:nvPr/>
        </p:nvSpPr>
        <p:spPr>
          <a:xfrm rot="0">
            <a:off x="14036040" y="3141345"/>
            <a:ext cx="3817620" cy="656272"/>
          </a:xfrm>
          <a:prstGeom prst="rect">
            <a:avLst/>
          </a:prstGeom>
        </p:spPr>
        <p:txBody>
          <a:bodyPr anchor="t" rtlCol="false" tIns="0" lIns="0" bIns="0" rIns="0">
            <a:spAutoFit/>
          </a:bodyPr>
          <a:lstStyle/>
          <a:p>
            <a:pPr algn="l">
              <a:lnSpc>
                <a:spcPts val="3644"/>
              </a:lnSpc>
            </a:pPr>
            <a:r>
              <a:rPr lang="en-US" sz="3037" b="true">
                <a:solidFill>
                  <a:srgbClr val="6650D7"/>
                </a:solidFill>
                <a:latin typeface="Arial Bold"/>
                <a:ea typeface="Arial Bold"/>
                <a:cs typeface="Arial Bold"/>
                <a:sym typeface="Arial Bold"/>
              </a:rPr>
              <a:t>4  Reconcile</a:t>
            </a:r>
          </a:p>
        </p:txBody>
      </p:sp>
      <p:sp>
        <p:nvSpPr>
          <p:cNvPr name="TextBox 20" id="20"/>
          <p:cNvSpPr txBox="true"/>
          <p:nvPr/>
        </p:nvSpPr>
        <p:spPr>
          <a:xfrm rot="0">
            <a:off x="14036040" y="4112895"/>
            <a:ext cx="3817620" cy="541972"/>
          </a:xfrm>
          <a:prstGeom prst="rect">
            <a:avLst/>
          </a:prstGeom>
        </p:spPr>
        <p:txBody>
          <a:bodyPr anchor="t" rtlCol="false" tIns="0" lIns="0" bIns="0" rIns="0">
            <a:spAutoFit/>
          </a:bodyPr>
          <a:lstStyle/>
          <a:p>
            <a:pPr algn="l">
              <a:lnSpc>
                <a:spcPts val="3240"/>
              </a:lnSpc>
            </a:pPr>
            <a:r>
              <a:rPr lang="en-US" sz="2700" b="true">
                <a:solidFill>
                  <a:srgbClr val="17151F"/>
                </a:solidFill>
                <a:latin typeface="Arial Bold"/>
                <a:ea typeface="Arial Bold"/>
                <a:cs typeface="Arial Bold"/>
                <a:sym typeface="Arial Bold"/>
              </a:rPr>
              <a:t>Zev + provider</a:t>
            </a:r>
          </a:p>
        </p:txBody>
      </p:sp>
      <p:sp>
        <p:nvSpPr>
          <p:cNvPr name="TextBox 21" id="21"/>
          <p:cNvSpPr txBox="true"/>
          <p:nvPr/>
        </p:nvSpPr>
        <p:spPr>
          <a:xfrm rot="0">
            <a:off x="14036040" y="4841558"/>
            <a:ext cx="3817620" cy="1299210"/>
          </a:xfrm>
          <a:prstGeom prst="rect">
            <a:avLst/>
          </a:prstGeom>
        </p:spPr>
        <p:txBody>
          <a:bodyPr anchor="t" rtlCol="false" tIns="0" lIns="0" bIns="0" rIns="0">
            <a:spAutoFit/>
          </a:bodyPr>
          <a:lstStyle/>
          <a:p>
            <a:pPr algn="l">
              <a:lnSpc>
                <a:spcPts val="3240"/>
              </a:lnSpc>
            </a:pPr>
            <a:r>
              <a:rPr lang="en-US" sz="2700">
                <a:solidFill>
                  <a:srgbClr val="17151F"/>
                </a:solidFill>
                <a:latin typeface="Arial"/>
                <a:ea typeface="Arial"/>
                <a:cs typeface="Arial"/>
                <a:sym typeface="Arial"/>
              </a:rPr>
              <a:t>Verify callback or poll.</a:t>
            </a:r>
          </a:p>
          <a:p>
            <a:pPr algn="l">
              <a:lnSpc>
                <a:spcPts val="3240"/>
              </a:lnSpc>
            </a:pPr>
            <a:r>
              <a:rPr lang="en-US" sz="2700">
                <a:solidFill>
                  <a:srgbClr val="17151F"/>
                </a:solidFill>
                <a:latin typeface="Arial"/>
                <a:ea typeface="Arial"/>
                <a:cs typeface="Arial"/>
                <a:sym typeface="Arial"/>
              </a:rPr>
              <a:t>Link order and receipt.</a:t>
            </a:r>
          </a:p>
        </p:txBody>
      </p:sp>
      <p:sp>
        <p:nvSpPr>
          <p:cNvPr name="AutoShape 22" id="22"/>
          <p:cNvSpPr/>
          <p:nvPr/>
        </p:nvSpPr>
        <p:spPr>
          <a:xfrm rot="3600">
            <a:off x="905827" y="6224588"/>
            <a:ext cx="16447780" cy="0"/>
          </a:xfrm>
          <a:prstGeom prst="line">
            <a:avLst/>
          </a:prstGeom>
          <a:ln cap="rnd" w="9525">
            <a:solidFill>
              <a:srgbClr val="DDD9E9"/>
            </a:solidFill>
            <a:prstDash val="solid"/>
            <a:headEnd type="none" len="sm" w="sm"/>
            <a:tailEnd type="none" len="sm" w="sm"/>
          </a:ln>
        </p:spPr>
      </p:sp>
      <p:sp>
        <p:nvSpPr>
          <p:cNvPr name="TextBox 23" id="23"/>
          <p:cNvSpPr txBox="true"/>
          <p:nvPr/>
        </p:nvSpPr>
        <p:spPr>
          <a:xfrm rot="0">
            <a:off x="1005840" y="6627495"/>
            <a:ext cx="3517583" cy="570548"/>
          </a:xfrm>
          <a:prstGeom prst="rect">
            <a:avLst/>
          </a:prstGeom>
        </p:spPr>
        <p:txBody>
          <a:bodyPr anchor="t" rtlCol="false" tIns="0" lIns="0" bIns="0" rIns="0">
            <a:spAutoFit/>
          </a:bodyPr>
          <a:lstStyle/>
          <a:p>
            <a:pPr algn="l">
              <a:lnSpc>
                <a:spcPts val="3375"/>
              </a:lnSpc>
            </a:pPr>
            <a:r>
              <a:rPr lang="en-US" sz="2812" b="true">
                <a:solidFill>
                  <a:srgbClr val="6650D7"/>
                </a:solidFill>
                <a:latin typeface="Arial Bold"/>
                <a:ea typeface="Arial Bold"/>
                <a:cs typeface="Arial Bold"/>
                <a:sym typeface="Arial Bold"/>
              </a:rPr>
              <a:t>FPS entry route</a:t>
            </a:r>
          </a:p>
        </p:txBody>
      </p:sp>
      <p:sp>
        <p:nvSpPr>
          <p:cNvPr name="TextBox 24" id="24"/>
          <p:cNvSpPr txBox="true"/>
          <p:nvPr/>
        </p:nvSpPr>
        <p:spPr>
          <a:xfrm rot="0">
            <a:off x="4963478" y="6570345"/>
            <a:ext cx="12247245" cy="1113473"/>
          </a:xfrm>
          <a:prstGeom prst="rect">
            <a:avLst/>
          </a:prstGeom>
        </p:spPr>
        <p:txBody>
          <a:bodyPr anchor="t" rtlCol="false" tIns="0" lIns="0" bIns="0" rIns="0">
            <a:spAutoFit/>
          </a:bodyPr>
          <a:lstStyle/>
          <a:p>
            <a:pPr algn="l">
              <a:lnSpc>
                <a:spcPts val="3104"/>
              </a:lnSpc>
            </a:pPr>
            <a:r>
              <a:rPr lang="en-US" sz="2587">
                <a:solidFill>
                  <a:srgbClr val="17151F"/>
                </a:solidFill>
                <a:latin typeface="Arial"/>
                <a:ea typeface="Arial"/>
                <a:cs typeface="Arial"/>
                <a:sym typeface="Arial"/>
              </a:rPr>
              <a:t>Through a participating bank or licensed wallet. Start with customer-confirmed payment.</a:t>
            </a:r>
          </a:p>
          <a:p>
            <a:pPr algn="l">
              <a:lnSpc>
                <a:spcPts val="3104"/>
              </a:lnSpc>
            </a:pPr>
            <a:r>
              <a:rPr lang="en-US" sz="2587">
                <a:solidFill>
                  <a:srgbClr val="17151F"/>
                </a:solidFill>
                <a:latin typeface="Arial"/>
                <a:ea typeface="Arial"/>
                <a:cs typeface="Arial"/>
                <a:sym typeface="Arial"/>
              </a:rPr>
              <a:t>Unattended debit requires a supported provider mandate and explicit consent.</a:t>
            </a:r>
          </a:p>
        </p:txBody>
      </p:sp>
      <p:sp>
        <p:nvSpPr>
          <p:cNvPr name="TextBox 25" id="25"/>
          <p:cNvSpPr txBox="true"/>
          <p:nvPr/>
        </p:nvSpPr>
        <p:spPr>
          <a:xfrm rot="0">
            <a:off x="1005840" y="7970520"/>
            <a:ext cx="3631883" cy="541972"/>
          </a:xfrm>
          <a:prstGeom prst="rect">
            <a:avLst/>
          </a:prstGeom>
        </p:spPr>
        <p:txBody>
          <a:bodyPr anchor="t" rtlCol="false" tIns="0" lIns="0" bIns="0" rIns="0">
            <a:spAutoFit/>
          </a:bodyPr>
          <a:lstStyle/>
          <a:p>
            <a:pPr algn="l">
              <a:lnSpc>
                <a:spcPts val="3375"/>
              </a:lnSpc>
            </a:pPr>
            <a:r>
              <a:rPr lang="en-US" sz="2812" b="true">
                <a:solidFill>
                  <a:srgbClr val="6650D7"/>
                </a:solidFill>
                <a:latin typeface="Arial Bold"/>
                <a:ea typeface="Arial Bold"/>
                <a:cs typeface="Arial Bold"/>
                <a:sym typeface="Arial Bold"/>
              </a:rPr>
              <a:t>Card / wallet route</a:t>
            </a:r>
          </a:p>
        </p:txBody>
      </p:sp>
      <p:sp>
        <p:nvSpPr>
          <p:cNvPr name="TextBox 26" id="26"/>
          <p:cNvSpPr txBox="true"/>
          <p:nvPr/>
        </p:nvSpPr>
        <p:spPr>
          <a:xfrm rot="0">
            <a:off x="4963478" y="7913370"/>
            <a:ext cx="12247245" cy="1084898"/>
          </a:xfrm>
          <a:prstGeom prst="rect">
            <a:avLst/>
          </a:prstGeom>
        </p:spPr>
        <p:txBody>
          <a:bodyPr anchor="t" rtlCol="false" tIns="0" lIns="0" bIns="0" rIns="0">
            <a:spAutoFit/>
          </a:bodyPr>
          <a:lstStyle/>
          <a:p>
            <a:pPr algn="l">
              <a:lnSpc>
                <a:spcPts val="3104"/>
              </a:lnSpc>
            </a:pPr>
            <a:r>
              <a:rPr lang="en-US" sz="2587">
                <a:solidFill>
                  <a:srgbClr val="17151F"/>
                </a:solidFill>
                <a:latin typeface="Arial"/>
                <a:ea typeface="Arial"/>
                <a:cs typeface="Arial"/>
                <a:sym typeface="Arial"/>
              </a:rPr>
              <a:t>Contracted provider with tokenized credentials and merchant onboarding.</a:t>
            </a:r>
          </a:p>
          <a:p>
            <a:pPr algn="l">
              <a:lnSpc>
                <a:spcPts val="3104"/>
              </a:lnSpc>
            </a:pPr>
            <a:r>
              <a:rPr lang="en-US" sz="2587">
                <a:solidFill>
                  <a:srgbClr val="17151F"/>
                </a:solidFill>
                <a:latin typeface="Arial"/>
                <a:ea typeface="Arial"/>
                <a:cs typeface="Arial"/>
                <a:sym typeface="Arial"/>
              </a:rPr>
              <a:t>API access, supported permissions and callback verification remain dependencies.</a:t>
            </a:r>
          </a:p>
        </p:txBody>
      </p:sp>
      <p:sp>
        <p:nvSpPr>
          <p:cNvPr name="TextBox 27" id="27"/>
          <p:cNvSpPr txBox="true"/>
          <p:nvPr/>
        </p:nvSpPr>
        <p:spPr>
          <a:xfrm rot="0">
            <a:off x="1020127" y="9170670"/>
            <a:ext cx="16176307" cy="356235"/>
          </a:xfrm>
          <a:prstGeom prst="rect">
            <a:avLst/>
          </a:prstGeom>
        </p:spPr>
        <p:txBody>
          <a:bodyPr anchor="t" rtlCol="false" tIns="0" lIns="0" bIns="0" rIns="0">
            <a:spAutoFit/>
          </a:bodyPr>
          <a:lstStyle/>
          <a:p>
            <a:pPr algn="l">
              <a:lnSpc>
                <a:spcPts val="2700"/>
              </a:lnSpc>
            </a:pPr>
            <a:r>
              <a:rPr lang="en-US" sz="2250" b="true">
                <a:solidFill>
                  <a:srgbClr val="17151F"/>
                </a:solidFill>
                <a:latin typeface="Arial Bold"/>
                <a:ea typeface="Arial Bold"/>
                <a:cs typeface="Arial Bold"/>
                <a:sym typeface="Arial Bold"/>
              </a:rPr>
              <a:t>Timeout stays pending. Reconcile before retrying. Confirm failure before releasing a reservation.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DAHW_SDrx7E</dc:identifier>
  <dcterms:modified xsi:type="dcterms:W3CDTF">2011-08-01T06:04:30Z</dcterms:modified>
  <cp:revision>1</cp:revision>
  <dc:title>Final_Zev — Four Dimensions Pitch EN</dc:title>
</cp:coreProperties>
</file>
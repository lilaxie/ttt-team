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Open Sauce Bold" charset="1" panose="00000800000000000000"/>
      <p:regular r:id="rId18"/>
    </p:embeddedFont>
    <p:embeddedFont>
      <p:font typeface="Signature" charset="1" panose="00000000000000000000"/>
      <p:regular r:id="rId19"/>
    </p:embeddedFont>
    <p:embeddedFont>
      <p:font typeface="Open Sauce"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15.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jpeg" Type="http://schemas.openxmlformats.org/officeDocument/2006/relationships/image"/><Relationship Id="rId4" Target="../media/image19.jpeg" Type="http://schemas.openxmlformats.org/officeDocument/2006/relationships/image"/><Relationship Id="rId5" Target="../media/image2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2780501" y="3487673"/>
            <a:ext cx="12726999" cy="3997454"/>
          </a:xfrm>
          <a:prstGeom prst="rect">
            <a:avLst/>
          </a:prstGeom>
        </p:spPr>
        <p:txBody>
          <a:bodyPr anchor="t" rtlCol="false" tIns="0" lIns="0" bIns="0" rIns="0">
            <a:spAutoFit/>
          </a:bodyPr>
          <a:lstStyle/>
          <a:p>
            <a:pPr algn="ctr">
              <a:lnSpc>
                <a:spcPts val="14904"/>
              </a:lnSpc>
            </a:pPr>
            <a:r>
              <a:rPr lang="en-US" b="true" sz="18400" spc="-1324">
                <a:solidFill>
                  <a:srgbClr val="E9E9E9"/>
                </a:solidFill>
                <a:latin typeface="Open Sauce Bold"/>
                <a:ea typeface="Open Sauce Bold"/>
                <a:cs typeface="Open Sauce Bold"/>
                <a:sym typeface="Open Sauce Bold"/>
              </a:rPr>
              <a:t>PROPOSAL</a:t>
            </a:r>
          </a:p>
          <a:p>
            <a:pPr algn="ctr">
              <a:lnSpc>
                <a:spcPts val="14904"/>
              </a:lnSpc>
            </a:pPr>
            <a:r>
              <a:rPr lang="en-US" b="true" sz="18400" spc="-1324">
                <a:solidFill>
                  <a:srgbClr val="E9E9E9"/>
                </a:solidFill>
                <a:latin typeface="Open Sauce Bold"/>
                <a:ea typeface="Open Sauce Bold"/>
                <a:cs typeface="Open Sauce Bold"/>
                <a:sym typeface="Open Sauce Bold"/>
              </a:rPr>
              <a:t>PROPOSAL</a:t>
            </a:r>
          </a:p>
        </p:txBody>
      </p:sp>
      <p:grpSp>
        <p:nvGrpSpPr>
          <p:cNvPr name="Group 9" id="9"/>
          <p:cNvGrpSpPr/>
          <p:nvPr/>
        </p:nvGrpSpPr>
        <p:grpSpPr>
          <a:xfrm rot="0">
            <a:off x="8594906" y="3680317"/>
            <a:ext cx="721160" cy="296850"/>
            <a:chOff x="0" y="0"/>
            <a:chExt cx="189935" cy="78183"/>
          </a:xfrm>
        </p:grpSpPr>
        <p:sp>
          <p:nvSpPr>
            <p:cNvPr name="Freeform 10" id="10"/>
            <p:cNvSpPr/>
            <p:nvPr/>
          </p:nvSpPr>
          <p:spPr>
            <a:xfrm flipH="false" flipV="false" rot="0">
              <a:off x="0" y="0"/>
              <a:ext cx="189935" cy="78183"/>
            </a:xfrm>
            <a:custGeom>
              <a:avLst/>
              <a:gdLst/>
              <a:ahLst/>
              <a:cxnLst/>
              <a:rect r="r" b="b" t="t" l="l"/>
              <a:pathLst>
                <a:path h="78183" w="189935">
                  <a:moveTo>
                    <a:pt x="39091" y="0"/>
                  </a:moveTo>
                  <a:lnTo>
                    <a:pt x="150844" y="0"/>
                  </a:lnTo>
                  <a:cubicBezTo>
                    <a:pt x="172433" y="0"/>
                    <a:pt x="189935" y="17502"/>
                    <a:pt x="189935" y="39091"/>
                  </a:cubicBezTo>
                  <a:lnTo>
                    <a:pt x="189935" y="39091"/>
                  </a:lnTo>
                  <a:cubicBezTo>
                    <a:pt x="189935" y="49459"/>
                    <a:pt x="185817" y="59402"/>
                    <a:pt x="178485" y="66733"/>
                  </a:cubicBezTo>
                  <a:cubicBezTo>
                    <a:pt x="171154" y="74064"/>
                    <a:pt x="161211" y="78183"/>
                    <a:pt x="150844" y="78183"/>
                  </a:cubicBezTo>
                  <a:lnTo>
                    <a:pt x="39091" y="78183"/>
                  </a:lnTo>
                  <a:cubicBezTo>
                    <a:pt x="28724" y="78183"/>
                    <a:pt x="18781" y="74064"/>
                    <a:pt x="11450" y="66733"/>
                  </a:cubicBezTo>
                  <a:cubicBezTo>
                    <a:pt x="4119" y="59402"/>
                    <a:pt x="0" y="49459"/>
                    <a:pt x="0" y="39091"/>
                  </a:cubicBezTo>
                  <a:lnTo>
                    <a:pt x="0" y="39091"/>
                  </a:lnTo>
                  <a:cubicBezTo>
                    <a:pt x="0" y="28724"/>
                    <a:pt x="4119" y="18781"/>
                    <a:pt x="11450" y="11450"/>
                  </a:cubicBezTo>
                  <a:cubicBezTo>
                    <a:pt x="18781" y="4119"/>
                    <a:pt x="28724" y="0"/>
                    <a:pt x="39091" y="0"/>
                  </a:cubicBezTo>
                  <a:close/>
                </a:path>
              </a:pathLst>
            </a:custGeom>
            <a:solidFill>
              <a:srgbClr val="2449CC"/>
            </a:solidFill>
          </p:spPr>
        </p:sp>
        <p:sp>
          <p:nvSpPr>
            <p:cNvPr name="TextBox 11" id="11"/>
            <p:cNvSpPr txBox="true"/>
            <p:nvPr/>
          </p:nvSpPr>
          <p:spPr>
            <a:xfrm>
              <a:off x="0" y="-38100"/>
              <a:ext cx="189935" cy="116283"/>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396244" y="3680317"/>
            <a:ext cx="296850" cy="29685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CC"/>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3096993" y="3691418"/>
            <a:ext cx="12094015" cy="2567476"/>
          </a:xfrm>
          <a:prstGeom prst="rect">
            <a:avLst/>
          </a:prstGeom>
        </p:spPr>
        <p:txBody>
          <a:bodyPr anchor="t" rtlCol="false" tIns="0" lIns="0" bIns="0" rIns="0">
            <a:spAutoFit/>
          </a:bodyPr>
          <a:lstStyle/>
          <a:p>
            <a:pPr algn="ctr">
              <a:lnSpc>
                <a:spcPts val="21068"/>
              </a:lnSpc>
            </a:pPr>
            <a:r>
              <a:rPr lang="en-US" b="true" sz="15048" spc="-1083">
                <a:solidFill>
                  <a:srgbClr val="F1F1F1"/>
                </a:solidFill>
                <a:latin typeface="Open Sauce Bold"/>
                <a:ea typeface="Open Sauce Bold"/>
                <a:cs typeface="Open Sauce Bold"/>
                <a:sym typeface="Open Sauce Bold"/>
              </a:rPr>
              <a:t>BUSINESS</a:t>
            </a:r>
          </a:p>
        </p:txBody>
      </p:sp>
      <p:sp>
        <p:nvSpPr>
          <p:cNvPr name="TextBox 16" id="16"/>
          <p:cNvSpPr txBox="true"/>
          <p:nvPr/>
        </p:nvSpPr>
        <p:spPr>
          <a:xfrm rot="0">
            <a:off x="4603582" y="4058279"/>
            <a:ext cx="9080836" cy="1941843"/>
          </a:xfrm>
          <a:prstGeom prst="rect">
            <a:avLst/>
          </a:prstGeom>
        </p:spPr>
        <p:txBody>
          <a:bodyPr anchor="t" rtlCol="false" tIns="0" lIns="0" bIns="0" rIns="0">
            <a:spAutoFit/>
          </a:bodyPr>
          <a:lstStyle/>
          <a:p>
            <a:pPr algn="ctr">
              <a:lnSpc>
                <a:spcPts val="15819"/>
              </a:lnSpc>
            </a:pPr>
            <a:r>
              <a:rPr lang="en-US" b="true" sz="11299" spc="-813">
                <a:solidFill>
                  <a:srgbClr val="212121"/>
                </a:solidFill>
                <a:latin typeface="Open Sauce Bold"/>
                <a:ea typeface="Open Sauce Bold"/>
                <a:cs typeface="Open Sauce Bold"/>
                <a:sym typeface="Open Sauce Bold"/>
              </a:rPr>
              <a:t>BUSINESS</a:t>
            </a:r>
          </a:p>
        </p:txBody>
      </p:sp>
      <p:sp>
        <p:nvSpPr>
          <p:cNvPr name="TextBox 17" id="17"/>
          <p:cNvSpPr txBox="true"/>
          <p:nvPr/>
        </p:nvSpPr>
        <p:spPr>
          <a:xfrm rot="0">
            <a:off x="5507095" y="4278997"/>
            <a:ext cx="7273810" cy="3477617"/>
          </a:xfrm>
          <a:prstGeom prst="rect">
            <a:avLst/>
          </a:prstGeom>
        </p:spPr>
        <p:txBody>
          <a:bodyPr anchor="t" rtlCol="false" tIns="0" lIns="0" bIns="0" rIns="0">
            <a:spAutoFit/>
          </a:bodyPr>
          <a:lstStyle/>
          <a:p>
            <a:pPr algn="ctr">
              <a:lnSpc>
                <a:spcPts val="28231"/>
              </a:lnSpc>
            </a:pPr>
            <a:r>
              <a:rPr lang="en-US" sz="20165" spc="-141">
                <a:solidFill>
                  <a:srgbClr val="2449CC"/>
                </a:solidFill>
                <a:latin typeface="Signature"/>
                <a:ea typeface="Signature"/>
                <a:cs typeface="Signature"/>
                <a:sym typeface="Signature"/>
              </a:rPr>
              <a:t>Proposal</a:t>
            </a:r>
          </a:p>
        </p:txBody>
      </p:sp>
      <p:sp>
        <p:nvSpPr>
          <p:cNvPr name="TextBox 18" id="18"/>
          <p:cNvSpPr txBox="true"/>
          <p:nvPr/>
        </p:nvSpPr>
        <p:spPr>
          <a:xfrm rot="0">
            <a:off x="8362617" y="9229725"/>
            <a:ext cx="1562766" cy="240784"/>
          </a:xfrm>
          <a:prstGeom prst="rect">
            <a:avLst/>
          </a:prstGeom>
        </p:spPr>
        <p:txBody>
          <a:bodyPr anchor="t" rtlCol="false" tIns="0" lIns="0" bIns="0" rIns="0">
            <a:spAutoFit/>
          </a:bodyPr>
          <a:lstStyle/>
          <a:p>
            <a:pPr algn="ctr">
              <a:lnSpc>
                <a:spcPts val="1953"/>
              </a:lnSpc>
            </a:pPr>
            <a:r>
              <a:rPr lang="en-US" sz="1395" spc="-12">
                <a:solidFill>
                  <a:srgbClr val="212121"/>
                </a:solidFill>
                <a:latin typeface="Open Sauce"/>
                <a:ea typeface="Open Sauce"/>
                <a:cs typeface="Open Sauce"/>
                <a:sym typeface="Open Sauce"/>
              </a:rPr>
              <a:t>PRESENTED BY:</a:t>
            </a:r>
          </a:p>
        </p:txBody>
      </p:sp>
      <p:sp>
        <p:nvSpPr>
          <p:cNvPr name="TextBox 19" id="19"/>
          <p:cNvSpPr txBox="true"/>
          <p:nvPr/>
        </p:nvSpPr>
        <p:spPr>
          <a:xfrm rot="0">
            <a:off x="7935763" y="9441934"/>
            <a:ext cx="2416473" cy="240784"/>
          </a:xfrm>
          <a:prstGeom prst="rect">
            <a:avLst/>
          </a:prstGeom>
        </p:spPr>
        <p:txBody>
          <a:bodyPr anchor="t" rtlCol="false" tIns="0" lIns="0" bIns="0" rIns="0">
            <a:spAutoFit/>
          </a:bodyPr>
          <a:lstStyle/>
          <a:p>
            <a:pPr algn="ctr">
              <a:lnSpc>
                <a:spcPts val="1953"/>
              </a:lnSpc>
            </a:pPr>
            <a:r>
              <a:rPr lang="en-US" b="true" sz="1395" spc="-12">
                <a:solidFill>
                  <a:srgbClr val="212121"/>
                </a:solidFill>
                <a:latin typeface="Open Sauce Bold"/>
                <a:ea typeface="Open Sauce Bold"/>
                <a:cs typeface="Open Sauce Bold"/>
                <a:sym typeface="Open Sauce Bold"/>
              </a:rPr>
              <a:t>PHYLLIS SCHWAIGER</a:t>
            </a:r>
          </a:p>
        </p:txBody>
      </p:sp>
      <p:grpSp>
        <p:nvGrpSpPr>
          <p:cNvPr name="Group 20" id="20"/>
          <p:cNvGrpSpPr/>
          <p:nvPr/>
        </p:nvGrpSpPr>
        <p:grpSpPr>
          <a:xfrm rot="0">
            <a:off x="-1209843" y="-602900"/>
            <a:ext cx="4554972" cy="1205800"/>
            <a:chOff x="0" y="0"/>
            <a:chExt cx="1199663" cy="317577"/>
          </a:xfrm>
        </p:grpSpPr>
        <p:sp>
          <p:nvSpPr>
            <p:cNvPr name="Freeform 21" id="21"/>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22" id="22"/>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4942871" y="9684100"/>
            <a:ext cx="4554972" cy="1205800"/>
            <a:chOff x="0" y="0"/>
            <a:chExt cx="1199663" cy="317577"/>
          </a:xfrm>
        </p:grpSpPr>
        <p:sp>
          <p:nvSpPr>
            <p:cNvPr name="Freeform 24" id="24"/>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25" id="25"/>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258421" y="3441534"/>
            <a:ext cx="7634352" cy="3012452"/>
            <a:chOff x="0" y="0"/>
            <a:chExt cx="1182761" cy="466708"/>
          </a:xfrm>
        </p:grpSpPr>
        <p:sp>
          <p:nvSpPr>
            <p:cNvPr name="Freeform 15" id="15"/>
            <p:cNvSpPr/>
            <p:nvPr/>
          </p:nvSpPr>
          <p:spPr>
            <a:xfrm flipH="false" flipV="false" rot="0">
              <a:off x="0" y="0"/>
              <a:ext cx="1182761" cy="466708"/>
            </a:xfrm>
            <a:custGeom>
              <a:avLst/>
              <a:gdLst/>
              <a:ahLst/>
              <a:cxnLst/>
              <a:rect r="r" b="b" t="t" l="l"/>
              <a:pathLst>
                <a:path h="466708" w="1182761">
                  <a:moveTo>
                    <a:pt x="23324" y="0"/>
                  </a:moveTo>
                  <a:lnTo>
                    <a:pt x="1159437" y="0"/>
                  </a:lnTo>
                  <a:cubicBezTo>
                    <a:pt x="1172318" y="0"/>
                    <a:pt x="1182761" y="10443"/>
                    <a:pt x="1182761" y="23324"/>
                  </a:cubicBezTo>
                  <a:lnTo>
                    <a:pt x="1182761" y="443384"/>
                  </a:lnTo>
                  <a:cubicBezTo>
                    <a:pt x="1182761" y="456265"/>
                    <a:pt x="1172318" y="466708"/>
                    <a:pt x="1159437" y="466708"/>
                  </a:cubicBezTo>
                  <a:lnTo>
                    <a:pt x="23324" y="466708"/>
                  </a:lnTo>
                  <a:cubicBezTo>
                    <a:pt x="17138" y="466708"/>
                    <a:pt x="11206" y="464250"/>
                    <a:pt x="6831" y="459876"/>
                  </a:cubicBezTo>
                  <a:cubicBezTo>
                    <a:pt x="2457" y="455502"/>
                    <a:pt x="0" y="449569"/>
                    <a:pt x="0" y="443384"/>
                  </a:cubicBezTo>
                  <a:lnTo>
                    <a:pt x="0" y="23324"/>
                  </a:lnTo>
                  <a:cubicBezTo>
                    <a:pt x="0" y="17138"/>
                    <a:pt x="2457" y="11206"/>
                    <a:pt x="6831" y="6831"/>
                  </a:cubicBezTo>
                  <a:cubicBezTo>
                    <a:pt x="11206" y="2457"/>
                    <a:pt x="17138" y="0"/>
                    <a:pt x="23324" y="0"/>
                  </a:cubicBezTo>
                  <a:close/>
                </a:path>
              </a:pathLst>
            </a:custGeom>
            <a:blipFill>
              <a:blip r:embed="rId2"/>
              <a:stretch>
                <a:fillRect l="0" t="-11333" r="0" b="-50542"/>
              </a:stretch>
            </a:blipFill>
            <a:ln w="9525" cap="rnd">
              <a:solidFill>
                <a:srgbClr val="212121"/>
              </a:solidFill>
              <a:prstDash val="solid"/>
              <a:round/>
            </a:ln>
          </p:spPr>
        </p:sp>
      </p:grpSp>
      <p:grpSp>
        <p:nvGrpSpPr>
          <p:cNvPr name="Group 16" id="16"/>
          <p:cNvGrpSpPr/>
          <p:nvPr/>
        </p:nvGrpSpPr>
        <p:grpSpPr>
          <a:xfrm rot="0">
            <a:off x="9395227" y="3441534"/>
            <a:ext cx="7634352" cy="3012452"/>
            <a:chOff x="0" y="0"/>
            <a:chExt cx="1182761" cy="466708"/>
          </a:xfrm>
        </p:grpSpPr>
        <p:sp>
          <p:nvSpPr>
            <p:cNvPr name="Freeform 17" id="17"/>
            <p:cNvSpPr/>
            <p:nvPr/>
          </p:nvSpPr>
          <p:spPr>
            <a:xfrm flipH="false" flipV="false" rot="0">
              <a:off x="0" y="0"/>
              <a:ext cx="1182761" cy="466708"/>
            </a:xfrm>
            <a:custGeom>
              <a:avLst/>
              <a:gdLst/>
              <a:ahLst/>
              <a:cxnLst/>
              <a:rect r="r" b="b" t="t" l="l"/>
              <a:pathLst>
                <a:path h="466708" w="1182761">
                  <a:moveTo>
                    <a:pt x="23324" y="0"/>
                  </a:moveTo>
                  <a:lnTo>
                    <a:pt x="1159437" y="0"/>
                  </a:lnTo>
                  <a:cubicBezTo>
                    <a:pt x="1172318" y="0"/>
                    <a:pt x="1182761" y="10443"/>
                    <a:pt x="1182761" y="23324"/>
                  </a:cubicBezTo>
                  <a:lnTo>
                    <a:pt x="1182761" y="443384"/>
                  </a:lnTo>
                  <a:cubicBezTo>
                    <a:pt x="1182761" y="456265"/>
                    <a:pt x="1172318" y="466708"/>
                    <a:pt x="1159437" y="466708"/>
                  </a:cubicBezTo>
                  <a:lnTo>
                    <a:pt x="23324" y="466708"/>
                  </a:lnTo>
                  <a:cubicBezTo>
                    <a:pt x="17138" y="466708"/>
                    <a:pt x="11206" y="464250"/>
                    <a:pt x="6831" y="459876"/>
                  </a:cubicBezTo>
                  <a:cubicBezTo>
                    <a:pt x="2457" y="455502"/>
                    <a:pt x="0" y="449569"/>
                    <a:pt x="0" y="443384"/>
                  </a:cubicBezTo>
                  <a:lnTo>
                    <a:pt x="0" y="23324"/>
                  </a:lnTo>
                  <a:cubicBezTo>
                    <a:pt x="0" y="17138"/>
                    <a:pt x="2457" y="11206"/>
                    <a:pt x="6831" y="6831"/>
                  </a:cubicBezTo>
                  <a:cubicBezTo>
                    <a:pt x="11206" y="2457"/>
                    <a:pt x="17138" y="0"/>
                    <a:pt x="23324" y="0"/>
                  </a:cubicBezTo>
                  <a:close/>
                </a:path>
              </a:pathLst>
            </a:custGeom>
            <a:blipFill>
              <a:blip r:embed="rId3"/>
              <a:stretch>
                <a:fillRect l="0" t="-5521" r="0" b="-63482"/>
              </a:stretch>
            </a:blipFill>
            <a:ln w="9525" cap="rnd">
              <a:solidFill>
                <a:srgbClr val="212121"/>
              </a:solidFill>
              <a:prstDash val="solid"/>
              <a:round/>
            </a:ln>
          </p:spPr>
        </p:sp>
      </p:grpSp>
      <p:grpSp>
        <p:nvGrpSpPr>
          <p:cNvPr name="Group 18" id="18"/>
          <p:cNvGrpSpPr/>
          <p:nvPr/>
        </p:nvGrpSpPr>
        <p:grpSpPr>
          <a:xfrm rot="0">
            <a:off x="9857118" y="5784586"/>
            <a:ext cx="6737536" cy="1338798"/>
            <a:chOff x="0" y="0"/>
            <a:chExt cx="1774495" cy="352605"/>
          </a:xfrm>
        </p:grpSpPr>
        <p:sp>
          <p:nvSpPr>
            <p:cNvPr name="Freeform 19" id="19"/>
            <p:cNvSpPr/>
            <p:nvPr/>
          </p:nvSpPr>
          <p:spPr>
            <a:xfrm flipH="false" flipV="false" rot="0">
              <a:off x="0" y="0"/>
              <a:ext cx="1774495" cy="352605"/>
            </a:xfrm>
            <a:custGeom>
              <a:avLst/>
              <a:gdLst/>
              <a:ahLst/>
              <a:cxnLst/>
              <a:rect r="r" b="b" t="t" l="l"/>
              <a:pathLst>
                <a:path h="352605" w="1774495">
                  <a:moveTo>
                    <a:pt x="33323" y="0"/>
                  </a:moveTo>
                  <a:lnTo>
                    <a:pt x="1741172" y="0"/>
                  </a:lnTo>
                  <a:cubicBezTo>
                    <a:pt x="1759576" y="0"/>
                    <a:pt x="1774495" y="14919"/>
                    <a:pt x="1774495" y="33323"/>
                  </a:cubicBezTo>
                  <a:lnTo>
                    <a:pt x="1774495" y="319282"/>
                  </a:lnTo>
                  <a:cubicBezTo>
                    <a:pt x="1774495" y="337686"/>
                    <a:pt x="1759576" y="352605"/>
                    <a:pt x="1741172" y="352605"/>
                  </a:cubicBezTo>
                  <a:lnTo>
                    <a:pt x="33323" y="352605"/>
                  </a:lnTo>
                  <a:cubicBezTo>
                    <a:pt x="14919" y="352605"/>
                    <a:pt x="0" y="337686"/>
                    <a:pt x="0" y="319282"/>
                  </a:cubicBezTo>
                  <a:lnTo>
                    <a:pt x="0" y="33323"/>
                  </a:lnTo>
                  <a:cubicBezTo>
                    <a:pt x="0" y="14919"/>
                    <a:pt x="14919" y="0"/>
                    <a:pt x="33323" y="0"/>
                  </a:cubicBezTo>
                  <a:close/>
                </a:path>
              </a:pathLst>
            </a:custGeom>
            <a:solidFill>
              <a:srgbClr val="FFFFFF"/>
            </a:solidFill>
            <a:ln w="9525" cap="rnd">
              <a:solidFill>
                <a:srgbClr val="212121"/>
              </a:solidFill>
              <a:prstDash val="solid"/>
              <a:round/>
            </a:ln>
          </p:spPr>
        </p:sp>
        <p:sp>
          <p:nvSpPr>
            <p:cNvPr name="TextBox 20" id="20"/>
            <p:cNvSpPr txBox="true"/>
            <p:nvPr/>
          </p:nvSpPr>
          <p:spPr>
            <a:xfrm>
              <a:off x="0" y="-38100"/>
              <a:ext cx="1774495" cy="39070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5388854" y="4540600"/>
            <a:ext cx="1205800" cy="1205800"/>
            <a:chOff x="0" y="0"/>
            <a:chExt cx="317577" cy="317577"/>
          </a:xfrm>
        </p:grpSpPr>
        <p:sp>
          <p:nvSpPr>
            <p:cNvPr name="Freeform 22" id="22"/>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449CC"/>
            </a:solidFill>
          </p:spPr>
        </p:sp>
        <p:sp>
          <p:nvSpPr>
            <p:cNvPr name="TextBox 23" id="23"/>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5631110" y="4782856"/>
            <a:ext cx="721288" cy="721288"/>
          </a:xfrm>
          <a:custGeom>
            <a:avLst/>
            <a:gdLst/>
            <a:ahLst/>
            <a:cxnLst/>
            <a:rect r="r" b="b" t="t" l="l"/>
            <a:pathLst>
              <a:path h="721288" w="721288">
                <a:moveTo>
                  <a:pt x="0" y="0"/>
                </a:moveTo>
                <a:lnTo>
                  <a:pt x="721288" y="0"/>
                </a:lnTo>
                <a:lnTo>
                  <a:pt x="721288" y="721288"/>
                </a:lnTo>
                <a:lnTo>
                  <a:pt x="0" y="721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5266375" y="1516167"/>
            <a:ext cx="7755250" cy="1217295"/>
          </a:xfrm>
          <a:prstGeom prst="rect">
            <a:avLst/>
          </a:prstGeom>
        </p:spPr>
        <p:txBody>
          <a:bodyPr anchor="t" rtlCol="false" tIns="0" lIns="0" bIns="0" rIns="0">
            <a:spAutoFit/>
          </a:bodyPr>
          <a:lstStyle/>
          <a:p>
            <a:pPr algn="ctr">
              <a:lnSpc>
                <a:spcPts val="10080"/>
              </a:lnSpc>
            </a:pPr>
            <a:r>
              <a:rPr lang="en-US" b="true" sz="7200" spc="-518">
                <a:solidFill>
                  <a:srgbClr val="212121"/>
                </a:solidFill>
                <a:latin typeface="Open Sauce Bold"/>
                <a:ea typeface="Open Sauce Bold"/>
                <a:cs typeface="Open Sauce Bold"/>
                <a:sym typeface="Open Sauce Bold"/>
              </a:rPr>
              <a:t>INTRODUCTION</a:t>
            </a:r>
          </a:p>
        </p:txBody>
      </p:sp>
      <p:sp>
        <p:nvSpPr>
          <p:cNvPr name="TextBox 26" id="26"/>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2</a:t>
            </a:r>
          </a:p>
        </p:txBody>
      </p:sp>
      <p:sp>
        <p:nvSpPr>
          <p:cNvPr name="TextBox 27" id="27"/>
          <p:cNvSpPr txBox="true"/>
          <p:nvPr/>
        </p:nvSpPr>
        <p:spPr>
          <a:xfrm rot="0">
            <a:off x="1258421" y="7311831"/>
            <a:ext cx="7343762" cy="1495374"/>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8" id="28"/>
          <p:cNvSpPr txBox="true"/>
          <p:nvPr/>
        </p:nvSpPr>
        <p:spPr>
          <a:xfrm rot="0">
            <a:off x="10292488" y="6083134"/>
            <a:ext cx="5942995" cy="713129"/>
          </a:xfrm>
          <a:prstGeom prst="rect">
            <a:avLst/>
          </a:prstGeom>
        </p:spPr>
        <p:txBody>
          <a:bodyPr anchor="t" rtlCol="false" tIns="0" lIns="0" bIns="0" rIns="0">
            <a:spAutoFit/>
          </a:bodyPr>
          <a:lstStyle/>
          <a:p>
            <a:pPr algn="l">
              <a:lnSpc>
                <a:spcPts val="2959"/>
              </a:lnSpc>
            </a:pPr>
            <a:r>
              <a:rPr lang="en-US" sz="2113" b="true">
                <a:solidFill>
                  <a:srgbClr val="212121"/>
                </a:solidFill>
                <a:latin typeface="Open Sauce Bold"/>
                <a:ea typeface="Open Sauce Bold"/>
                <a:cs typeface="Open Sauce Bold"/>
                <a:sym typeface="Open Sauce Bold"/>
              </a:rPr>
              <a:t>This proposal outlines our strategy to grow, innovate, and deliver outstanding value.</a:t>
            </a:r>
          </a:p>
        </p:txBody>
      </p:sp>
      <p:sp>
        <p:nvSpPr>
          <p:cNvPr name="TextBox 29" id="29"/>
          <p:cNvSpPr txBox="true"/>
          <p:nvPr/>
        </p:nvSpPr>
        <p:spPr>
          <a:xfrm rot="0">
            <a:off x="9554005" y="8576786"/>
            <a:ext cx="7343762" cy="230419"/>
          </a:xfrm>
          <a:prstGeom prst="rect">
            <a:avLst/>
          </a:prstGeom>
        </p:spPr>
        <p:txBody>
          <a:bodyPr anchor="t" rtlCol="false" tIns="0" lIns="0" bIns="0" rIns="0">
            <a:spAutoFit/>
          </a:bodyPr>
          <a:lstStyle/>
          <a:p>
            <a:pPr algn="ctr">
              <a:lnSpc>
                <a:spcPts val="1999"/>
              </a:lnSpc>
            </a:pPr>
            <a:r>
              <a:rPr lang="en-US" sz="1428">
                <a:solidFill>
                  <a:srgbClr val="636363"/>
                </a:solidFill>
                <a:latin typeface="Open Sauce"/>
                <a:ea typeface="Open Sauce"/>
                <a:cs typeface="Open Sauce"/>
                <a:sym typeface="Open Sauce"/>
              </a:rPr>
              <a:t>www.reallygreatsite.com | @reallygreatsite | hello@reallygreatsite.com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3</a:t>
            </a:r>
          </a:p>
        </p:txBody>
      </p:sp>
      <p:sp>
        <p:nvSpPr>
          <p:cNvPr name="TextBox 15" id="15"/>
          <p:cNvSpPr txBox="true"/>
          <p:nvPr/>
        </p:nvSpPr>
        <p:spPr>
          <a:xfrm rot="0">
            <a:off x="-76200" y="849195"/>
            <a:ext cx="12726999" cy="3997454"/>
          </a:xfrm>
          <a:prstGeom prst="rect">
            <a:avLst/>
          </a:prstGeom>
        </p:spPr>
        <p:txBody>
          <a:bodyPr anchor="t" rtlCol="false" tIns="0" lIns="0" bIns="0" rIns="0">
            <a:spAutoFit/>
          </a:bodyPr>
          <a:lstStyle/>
          <a:p>
            <a:pPr algn="l">
              <a:lnSpc>
                <a:spcPts val="14904"/>
              </a:lnSpc>
            </a:pPr>
            <a:r>
              <a:rPr lang="en-US" b="true" sz="18400" spc="-1324">
                <a:solidFill>
                  <a:srgbClr val="E9E9E9"/>
                </a:solidFill>
                <a:latin typeface="Open Sauce Bold"/>
                <a:ea typeface="Open Sauce Bold"/>
                <a:cs typeface="Open Sauce Bold"/>
                <a:sym typeface="Open Sauce Bold"/>
              </a:rPr>
              <a:t>BUSINESS</a:t>
            </a:r>
          </a:p>
          <a:p>
            <a:pPr algn="ctr">
              <a:lnSpc>
                <a:spcPts val="14904"/>
              </a:lnSpc>
            </a:pPr>
            <a:r>
              <a:rPr lang="en-US" b="true" sz="18400" spc="-1324">
                <a:solidFill>
                  <a:srgbClr val="E9E9E9"/>
                </a:solidFill>
                <a:latin typeface="Open Sauce Bold"/>
                <a:ea typeface="Open Sauce Bold"/>
                <a:cs typeface="Open Sauce Bold"/>
                <a:sym typeface="Open Sauce Bold"/>
              </a:rPr>
              <a:t>PROPOSAL</a:t>
            </a:r>
          </a:p>
        </p:txBody>
      </p:sp>
      <p:sp>
        <p:nvSpPr>
          <p:cNvPr name="TextBox 16" id="16"/>
          <p:cNvSpPr txBox="true"/>
          <p:nvPr/>
        </p:nvSpPr>
        <p:spPr>
          <a:xfrm rot="0">
            <a:off x="1773883" y="2214023"/>
            <a:ext cx="5330759" cy="1742313"/>
          </a:xfrm>
          <a:prstGeom prst="rect">
            <a:avLst/>
          </a:prstGeom>
        </p:spPr>
        <p:txBody>
          <a:bodyPr anchor="t" rtlCol="false" tIns="0" lIns="0" bIns="0" rIns="0">
            <a:spAutoFit/>
          </a:bodyPr>
          <a:lstStyle/>
          <a:p>
            <a:pPr algn="l">
              <a:lnSpc>
                <a:spcPts val="6696"/>
              </a:lnSpc>
            </a:pPr>
            <a:r>
              <a:rPr lang="en-US" b="true" sz="7200" spc="-518">
                <a:solidFill>
                  <a:srgbClr val="212121"/>
                </a:solidFill>
                <a:latin typeface="Open Sauce Bold"/>
                <a:ea typeface="Open Sauce Bold"/>
                <a:cs typeface="Open Sauce Bold"/>
                <a:sym typeface="Open Sauce Bold"/>
              </a:rPr>
              <a:t>PROBLEM STATEMENT</a:t>
            </a:r>
          </a:p>
        </p:txBody>
      </p:sp>
      <p:sp>
        <p:nvSpPr>
          <p:cNvPr name="TextBox 17" id="17"/>
          <p:cNvSpPr txBox="true"/>
          <p:nvPr/>
        </p:nvSpPr>
        <p:spPr>
          <a:xfrm rot="0">
            <a:off x="1773883" y="7533931"/>
            <a:ext cx="7873085" cy="739071"/>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name="Group 18" id="18"/>
          <p:cNvGrpSpPr/>
          <p:nvPr/>
        </p:nvGrpSpPr>
        <p:grpSpPr>
          <a:xfrm rot="0">
            <a:off x="1773883" y="4724438"/>
            <a:ext cx="7683073" cy="1533143"/>
            <a:chOff x="0" y="0"/>
            <a:chExt cx="2023525" cy="403791"/>
          </a:xfrm>
        </p:grpSpPr>
        <p:sp>
          <p:nvSpPr>
            <p:cNvPr name="Freeform 19" id="19"/>
            <p:cNvSpPr/>
            <p:nvPr/>
          </p:nvSpPr>
          <p:spPr>
            <a:xfrm flipH="false" flipV="false" rot="0">
              <a:off x="0" y="0"/>
              <a:ext cx="2023525" cy="403791"/>
            </a:xfrm>
            <a:custGeom>
              <a:avLst/>
              <a:gdLst/>
              <a:ahLst/>
              <a:cxnLst/>
              <a:rect r="r" b="b" t="t" l="l"/>
              <a:pathLst>
                <a:path h="403791" w="2023525">
                  <a:moveTo>
                    <a:pt x="100766" y="0"/>
                  </a:moveTo>
                  <a:lnTo>
                    <a:pt x="1922759" y="0"/>
                  </a:lnTo>
                  <a:cubicBezTo>
                    <a:pt x="1949484" y="0"/>
                    <a:pt x="1975114" y="10616"/>
                    <a:pt x="1994012" y="29514"/>
                  </a:cubicBezTo>
                  <a:cubicBezTo>
                    <a:pt x="2012909" y="48411"/>
                    <a:pt x="2023525" y="74041"/>
                    <a:pt x="2023525" y="100766"/>
                  </a:cubicBezTo>
                  <a:lnTo>
                    <a:pt x="2023525" y="303025"/>
                  </a:lnTo>
                  <a:cubicBezTo>
                    <a:pt x="2023525" y="358676"/>
                    <a:pt x="1978411" y="403791"/>
                    <a:pt x="1922759" y="403791"/>
                  </a:cubicBezTo>
                  <a:lnTo>
                    <a:pt x="100766" y="403791"/>
                  </a:lnTo>
                  <a:cubicBezTo>
                    <a:pt x="45114" y="403791"/>
                    <a:pt x="0" y="358676"/>
                    <a:pt x="0" y="303025"/>
                  </a:cubicBezTo>
                  <a:lnTo>
                    <a:pt x="0" y="100766"/>
                  </a:lnTo>
                  <a:cubicBezTo>
                    <a:pt x="0" y="45114"/>
                    <a:pt x="45114" y="0"/>
                    <a:pt x="100766" y="0"/>
                  </a:cubicBezTo>
                  <a:close/>
                </a:path>
              </a:pathLst>
            </a:custGeom>
            <a:gradFill rotWithShape="true">
              <a:gsLst>
                <a:gs pos="0">
                  <a:srgbClr val="2449CC">
                    <a:alpha val="100000"/>
                  </a:srgbClr>
                </a:gs>
                <a:gs pos="100000">
                  <a:srgbClr val="FFFFFF">
                    <a:alpha val="100000"/>
                  </a:srgbClr>
                </a:gs>
              </a:gsLst>
              <a:lin ang="0"/>
            </a:gradFill>
            <a:ln w="9525" cap="rnd">
              <a:solidFill>
                <a:srgbClr val="212121"/>
              </a:solidFill>
              <a:prstDash val="solid"/>
              <a:round/>
            </a:ln>
          </p:spPr>
        </p:sp>
        <p:sp>
          <p:nvSpPr>
            <p:cNvPr name="TextBox 20" id="20"/>
            <p:cNvSpPr txBox="true"/>
            <p:nvPr/>
          </p:nvSpPr>
          <p:spPr>
            <a:xfrm>
              <a:off x="0" y="-38100"/>
              <a:ext cx="2023525" cy="44189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773883" y="4724438"/>
            <a:ext cx="7683073" cy="1533143"/>
            <a:chOff x="0" y="0"/>
            <a:chExt cx="1190309" cy="237524"/>
          </a:xfrm>
        </p:grpSpPr>
        <p:sp>
          <p:nvSpPr>
            <p:cNvPr name="Freeform 22" id="22"/>
            <p:cNvSpPr/>
            <p:nvPr/>
          </p:nvSpPr>
          <p:spPr>
            <a:xfrm flipH="false" flipV="false" rot="0">
              <a:off x="0" y="0"/>
              <a:ext cx="1190309" cy="237524"/>
            </a:xfrm>
            <a:custGeom>
              <a:avLst/>
              <a:gdLst/>
              <a:ahLst/>
              <a:cxnLst/>
              <a:rect r="r" b="b" t="t" l="l"/>
              <a:pathLst>
                <a:path h="237524" w="1190309">
                  <a:moveTo>
                    <a:pt x="100766" y="0"/>
                  </a:moveTo>
                  <a:lnTo>
                    <a:pt x="1089543" y="0"/>
                  </a:lnTo>
                  <a:cubicBezTo>
                    <a:pt x="1145195" y="0"/>
                    <a:pt x="1190309" y="45114"/>
                    <a:pt x="1190309" y="100766"/>
                  </a:cubicBezTo>
                  <a:lnTo>
                    <a:pt x="1190309" y="136758"/>
                  </a:lnTo>
                  <a:cubicBezTo>
                    <a:pt x="1190309" y="192410"/>
                    <a:pt x="1145195" y="237524"/>
                    <a:pt x="1089543" y="237524"/>
                  </a:cubicBezTo>
                  <a:lnTo>
                    <a:pt x="100766" y="237524"/>
                  </a:lnTo>
                  <a:cubicBezTo>
                    <a:pt x="45114" y="237524"/>
                    <a:pt x="0" y="192410"/>
                    <a:pt x="0" y="136758"/>
                  </a:cubicBezTo>
                  <a:lnTo>
                    <a:pt x="0" y="100766"/>
                  </a:lnTo>
                  <a:cubicBezTo>
                    <a:pt x="0" y="45114"/>
                    <a:pt x="45114" y="0"/>
                    <a:pt x="100766" y="0"/>
                  </a:cubicBezTo>
                  <a:close/>
                </a:path>
              </a:pathLst>
            </a:custGeom>
            <a:blipFill>
              <a:blip r:embed="rId2">
                <a:alphaModFix amt="19999"/>
              </a:blip>
              <a:stretch>
                <a:fillRect l="0" t="-170154" r="0" b="-61845"/>
              </a:stretch>
            </a:blipFill>
            <a:ln w="9525" cap="rnd">
              <a:solidFill>
                <a:srgbClr val="212121">
                  <a:alpha val="19608"/>
                </a:srgbClr>
              </a:solidFill>
              <a:prstDash val="solid"/>
              <a:round/>
            </a:ln>
          </p:spPr>
        </p:sp>
      </p:grpSp>
      <p:sp>
        <p:nvSpPr>
          <p:cNvPr name="TextBox 23" id="23"/>
          <p:cNvSpPr txBox="true"/>
          <p:nvPr/>
        </p:nvSpPr>
        <p:spPr>
          <a:xfrm rot="0">
            <a:off x="1773883" y="7076731"/>
            <a:ext cx="2665379" cy="261890"/>
          </a:xfrm>
          <a:prstGeom prst="rect">
            <a:avLst/>
          </a:prstGeom>
        </p:spPr>
        <p:txBody>
          <a:bodyPr anchor="t" rtlCol="false" tIns="0" lIns="0" bIns="0" rIns="0">
            <a:spAutoFit/>
          </a:bodyPr>
          <a:lstStyle/>
          <a:p>
            <a:pPr algn="l">
              <a:lnSpc>
                <a:spcPts val="1936"/>
              </a:lnSpc>
            </a:pPr>
            <a:r>
              <a:rPr lang="en-US" sz="2081" b="true">
                <a:solidFill>
                  <a:srgbClr val="212121"/>
                </a:solidFill>
                <a:latin typeface="Open Sauce Bold"/>
                <a:ea typeface="Open Sauce Bold"/>
                <a:cs typeface="Open Sauce Bold"/>
                <a:sym typeface="Open Sauce Bold"/>
              </a:rPr>
              <a:t>STATEMENT 01</a:t>
            </a:r>
          </a:p>
        </p:txBody>
      </p:sp>
      <p:grpSp>
        <p:nvGrpSpPr>
          <p:cNvPr name="Group 24" id="24"/>
          <p:cNvGrpSpPr/>
          <p:nvPr/>
        </p:nvGrpSpPr>
        <p:grpSpPr>
          <a:xfrm rot="0">
            <a:off x="10173851" y="2013998"/>
            <a:ext cx="6340266" cy="6259005"/>
            <a:chOff x="0" y="0"/>
            <a:chExt cx="1669864" cy="1648462"/>
          </a:xfrm>
        </p:grpSpPr>
        <p:sp>
          <p:nvSpPr>
            <p:cNvPr name="Freeform 25" id="25"/>
            <p:cNvSpPr/>
            <p:nvPr/>
          </p:nvSpPr>
          <p:spPr>
            <a:xfrm flipH="false" flipV="false" rot="0">
              <a:off x="0" y="0"/>
              <a:ext cx="1669864" cy="1648462"/>
            </a:xfrm>
            <a:custGeom>
              <a:avLst/>
              <a:gdLst/>
              <a:ahLst/>
              <a:cxnLst/>
              <a:rect r="r" b="b" t="t" l="l"/>
              <a:pathLst>
                <a:path h="1648462" w="1669864">
                  <a:moveTo>
                    <a:pt x="35411" y="0"/>
                  </a:moveTo>
                  <a:lnTo>
                    <a:pt x="1634453" y="0"/>
                  </a:lnTo>
                  <a:cubicBezTo>
                    <a:pt x="1654010" y="0"/>
                    <a:pt x="1669864" y="15854"/>
                    <a:pt x="1669864" y="35411"/>
                  </a:cubicBezTo>
                  <a:lnTo>
                    <a:pt x="1669864" y="1613051"/>
                  </a:lnTo>
                  <a:cubicBezTo>
                    <a:pt x="1669864" y="1622443"/>
                    <a:pt x="1666133" y="1631450"/>
                    <a:pt x="1659493" y="1638091"/>
                  </a:cubicBezTo>
                  <a:cubicBezTo>
                    <a:pt x="1652852" y="1644731"/>
                    <a:pt x="1643845" y="1648462"/>
                    <a:pt x="1634453" y="1648462"/>
                  </a:cubicBezTo>
                  <a:lnTo>
                    <a:pt x="35411" y="1648462"/>
                  </a:lnTo>
                  <a:cubicBezTo>
                    <a:pt x="15854" y="1648462"/>
                    <a:pt x="0" y="1632608"/>
                    <a:pt x="0" y="1613051"/>
                  </a:cubicBezTo>
                  <a:lnTo>
                    <a:pt x="0" y="35411"/>
                  </a:lnTo>
                  <a:cubicBezTo>
                    <a:pt x="0" y="26019"/>
                    <a:pt x="3731" y="17013"/>
                    <a:pt x="10372" y="10372"/>
                  </a:cubicBezTo>
                  <a:cubicBezTo>
                    <a:pt x="17013" y="3731"/>
                    <a:pt x="26019" y="0"/>
                    <a:pt x="35411" y="0"/>
                  </a:cubicBezTo>
                  <a:close/>
                </a:path>
              </a:pathLst>
            </a:custGeom>
            <a:solidFill>
              <a:srgbClr val="FFFFFF"/>
            </a:solidFill>
            <a:ln w="9525" cap="rnd">
              <a:solidFill>
                <a:srgbClr val="212121"/>
              </a:solidFill>
              <a:prstDash val="solid"/>
              <a:round/>
            </a:ln>
          </p:spPr>
        </p:sp>
        <p:sp>
          <p:nvSpPr>
            <p:cNvPr name="TextBox 26" id="26"/>
            <p:cNvSpPr txBox="true"/>
            <p:nvPr/>
          </p:nvSpPr>
          <p:spPr>
            <a:xfrm>
              <a:off x="0" y="-38100"/>
              <a:ext cx="1669864" cy="1686562"/>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2381734" y="2501766"/>
            <a:ext cx="3892340" cy="1082251"/>
          </a:xfrm>
          <a:prstGeom prst="rect">
            <a:avLst/>
          </a:prstGeom>
        </p:spPr>
        <p:txBody>
          <a:bodyPr anchor="t" rtlCol="false" tIns="0" lIns="0" bIns="0" rIns="0">
            <a:spAutoFit/>
          </a:bodyPr>
          <a:lstStyle/>
          <a:p>
            <a:pPr algn="l">
              <a:lnSpc>
                <a:spcPts val="2959"/>
              </a:lnSpc>
            </a:pPr>
            <a:r>
              <a:rPr lang="en-US" sz="2113" b="true">
                <a:solidFill>
                  <a:srgbClr val="212121"/>
                </a:solidFill>
                <a:latin typeface="Open Sauce Bold"/>
                <a:ea typeface="Open Sauce Bold"/>
                <a:cs typeface="Open Sauce Bold"/>
                <a:sym typeface="Open Sauce Bold"/>
              </a:rPr>
              <a:t>The market lacks efficient and affordable solutions to expand business reach</a:t>
            </a:r>
          </a:p>
        </p:txBody>
      </p:sp>
      <p:grpSp>
        <p:nvGrpSpPr>
          <p:cNvPr name="Group 28" id="28"/>
          <p:cNvGrpSpPr/>
          <p:nvPr/>
        </p:nvGrpSpPr>
        <p:grpSpPr>
          <a:xfrm rot="0">
            <a:off x="10655369" y="2458329"/>
            <a:ext cx="1249929" cy="1197702"/>
            <a:chOff x="0" y="0"/>
            <a:chExt cx="193647" cy="185555"/>
          </a:xfrm>
        </p:grpSpPr>
        <p:sp>
          <p:nvSpPr>
            <p:cNvPr name="Freeform 29" id="29"/>
            <p:cNvSpPr/>
            <p:nvPr/>
          </p:nvSpPr>
          <p:spPr>
            <a:xfrm flipH="false" flipV="false" rot="0">
              <a:off x="0" y="0"/>
              <a:ext cx="193647" cy="185555"/>
            </a:xfrm>
            <a:custGeom>
              <a:avLst/>
              <a:gdLst/>
              <a:ahLst/>
              <a:cxnLst/>
              <a:rect r="r" b="b" t="t" l="l"/>
              <a:pathLst>
                <a:path h="185555" w="193647">
                  <a:moveTo>
                    <a:pt x="92778" y="0"/>
                  </a:moveTo>
                  <a:lnTo>
                    <a:pt x="100869" y="0"/>
                  </a:lnTo>
                  <a:cubicBezTo>
                    <a:pt x="125475" y="0"/>
                    <a:pt x="149074" y="9775"/>
                    <a:pt x="166473" y="27174"/>
                  </a:cubicBezTo>
                  <a:cubicBezTo>
                    <a:pt x="183872" y="44573"/>
                    <a:pt x="193647" y="68171"/>
                    <a:pt x="193647" y="92778"/>
                  </a:cubicBezTo>
                  <a:lnTo>
                    <a:pt x="193647" y="92778"/>
                  </a:lnTo>
                  <a:cubicBezTo>
                    <a:pt x="193647" y="144017"/>
                    <a:pt x="152109" y="185555"/>
                    <a:pt x="100869" y="185555"/>
                  </a:cubicBezTo>
                  <a:lnTo>
                    <a:pt x="92778" y="185555"/>
                  </a:lnTo>
                  <a:cubicBezTo>
                    <a:pt x="68171" y="185555"/>
                    <a:pt x="44573" y="175781"/>
                    <a:pt x="27174" y="158381"/>
                  </a:cubicBezTo>
                  <a:cubicBezTo>
                    <a:pt x="9775" y="140982"/>
                    <a:pt x="0" y="117384"/>
                    <a:pt x="0" y="92778"/>
                  </a:cubicBezTo>
                  <a:lnTo>
                    <a:pt x="0" y="92778"/>
                  </a:lnTo>
                  <a:cubicBezTo>
                    <a:pt x="0" y="68171"/>
                    <a:pt x="9775" y="44573"/>
                    <a:pt x="27174" y="27174"/>
                  </a:cubicBezTo>
                  <a:cubicBezTo>
                    <a:pt x="44573" y="9775"/>
                    <a:pt x="68171" y="0"/>
                    <a:pt x="92778" y="0"/>
                  </a:cubicBezTo>
                  <a:close/>
                </a:path>
              </a:pathLst>
            </a:custGeom>
            <a:blipFill>
              <a:blip r:embed="rId3"/>
              <a:stretch>
                <a:fillRect l="0" t="-28172" r="0" b="-28172"/>
              </a:stretch>
            </a:blipFill>
            <a:ln w="9525" cap="rnd">
              <a:solidFill>
                <a:srgbClr val="212121"/>
              </a:solidFill>
              <a:prstDash val="solid"/>
              <a:round/>
            </a:ln>
          </p:spPr>
        </p:sp>
      </p:grpSp>
      <p:grpSp>
        <p:nvGrpSpPr>
          <p:cNvPr name="Group 30" id="30"/>
          <p:cNvGrpSpPr/>
          <p:nvPr/>
        </p:nvGrpSpPr>
        <p:grpSpPr>
          <a:xfrm rot="0">
            <a:off x="7938200" y="4121538"/>
            <a:ext cx="1205800" cy="1205800"/>
            <a:chOff x="0" y="0"/>
            <a:chExt cx="317577" cy="317577"/>
          </a:xfrm>
        </p:grpSpPr>
        <p:sp>
          <p:nvSpPr>
            <p:cNvPr name="Freeform 31" id="31"/>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449CC"/>
            </a:solidFill>
          </p:spPr>
        </p:sp>
        <p:sp>
          <p:nvSpPr>
            <p:cNvPr name="TextBox 32" id="32"/>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sp>
        <p:nvSpPr>
          <p:cNvPr name="Freeform 33" id="33"/>
          <p:cNvSpPr/>
          <p:nvPr/>
        </p:nvSpPr>
        <p:spPr>
          <a:xfrm flipH="false" flipV="false" rot="0">
            <a:off x="8180456" y="4363794"/>
            <a:ext cx="721288" cy="721288"/>
          </a:xfrm>
          <a:custGeom>
            <a:avLst/>
            <a:gdLst/>
            <a:ahLst/>
            <a:cxnLst/>
            <a:rect r="r" b="b" t="t" l="l"/>
            <a:pathLst>
              <a:path h="721288" w="721288">
                <a:moveTo>
                  <a:pt x="0" y="0"/>
                </a:moveTo>
                <a:lnTo>
                  <a:pt x="721288" y="0"/>
                </a:lnTo>
                <a:lnTo>
                  <a:pt x="721288" y="721288"/>
                </a:lnTo>
                <a:lnTo>
                  <a:pt x="0" y="721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4" id="34"/>
          <p:cNvSpPr txBox="true"/>
          <p:nvPr/>
        </p:nvSpPr>
        <p:spPr>
          <a:xfrm rot="0">
            <a:off x="10655369" y="4525329"/>
            <a:ext cx="5350316" cy="2503777"/>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a:t>
            </a:r>
          </a:p>
          <a:p>
            <a:pPr algn="l">
              <a:lnSpc>
                <a:spcPts val="1999"/>
              </a:lnSpc>
            </a:pPr>
          </a:p>
          <a:p>
            <a:pPr algn="l">
              <a:lnSpc>
                <a:spcPts val="1999"/>
              </a:lnSpc>
            </a:pPr>
          </a:p>
          <a:p>
            <a:pPr algn="l">
              <a:lnSpc>
                <a:spcPts val="1999"/>
              </a:lnSpc>
            </a:pPr>
            <a:r>
              <a:rPr lang="en-US" sz="1428">
                <a:solidFill>
                  <a:srgbClr val="636363"/>
                </a:solidFill>
                <a:latin typeface="Open Sauce"/>
                <a:ea typeface="Open Sauce"/>
                <a:cs typeface="Open Sauce"/>
                <a:sym typeface="Open Sauce"/>
              </a:rPr>
              <a:t>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35" id="35"/>
          <p:cNvSpPr txBox="true"/>
          <p:nvPr/>
        </p:nvSpPr>
        <p:spPr>
          <a:xfrm rot="0">
            <a:off x="10655369" y="7682573"/>
            <a:ext cx="5132834" cy="230419"/>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www.reallygreatsite.com | hello@reallygreatsite.com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4</a:t>
            </a:r>
          </a:p>
        </p:txBody>
      </p:sp>
      <p:sp>
        <p:nvSpPr>
          <p:cNvPr name="TextBox 15" id="15"/>
          <p:cNvSpPr txBox="true"/>
          <p:nvPr/>
        </p:nvSpPr>
        <p:spPr>
          <a:xfrm rot="0">
            <a:off x="1773883" y="4372356"/>
            <a:ext cx="5330759" cy="1742313"/>
          </a:xfrm>
          <a:prstGeom prst="rect">
            <a:avLst/>
          </a:prstGeom>
        </p:spPr>
        <p:txBody>
          <a:bodyPr anchor="t" rtlCol="false" tIns="0" lIns="0" bIns="0" rIns="0">
            <a:spAutoFit/>
          </a:bodyPr>
          <a:lstStyle/>
          <a:p>
            <a:pPr algn="l">
              <a:lnSpc>
                <a:spcPts val="6696"/>
              </a:lnSpc>
            </a:pPr>
            <a:r>
              <a:rPr lang="en-US" b="true" sz="7200" spc="-518">
                <a:solidFill>
                  <a:srgbClr val="212121"/>
                </a:solidFill>
                <a:latin typeface="Open Sauce Bold"/>
                <a:ea typeface="Open Sauce Bold"/>
                <a:cs typeface="Open Sauce Bold"/>
                <a:sym typeface="Open Sauce Bold"/>
              </a:rPr>
              <a:t>OUR SOLUTION</a:t>
            </a:r>
          </a:p>
        </p:txBody>
      </p:sp>
      <p:sp>
        <p:nvSpPr>
          <p:cNvPr name="TextBox 16" id="16"/>
          <p:cNvSpPr txBox="true"/>
          <p:nvPr/>
        </p:nvSpPr>
        <p:spPr>
          <a:xfrm rot="0">
            <a:off x="1773883" y="7342497"/>
            <a:ext cx="5132834" cy="230419"/>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www.reallygreatsite.com | hello@reallygreatsite.com</a:t>
            </a:r>
          </a:p>
        </p:txBody>
      </p:sp>
      <p:grpSp>
        <p:nvGrpSpPr>
          <p:cNvPr name="Group 17" id="17"/>
          <p:cNvGrpSpPr/>
          <p:nvPr/>
        </p:nvGrpSpPr>
        <p:grpSpPr>
          <a:xfrm rot="0">
            <a:off x="8473473" y="2364437"/>
            <a:ext cx="6469398" cy="1484044"/>
            <a:chOff x="0" y="0"/>
            <a:chExt cx="1703874" cy="390859"/>
          </a:xfrm>
        </p:grpSpPr>
        <p:sp>
          <p:nvSpPr>
            <p:cNvPr name="Freeform 18" id="18"/>
            <p:cNvSpPr/>
            <p:nvPr/>
          </p:nvSpPr>
          <p:spPr>
            <a:xfrm flipH="false" flipV="false" rot="0">
              <a:off x="0" y="0"/>
              <a:ext cx="1703874" cy="390859"/>
            </a:xfrm>
            <a:custGeom>
              <a:avLst/>
              <a:gdLst/>
              <a:ahLst/>
              <a:cxnLst/>
              <a:rect r="r" b="b" t="t" l="l"/>
              <a:pathLst>
                <a:path h="390859" w="1703874">
                  <a:moveTo>
                    <a:pt x="34704" y="0"/>
                  </a:moveTo>
                  <a:lnTo>
                    <a:pt x="1669170" y="0"/>
                  </a:lnTo>
                  <a:cubicBezTo>
                    <a:pt x="1688337" y="0"/>
                    <a:pt x="1703874" y="15538"/>
                    <a:pt x="1703874" y="34704"/>
                  </a:cubicBezTo>
                  <a:lnTo>
                    <a:pt x="1703874" y="356155"/>
                  </a:lnTo>
                  <a:cubicBezTo>
                    <a:pt x="1703874" y="375322"/>
                    <a:pt x="1688337" y="390859"/>
                    <a:pt x="1669170" y="390859"/>
                  </a:cubicBezTo>
                  <a:lnTo>
                    <a:pt x="34704" y="390859"/>
                  </a:lnTo>
                  <a:cubicBezTo>
                    <a:pt x="15538" y="390859"/>
                    <a:pt x="0" y="375322"/>
                    <a:pt x="0" y="356155"/>
                  </a:cubicBezTo>
                  <a:lnTo>
                    <a:pt x="0" y="34704"/>
                  </a:lnTo>
                  <a:cubicBezTo>
                    <a:pt x="0" y="15538"/>
                    <a:pt x="15538" y="0"/>
                    <a:pt x="34704" y="0"/>
                  </a:cubicBezTo>
                  <a:close/>
                </a:path>
              </a:pathLst>
            </a:custGeom>
            <a:solidFill>
              <a:srgbClr val="FFFFFF"/>
            </a:solidFill>
            <a:ln w="9525" cap="rnd">
              <a:solidFill>
                <a:srgbClr val="212121"/>
              </a:solidFill>
              <a:prstDash val="solid"/>
              <a:round/>
            </a:ln>
          </p:spPr>
        </p:sp>
        <p:sp>
          <p:nvSpPr>
            <p:cNvPr name="TextBox 19" id="19"/>
            <p:cNvSpPr txBox="true"/>
            <p:nvPr/>
          </p:nvSpPr>
          <p:spPr>
            <a:xfrm>
              <a:off x="0" y="-38100"/>
              <a:ext cx="1703874" cy="428959"/>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9097309" y="2756835"/>
            <a:ext cx="5221726" cy="713129"/>
          </a:xfrm>
          <a:prstGeom prst="rect">
            <a:avLst/>
          </a:prstGeom>
        </p:spPr>
        <p:txBody>
          <a:bodyPr anchor="t" rtlCol="false" tIns="0" lIns="0" bIns="0" rIns="0">
            <a:spAutoFit/>
          </a:bodyPr>
          <a:lstStyle/>
          <a:p>
            <a:pPr algn="l">
              <a:lnSpc>
                <a:spcPts val="2959"/>
              </a:lnSpc>
            </a:pPr>
            <a:r>
              <a:rPr lang="en-US" sz="2113" b="true">
                <a:solidFill>
                  <a:srgbClr val="212121"/>
                </a:solidFill>
                <a:latin typeface="Open Sauce Bold"/>
                <a:ea typeface="Open Sauce Bold"/>
                <a:cs typeface="Open Sauce Bold"/>
                <a:sym typeface="Open Sauce Bold"/>
              </a:rPr>
              <a:t>We offer a practical, scalable solution to meet this need.</a:t>
            </a:r>
          </a:p>
        </p:txBody>
      </p:sp>
      <p:grpSp>
        <p:nvGrpSpPr>
          <p:cNvPr name="Group 21" id="21"/>
          <p:cNvGrpSpPr/>
          <p:nvPr/>
        </p:nvGrpSpPr>
        <p:grpSpPr>
          <a:xfrm rot="0">
            <a:off x="10481436" y="4172331"/>
            <a:ext cx="6469398" cy="1484044"/>
            <a:chOff x="0" y="0"/>
            <a:chExt cx="1703874" cy="390859"/>
          </a:xfrm>
        </p:grpSpPr>
        <p:sp>
          <p:nvSpPr>
            <p:cNvPr name="Freeform 22" id="22"/>
            <p:cNvSpPr/>
            <p:nvPr/>
          </p:nvSpPr>
          <p:spPr>
            <a:xfrm flipH="false" flipV="false" rot="0">
              <a:off x="0" y="0"/>
              <a:ext cx="1703874" cy="390859"/>
            </a:xfrm>
            <a:custGeom>
              <a:avLst/>
              <a:gdLst/>
              <a:ahLst/>
              <a:cxnLst/>
              <a:rect r="r" b="b" t="t" l="l"/>
              <a:pathLst>
                <a:path h="390859" w="1703874">
                  <a:moveTo>
                    <a:pt x="34704" y="0"/>
                  </a:moveTo>
                  <a:lnTo>
                    <a:pt x="1669170" y="0"/>
                  </a:lnTo>
                  <a:cubicBezTo>
                    <a:pt x="1688337" y="0"/>
                    <a:pt x="1703874" y="15538"/>
                    <a:pt x="1703874" y="34704"/>
                  </a:cubicBezTo>
                  <a:lnTo>
                    <a:pt x="1703874" y="356155"/>
                  </a:lnTo>
                  <a:cubicBezTo>
                    <a:pt x="1703874" y="375322"/>
                    <a:pt x="1688337" y="390859"/>
                    <a:pt x="1669170" y="390859"/>
                  </a:cubicBezTo>
                  <a:lnTo>
                    <a:pt x="34704" y="390859"/>
                  </a:lnTo>
                  <a:cubicBezTo>
                    <a:pt x="15538" y="390859"/>
                    <a:pt x="0" y="375322"/>
                    <a:pt x="0" y="356155"/>
                  </a:cubicBezTo>
                  <a:lnTo>
                    <a:pt x="0" y="34704"/>
                  </a:lnTo>
                  <a:cubicBezTo>
                    <a:pt x="0" y="15538"/>
                    <a:pt x="15538" y="0"/>
                    <a:pt x="34704" y="0"/>
                  </a:cubicBezTo>
                  <a:close/>
                </a:path>
              </a:pathLst>
            </a:custGeom>
            <a:solidFill>
              <a:srgbClr val="FFFFFF"/>
            </a:solidFill>
            <a:ln w="9525" cap="rnd">
              <a:solidFill>
                <a:srgbClr val="212121"/>
              </a:solidFill>
              <a:prstDash val="solid"/>
              <a:round/>
            </a:ln>
          </p:spPr>
        </p:sp>
        <p:sp>
          <p:nvSpPr>
            <p:cNvPr name="TextBox 23" id="23"/>
            <p:cNvSpPr txBox="true"/>
            <p:nvPr/>
          </p:nvSpPr>
          <p:spPr>
            <a:xfrm>
              <a:off x="0" y="-38100"/>
              <a:ext cx="1703874" cy="428959"/>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922760" y="4564729"/>
            <a:ext cx="5586750" cy="713129"/>
          </a:xfrm>
          <a:prstGeom prst="rect">
            <a:avLst/>
          </a:prstGeom>
        </p:spPr>
        <p:txBody>
          <a:bodyPr anchor="t" rtlCol="false" tIns="0" lIns="0" bIns="0" rIns="0">
            <a:spAutoFit/>
          </a:bodyPr>
          <a:lstStyle/>
          <a:p>
            <a:pPr algn="l">
              <a:lnSpc>
                <a:spcPts val="2959"/>
              </a:lnSpc>
            </a:pPr>
            <a:r>
              <a:rPr lang="en-US" sz="2113" b="true">
                <a:solidFill>
                  <a:srgbClr val="212121"/>
                </a:solidFill>
                <a:latin typeface="Open Sauce Bold"/>
                <a:ea typeface="Open Sauce Bold"/>
                <a:cs typeface="Open Sauce Bold"/>
                <a:sym typeface="Open Sauce Bold"/>
              </a:rPr>
              <a:t>Our product/service is designed to solve the problem quickly and effectively.</a:t>
            </a:r>
          </a:p>
        </p:txBody>
      </p:sp>
      <p:grpSp>
        <p:nvGrpSpPr>
          <p:cNvPr name="Group 25" id="25"/>
          <p:cNvGrpSpPr/>
          <p:nvPr/>
        </p:nvGrpSpPr>
        <p:grpSpPr>
          <a:xfrm rot="0">
            <a:off x="8473473" y="5961006"/>
            <a:ext cx="8477361" cy="2423872"/>
            <a:chOff x="0" y="0"/>
            <a:chExt cx="1391860" cy="397965"/>
          </a:xfrm>
        </p:grpSpPr>
        <p:sp>
          <p:nvSpPr>
            <p:cNvPr name="Freeform 26" id="26"/>
            <p:cNvSpPr/>
            <p:nvPr/>
          </p:nvSpPr>
          <p:spPr>
            <a:xfrm flipH="false" flipV="false" rot="0">
              <a:off x="0" y="0"/>
              <a:ext cx="1391860" cy="397965"/>
            </a:xfrm>
            <a:custGeom>
              <a:avLst/>
              <a:gdLst/>
              <a:ahLst/>
              <a:cxnLst/>
              <a:rect r="r" b="b" t="t" l="l"/>
              <a:pathLst>
                <a:path h="397965" w="1391860">
                  <a:moveTo>
                    <a:pt x="21005" y="0"/>
                  </a:moveTo>
                  <a:lnTo>
                    <a:pt x="1370855" y="0"/>
                  </a:lnTo>
                  <a:cubicBezTo>
                    <a:pt x="1382456" y="0"/>
                    <a:pt x="1391860" y="9404"/>
                    <a:pt x="1391860" y="21005"/>
                  </a:cubicBezTo>
                  <a:lnTo>
                    <a:pt x="1391860" y="376960"/>
                  </a:lnTo>
                  <a:cubicBezTo>
                    <a:pt x="1391860" y="388561"/>
                    <a:pt x="1382456" y="397965"/>
                    <a:pt x="1370855" y="397965"/>
                  </a:cubicBezTo>
                  <a:lnTo>
                    <a:pt x="21005" y="397965"/>
                  </a:lnTo>
                  <a:cubicBezTo>
                    <a:pt x="9404" y="397965"/>
                    <a:pt x="0" y="388561"/>
                    <a:pt x="0" y="376960"/>
                  </a:cubicBezTo>
                  <a:lnTo>
                    <a:pt x="0" y="21005"/>
                  </a:lnTo>
                  <a:cubicBezTo>
                    <a:pt x="0" y="9404"/>
                    <a:pt x="9404" y="0"/>
                    <a:pt x="21005" y="0"/>
                  </a:cubicBezTo>
                  <a:close/>
                </a:path>
              </a:pathLst>
            </a:custGeom>
            <a:blipFill>
              <a:blip r:embed="rId2"/>
              <a:stretch>
                <a:fillRect l="0" t="-36926" r="0" b="-36926"/>
              </a:stretch>
            </a:blipFill>
            <a:ln w="9525" cap="rnd">
              <a:solidFill>
                <a:srgbClr val="212121"/>
              </a:solidFill>
              <a:prstDash val="solid"/>
              <a:round/>
            </a:ln>
          </p:spPr>
        </p:sp>
      </p:grpSp>
      <p:grpSp>
        <p:nvGrpSpPr>
          <p:cNvPr name="Group 27" id="27"/>
          <p:cNvGrpSpPr/>
          <p:nvPr/>
        </p:nvGrpSpPr>
        <p:grpSpPr>
          <a:xfrm rot="0">
            <a:off x="8871373" y="5358106"/>
            <a:ext cx="1205800" cy="1205800"/>
            <a:chOff x="0" y="0"/>
            <a:chExt cx="317577" cy="317577"/>
          </a:xfrm>
        </p:grpSpPr>
        <p:sp>
          <p:nvSpPr>
            <p:cNvPr name="Freeform 28" id="28"/>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449CC"/>
            </a:solidFill>
          </p:spPr>
        </p:sp>
        <p:sp>
          <p:nvSpPr>
            <p:cNvPr name="TextBox 29" id="29"/>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sp>
        <p:nvSpPr>
          <p:cNvPr name="Freeform 30" id="30"/>
          <p:cNvSpPr/>
          <p:nvPr/>
        </p:nvSpPr>
        <p:spPr>
          <a:xfrm flipH="false" flipV="false" rot="0">
            <a:off x="9113629" y="5600362"/>
            <a:ext cx="721288" cy="721288"/>
          </a:xfrm>
          <a:custGeom>
            <a:avLst/>
            <a:gdLst/>
            <a:ahLst/>
            <a:cxnLst/>
            <a:rect r="r" b="b" t="t" l="l"/>
            <a:pathLst>
              <a:path h="721288" w="721288">
                <a:moveTo>
                  <a:pt x="0" y="0"/>
                </a:moveTo>
                <a:lnTo>
                  <a:pt x="721288" y="0"/>
                </a:lnTo>
                <a:lnTo>
                  <a:pt x="721288" y="721288"/>
                </a:lnTo>
                <a:lnTo>
                  <a:pt x="0" y="7212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5</a:t>
            </a:r>
          </a:p>
        </p:txBody>
      </p:sp>
      <p:sp>
        <p:nvSpPr>
          <p:cNvPr name="TextBox 15" id="15"/>
          <p:cNvSpPr txBox="true"/>
          <p:nvPr/>
        </p:nvSpPr>
        <p:spPr>
          <a:xfrm rot="0">
            <a:off x="5677986" y="1599576"/>
            <a:ext cx="6932028" cy="1742313"/>
          </a:xfrm>
          <a:prstGeom prst="rect">
            <a:avLst/>
          </a:prstGeom>
        </p:spPr>
        <p:txBody>
          <a:bodyPr anchor="t" rtlCol="false" tIns="0" lIns="0" bIns="0" rIns="0">
            <a:spAutoFit/>
          </a:bodyPr>
          <a:lstStyle/>
          <a:p>
            <a:pPr algn="ctr">
              <a:lnSpc>
                <a:spcPts val="6696"/>
              </a:lnSpc>
            </a:pPr>
            <a:r>
              <a:rPr lang="en-US" b="true" sz="7200" spc="-518">
                <a:solidFill>
                  <a:srgbClr val="212121"/>
                </a:solidFill>
                <a:latin typeface="Open Sauce Bold"/>
                <a:ea typeface="Open Sauce Bold"/>
                <a:cs typeface="Open Sauce Bold"/>
                <a:sym typeface="Open Sauce Bold"/>
              </a:rPr>
              <a:t>MARKET OPPORTUNITY</a:t>
            </a:r>
          </a:p>
        </p:txBody>
      </p:sp>
      <p:grpSp>
        <p:nvGrpSpPr>
          <p:cNvPr name="Group 16" id="16"/>
          <p:cNvGrpSpPr/>
          <p:nvPr/>
        </p:nvGrpSpPr>
        <p:grpSpPr>
          <a:xfrm rot="0">
            <a:off x="1299786" y="4141989"/>
            <a:ext cx="6917753" cy="1484044"/>
            <a:chOff x="0" y="0"/>
            <a:chExt cx="1821960" cy="390859"/>
          </a:xfrm>
        </p:grpSpPr>
        <p:sp>
          <p:nvSpPr>
            <p:cNvPr name="Freeform 17" id="17"/>
            <p:cNvSpPr/>
            <p:nvPr/>
          </p:nvSpPr>
          <p:spPr>
            <a:xfrm flipH="false" flipV="false" rot="0">
              <a:off x="0" y="0"/>
              <a:ext cx="1821960" cy="390859"/>
            </a:xfrm>
            <a:custGeom>
              <a:avLst/>
              <a:gdLst/>
              <a:ahLst/>
              <a:cxnLst/>
              <a:rect r="r" b="b" t="t" l="l"/>
              <a:pathLst>
                <a:path h="390859" w="1821960">
                  <a:moveTo>
                    <a:pt x="32455" y="0"/>
                  </a:moveTo>
                  <a:lnTo>
                    <a:pt x="1789505" y="0"/>
                  </a:lnTo>
                  <a:cubicBezTo>
                    <a:pt x="1798112" y="0"/>
                    <a:pt x="1806367" y="3419"/>
                    <a:pt x="1812454" y="9506"/>
                  </a:cubicBezTo>
                  <a:cubicBezTo>
                    <a:pt x="1818540" y="15592"/>
                    <a:pt x="1821960" y="23847"/>
                    <a:pt x="1821960" y="32455"/>
                  </a:cubicBezTo>
                  <a:lnTo>
                    <a:pt x="1821960" y="358404"/>
                  </a:lnTo>
                  <a:cubicBezTo>
                    <a:pt x="1821960" y="367012"/>
                    <a:pt x="1818540" y="375267"/>
                    <a:pt x="1812454" y="381353"/>
                  </a:cubicBezTo>
                  <a:cubicBezTo>
                    <a:pt x="1806367" y="387440"/>
                    <a:pt x="1798112" y="390859"/>
                    <a:pt x="1789505" y="390859"/>
                  </a:cubicBezTo>
                  <a:lnTo>
                    <a:pt x="32455" y="390859"/>
                  </a:lnTo>
                  <a:cubicBezTo>
                    <a:pt x="23847" y="390859"/>
                    <a:pt x="15592" y="387440"/>
                    <a:pt x="9506" y="381353"/>
                  </a:cubicBezTo>
                  <a:cubicBezTo>
                    <a:pt x="3419" y="375267"/>
                    <a:pt x="0" y="367012"/>
                    <a:pt x="0" y="358404"/>
                  </a:cubicBezTo>
                  <a:lnTo>
                    <a:pt x="0" y="32455"/>
                  </a:lnTo>
                  <a:cubicBezTo>
                    <a:pt x="0" y="23847"/>
                    <a:pt x="3419" y="15592"/>
                    <a:pt x="9506" y="9506"/>
                  </a:cubicBezTo>
                  <a:cubicBezTo>
                    <a:pt x="15592" y="3419"/>
                    <a:pt x="23847" y="0"/>
                    <a:pt x="32455" y="0"/>
                  </a:cubicBezTo>
                  <a:close/>
                </a:path>
              </a:pathLst>
            </a:custGeom>
            <a:solidFill>
              <a:srgbClr val="FFFFFF"/>
            </a:solidFill>
            <a:ln w="9525" cap="rnd">
              <a:solidFill>
                <a:srgbClr val="212121"/>
              </a:solidFill>
              <a:prstDash val="solid"/>
              <a:round/>
            </a:ln>
          </p:spPr>
        </p:sp>
        <p:sp>
          <p:nvSpPr>
            <p:cNvPr name="TextBox 18" id="18"/>
            <p:cNvSpPr txBox="true"/>
            <p:nvPr/>
          </p:nvSpPr>
          <p:spPr>
            <a:xfrm>
              <a:off x="0" y="-38100"/>
              <a:ext cx="1821960" cy="428959"/>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1923621" y="4534386"/>
            <a:ext cx="5845562" cy="713129"/>
          </a:xfrm>
          <a:prstGeom prst="rect">
            <a:avLst/>
          </a:prstGeom>
        </p:spPr>
        <p:txBody>
          <a:bodyPr anchor="t" rtlCol="false" tIns="0" lIns="0" bIns="0" rIns="0">
            <a:spAutoFit/>
          </a:bodyPr>
          <a:lstStyle/>
          <a:p>
            <a:pPr algn="l">
              <a:lnSpc>
                <a:spcPts val="2959"/>
              </a:lnSpc>
            </a:pPr>
            <a:r>
              <a:rPr lang="en-US" sz="2113" b="true">
                <a:solidFill>
                  <a:srgbClr val="212121"/>
                </a:solidFill>
                <a:latin typeface="Open Sauce Bold"/>
                <a:ea typeface="Open Sauce Bold"/>
                <a:cs typeface="Open Sauce Bold"/>
                <a:sym typeface="Open Sauce Bold"/>
              </a:rPr>
              <a:t>The market is growing fast, with increasing demand for our type of solution.</a:t>
            </a:r>
          </a:p>
        </p:txBody>
      </p:sp>
      <p:pic>
        <p:nvPicPr>
          <p:cNvPr name="Picture 20" id="20"/>
          <p:cNvPicPr>
            <a:picLocks noChangeAspect="true"/>
          </p:cNvPicPr>
          <p:nvPr/>
        </p:nvPicPr>
        <p:blipFill>
          <a:blip r:embed="rId2"/>
          <a:stretch>
            <a:fillRect/>
          </a:stretch>
        </p:blipFill>
        <p:spPr>
          <a:xfrm rot="0">
            <a:off x="8232325" y="2938986"/>
            <a:ext cx="9667260" cy="6462725"/>
          </a:xfrm>
          <a:prstGeom prst="rect">
            <a:avLst/>
          </a:prstGeom>
        </p:spPr>
      </p:pic>
      <p:sp>
        <p:nvSpPr>
          <p:cNvPr name="TextBox 21" id="21"/>
          <p:cNvSpPr txBox="true"/>
          <p:nvPr/>
        </p:nvSpPr>
        <p:spPr>
          <a:xfrm rot="0">
            <a:off x="1299786" y="6385302"/>
            <a:ext cx="6918995" cy="1999575"/>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a:t>
            </a:r>
          </a:p>
          <a:p>
            <a:pPr algn="l">
              <a:lnSpc>
                <a:spcPts val="1999"/>
              </a:lnSpc>
            </a:pPr>
          </a:p>
          <a:p>
            <a:pPr algn="l">
              <a:lnSpc>
                <a:spcPts val="1999"/>
              </a:lnSpc>
            </a:pPr>
            <a:r>
              <a:rPr lang="en-US" sz="1428">
                <a:solidFill>
                  <a:srgbClr val="636363"/>
                </a:solidFill>
                <a:latin typeface="Open Sauce"/>
                <a:ea typeface="Open Sauce"/>
                <a:cs typeface="Open Sauce"/>
                <a:sym typeface="Open Sauce"/>
              </a:rPr>
              <a:t>Duis aute irure dolor in reprehenderit in voluptate velit esse cillum dolore eu fugiat nulla pariatur. Excepteur sint occaecat cupidatat non proident, sunt in culpa qui officia deserunt mollit anim id est laborum."</a:t>
            </a:r>
          </a:p>
        </p:txBody>
      </p:sp>
      <p:grpSp>
        <p:nvGrpSpPr>
          <p:cNvPr name="Group 22" id="22"/>
          <p:cNvGrpSpPr/>
          <p:nvPr/>
        </p:nvGrpSpPr>
        <p:grpSpPr>
          <a:xfrm rot="0">
            <a:off x="1299786" y="2738989"/>
            <a:ext cx="1205800" cy="1205800"/>
            <a:chOff x="0" y="0"/>
            <a:chExt cx="317577" cy="317577"/>
          </a:xfrm>
        </p:grpSpPr>
        <p:sp>
          <p:nvSpPr>
            <p:cNvPr name="Freeform 23" id="23"/>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449CC"/>
            </a:solidFill>
          </p:spPr>
        </p:sp>
        <p:sp>
          <p:nvSpPr>
            <p:cNvPr name="TextBox 24" id="24"/>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1542042" y="2981245"/>
            <a:ext cx="721288" cy="721288"/>
          </a:xfrm>
          <a:custGeom>
            <a:avLst/>
            <a:gdLst/>
            <a:ahLst/>
            <a:cxnLst/>
            <a:rect r="r" b="b" t="t" l="l"/>
            <a:pathLst>
              <a:path h="721288" w="721288">
                <a:moveTo>
                  <a:pt x="0" y="0"/>
                </a:moveTo>
                <a:lnTo>
                  <a:pt x="721288" y="0"/>
                </a:lnTo>
                <a:lnTo>
                  <a:pt x="721288" y="721288"/>
                </a:lnTo>
                <a:lnTo>
                  <a:pt x="0" y="7212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6</a:t>
            </a:r>
          </a:p>
        </p:txBody>
      </p:sp>
      <p:sp>
        <p:nvSpPr>
          <p:cNvPr name="TextBox 15" id="15"/>
          <p:cNvSpPr txBox="true"/>
          <p:nvPr/>
        </p:nvSpPr>
        <p:spPr>
          <a:xfrm rot="0">
            <a:off x="1773883" y="3914332"/>
            <a:ext cx="5330759" cy="1742313"/>
          </a:xfrm>
          <a:prstGeom prst="rect">
            <a:avLst/>
          </a:prstGeom>
        </p:spPr>
        <p:txBody>
          <a:bodyPr anchor="t" rtlCol="false" tIns="0" lIns="0" bIns="0" rIns="0">
            <a:spAutoFit/>
          </a:bodyPr>
          <a:lstStyle/>
          <a:p>
            <a:pPr algn="l">
              <a:lnSpc>
                <a:spcPts val="6696"/>
              </a:lnSpc>
            </a:pPr>
            <a:r>
              <a:rPr lang="en-US" b="true" sz="7200" spc="-518">
                <a:solidFill>
                  <a:srgbClr val="212121"/>
                </a:solidFill>
                <a:latin typeface="Open Sauce Bold"/>
                <a:ea typeface="Open Sauce Bold"/>
                <a:cs typeface="Open Sauce Bold"/>
                <a:sym typeface="Open Sauce Bold"/>
              </a:rPr>
              <a:t>BUSINESS MODEL</a:t>
            </a:r>
          </a:p>
        </p:txBody>
      </p:sp>
      <p:grpSp>
        <p:nvGrpSpPr>
          <p:cNvPr name="Group 16" id="16"/>
          <p:cNvGrpSpPr/>
          <p:nvPr/>
        </p:nvGrpSpPr>
        <p:grpSpPr>
          <a:xfrm rot="0">
            <a:off x="7903382" y="1836262"/>
            <a:ext cx="2933836" cy="897175"/>
            <a:chOff x="0" y="0"/>
            <a:chExt cx="772698" cy="236293"/>
          </a:xfrm>
        </p:grpSpPr>
        <p:sp>
          <p:nvSpPr>
            <p:cNvPr name="Freeform 17" id="17"/>
            <p:cNvSpPr/>
            <p:nvPr/>
          </p:nvSpPr>
          <p:spPr>
            <a:xfrm flipH="false" flipV="false" rot="0">
              <a:off x="0" y="0"/>
              <a:ext cx="772698" cy="236293"/>
            </a:xfrm>
            <a:custGeom>
              <a:avLst/>
              <a:gdLst/>
              <a:ahLst/>
              <a:cxnLst/>
              <a:rect r="r" b="b" t="t" l="l"/>
              <a:pathLst>
                <a:path h="236293" w="772698">
                  <a:moveTo>
                    <a:pt x="76526" y="0"/>
                  </a:moveTo>
                  <a:lnTo>
                    <a:pt x="696171" y="0"/>
                  </a:lnTo>
                  <a:cubicBezTo>
                    <a:pt x="738436" y="0"/>
                    <a:pt x="772698" y="34262"/>
                    <a:pt x="772698" y="76526"/>
                  </a:cubicBezTo>
                  <a:lnTo>
                    <a:pt x="772698" y="159767"/>
                  </a:lnTo>
                  <a:cubicBezTo>
                    <a:pt x="772698" y="180063"/>
                    <a:pt x="764635" y="199528"/>
                    <a:pt x="750284" y="213879"/>
                  </a:cubicBezTo>
                  <a:cubicBezTo>
                    <a:pt x="735932" y="228231"/>
                    <a:pt x="716467" y="236293"/>
                    <a:pt x="696171" y="236293"/>
                  </a:cubicBezTo>
                  <a:lnTo>
                    <a:pt x="76526" y="236293"/>
                  </a:lnTo>
                  <a:cubicBezTo>
                    <a:pt x="56230" y="236293"/>
                    <a:pt x="36766" y="228231"/>
                    <a:pt x="22414" y="213879"/>
                  </a:cubicBezTo>
                  <a:cubicBezTo>
                    <a:pt x="8063" y="199528"/>
                    <a:pt x="0" y="180063"/>
                    <a:pt x="0" y="159767"/>
                  </a:cubicBezTo>
                  <a:lnTo>
                    <a:pt x="0" y="76526"/>
                  </a:lnTo>
                  <a:cubicBezTo>
                    <a:pt x="0" y="56230"/>
                    <a:pt x="8063" y="36766"/>
                    <a:pt x="22414" y="22414"/>
                  </a:cubicBezTo>
                  <a:cubicBezTo>
                    <a:pt x="36766" y="8063"/>
                    <a:pt x="56230" y="0"/>
                    <a:pt x="76526" y="0"/>
                  </a:cubicBezTo>
                  <a:close/>
                </a:path>
              </a:pathLst>
            </a:custGeom>
            <a:solidFill>
              <a:srgbClr val="FFFFFF"/>
            </a:solidFill>
            <a:ln w="9525" cap="rnd">
              <a:solidFill>
                <a:srgbClr val="212121"/>
              </a:solidFill>
              <a:prstDash val="solid"/>
              <a:round/>
            </a:ln>
          </p:spPr>
        </p:sp>
        <p:sp>
          <p:nvSpPr>
            <p:cNvPr name="TextBox 18" id="18"/>
            <p:cNvSpPr txBox="true"/>
            <p:nvPr/>
          </p:nvSpPr>
          <p:spPr>
            <a:xfrm>
              <a:off x="0" y="-38100"/>
              <a:ext cx="772698" cy="274393"/>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7593695" y="2097382"/>
            <a:ext cx="3553209" cy="346359"/>
          </a:xfrm>
          <a:prstGeom prst="rect">
            <a:avLst/>
          </a:prstGeom>
        </p:spPr>
        <p:txBody>
          <a:bodyPr anchor="t" rtlCol="false" tIns="0" lIns="0" bIns="0" rIns="0">
            <a:spAutoFit/>
          </a:bodyPr>
          <a:lstStyle/>
          <a:p>
            <a:pPr algn="ctr">
              <a:lnSpc>
                <a:spcPts val="2959"/>
              </a:lnSpc>
            </a:pPr>
            <a:r>
              <a:rPr lang="en-US" b="true" sz="2113">
                <a:solidFill>
                  <a:srgbClr val="212121"/>
                </a:solidFill>
                <a:latin typeface="Open Sauce Bold"/>
                <a:ea typeface="Open Sauce Bold"/>
                <a:cs typeface="Open Sauce Bold"/>
                <a:sym typeface="Open Sauce Bold"/>
              </a:rPr>
              <a:t>PRODUCT SALES</a:t>
            </a:r>
          </a:p>
        </p:txBody>
      </p:sp>
      <p:sp>
        <p:nvSpPr>
          <p:cNvPr name="TextBox 20" id="20"/>
          <p:cNvSpPr txBox="true"/>
          <p:nvPr/>
        </p:nvSpPr>
        <p:spPr>
          <a:xfrm rot="0">
            <a:off x="1773883" y="6375777"/>
            <a:ext cx="4661589" cy="312969"/>
          </a:xfrm>
          <a:prstGeom prst="rect">
            <a:avLst/>
          </a:prstGeom>
        </p:spPr>
        <p:txBody>
          <a:bodyPr anchor="t" rtlCol="false" tIns="0" lIns="0" bIns="0" rIns="0">
            <a:spAutoFit/>
          </a:bodyPr>
          <a:lstStyle/>
          <a:p>
            <a:pPr algn="l">
              <a:lnSpc>
                <a:spcPts val="2699"/>
              </a:lnSpc>
            </a:pPr>
            <a:r>
              <a:rPr lang="en-US" sz="1928">
                <a:solidFill>
                  <a:srgbClr val="636363"/>
                </a:solidFill>
                <a:latin typeface="Open Sauce"/>
                <a:ea typeface="Open Sauce"/>
                <a:cs typeface="Open Sauce"/>
                <a:sym typeface="Open Sauce"/>
              </a:rPr>
              <a:t>Here’s how we generate revenue</a:t>
            </a:r>
          </a:p>
        </p:txBody>
      </p:sp>
      <p:grpSp>
        <p:nvGrpSpPr>
          <p:cNvPr name="Group 21" id="21"/>
          <p:cNvGrpSpPr/>
          <p:nvPr/>
        </p:nvGrpSpPr>
        <p:grpSpPr>
          <a:xfrm rot="0">
            <a:off x="10969063" y="1836262"/>
            <a:ext cx="2933836" cy="897175"/>
            <a:chOff x="0" y="0"/>
            <a:chExt cx="772698" cy="236293"/>
          </a:xfrm>
        </p:grpSpPr>
        <p:sp>
          <p:nvSpPr>
            <p:cNvPr name="Freeform 22" id="22"/>
            <p:cNvSpPr/>
            <p:nvPr/>
          </p:nvSpPr>
          <p:spPr>
            <a:xfrm flipH="false" flipV="false" rot="0">
              <a:off x="0" y="0"/>
              <a:ext cx="772698" cy="236293"/>
            </a:xfrm>
            <a:custGeom>
              <a:avLst/>
              <a:gdLst/>
              <a:ahLst/>
              <a:cxnLst/>
              <a:rect r="r" b="b" t="t" l="l"/>
              <a:pathLst>
                <a:path h="236293" w="772698">
                  <a:moveTo>
                    <a:pt x="76526" y="0"/>
                  </a:moveTo>
                  <a:lnTo>
                    <a:pt x="696171" y="0"/>
                  </a:lnTo>
                  <a:cubicBezTo>
                    <a:pt x="738436" y="0"/>
                    <a:pt x="772698" y="34262"/>
                    <a:pt x="772698" y="76526"/>
                  </a:cubicBezTo>
                  <a:lnTo>
                    <a:pt x="772698" y="159767"/>
                  </a:lnTo>
                  <a:cubicBezTo>
                    <a:pt x="772698" y="180063"/>
                    <a:pt x="764635" y="199528"/>
                    <a:pt x="750284" y="213879"/>
                  </a:cubicBezTo>
                  <a:cubicBezTo>
                    <a:pt x="735932" y="228231"/>
                    <a:pt x="716467" y="236293"/>
                    <a:pt x="696171" y="236293"/>
                  </a:cubicBezTo>
                  <a:lnTo>
                    <a:pt x="76526" y="236293"/>
                  </a:lnTo>
                  <a:cubicBezTo>
                    <a:pt x="56230" y="236293"/>
                    <a:pt x="36766" y="228231"/>
                    <a:pt x="22414" y="213879"/>
                  </a:cubicBezTo>
                  <a:cubicBezTo>
                    <a:pt x="8063" y="199528"/>
                    <a:pt x="0" y="180063"/>
                    <a:pt x="0" y="159767"/>
                  </a:cubicBezTo>
                  <a:lnTo>
                    <a:pt x="0" y="76526"/>
                  </a:lnTo>
                  <a:cubicBezTo>
                    <a:pt x="0" y="56230"/>
                    <a:pt x="8063" y="36766"/>
                    <a:pt x="22414" y="22414"/>
                  </a:cubicBezTo>
                  <a:cubicBezTo>
                    <a:pt x="36766" y="8063"/>
                    <a:pt x="56230" y="0"/>
                    <a:pt x="76526" y="0"/>
                  </a:cubicBezTo>
                  <a:close/>
                </a:path>
              </a:pathLst>
            </a:custGeom>
            <a:solidFill>
              <a:srgbClr val="2449CC"/>
            </a:solidFill>
            <a:ln w="9525" cap="rnd">
              <a:solidFill>
                <a:srgbClr val="212121"/>
              </a:solidFill>
              <a:prstDash val="solid"/>
              <a:round/>
            </a:ln>
          </p:spPr>
        </p:sp>
        <p:sp>
          <p:nvSpPr>
            <p:cNvPr name="TextBox 23" id="23"/>
            <p:cNvSpPr txBox="true"/>
            <p:nvPr/>
          </p:nvSpPr>
          <p:spPr>
            <a:xfrm>
              <a:off x="0" y="-38100"/>
              <a:ext cx="772698" cy="274393"/>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659376" y="2097382"/>
            <a:ext cx="3553209" cy="346359"/>
          </a:xfrm>
          <a:prstGeom prst="rect">
            <a:avLst/>
          </a:prstGeom>
        </p:spPr>
        <p:txBody>
          <a:bodyPr anchor="t" rtlCol="false" tIns="0" lIns="0" bIns="0" rIns="0">
            <a:spAutoFit/>
          </a:bodyPr>
          <a:lstStyle/>
          <a:p>
            <a:pPr algn="ctr">
              <a:lnSpc>
                <a:spcPts val="2959"/>
              </a:lnSpc>
            </a:pPr>
            <a:r>
              <a:rPr lang="en-US" b="true" sz="2113">
                <a:solidFill>
                  <a:srgbClr val="FFFFFF"/>
                </a:solidFill>
                <a:latin typeface="Open Sauce Bold"/>
                <a:ea typeface="Open Sauce Bold"/>
                <a:cs typeface="Open Sauce Bold"/>
                <a:sym typeface="Open Sauce Bold"/>
              </a:rPr>
              <a:t>SUBSCRIPTIONS</a:t>
            </a:r>
          </a:p>
        </p:txBody>
      </p:sp>
      <p:grpSp>
        <p:nvGrpSpPr>
          <p:cNvPr name="Group 25" id="25"/>
          <p:cNvGrpSpPr/>
          <p:nvPr/>
        </p:nvGrpSpPr>
        <p:grpSpPr>
          <a:xfrm rot="0">
            <a:off x="7903382" y="2887750"/>
            <a:ext cx="2933836" cy="897175"/>
            <a:chOff x="0" y="0"/>
            <a:chExt cx="772698" cy="236293"/>
          </a:xfrm>
        </p:grpSpPr>
        <p:sp>
          <p:nvSpPr>
            <p:cNvPr name="Freeform 26" id="26"/>
            <p:cNvSpPr/>
            <p:nvPr/>
          </p:nvSpPr>
          <p:spPr>
            <a:xfrm flipH="false" flipV="false" rot="0">
              <a:off x="0" y="0"/>
              <a:ext cx="772698" cy="236293"/>
            </a:xfrm>
            <a:custGeom>
              <a:avLst/>
              <a:gdLst/>
              <a:ahLst/>
              <a:cxnLst/>
              <a:rect r="r" b="b" t="t" l="l"/>
              <a:pathLst>
                <a:path h="236293" w="772698">
                  <a:moveTo>
                    <a:pt x="76526" y="0"/>
                  </a:moveTo>
                  <a:lnTo>
                    <a:pt x="696171" y="0"/>
                  </a:lnTo>
                  <a:cubicBezTo>
                    <a:pt x="738436" y="0"/>
                    <a:pt x="772698" y="34262"/>
                    <a:pt x="772698" y="76526"/>
                  </a:cubicBezTo>
                  <a:lnTo>
                    <a:pt x="772698" y="159767"/>
                  </a:lnTo>
                  <a:cubicBezTo>
                    <a:pt x="772698" y="180063"/>
                    <a:pt x="764635" y="199528"/>
                    <a:pt x="750284" y="213879"/>
                  </a:cubicBezTo>
                  <a:cubicBezTo>
                    <a:pt x="735932" y="228231"/>
                    <a:pt x="716467" y="236293"/>
                    <a:pt x="696171" y="236293"/>
                  </a:cubicBezTo>
                  <a:lnTo>
                    <a:pt x="76526" y="236293"/>
                  </a:lnTo>
                  <a:cubicBezTo>
                    <a:pt x="56230" y="236293"/>
                    <a:pt x="36766" y="228231"/>
                    <a:pt x="22414" y="213879"/>
                  </a:cubicBezTo>
                  <a:cubicBezTo>
                    <a:pt x="8063" y="199528"/>
                    <a:pt x="0" y="180063"/>
                    <a:pt x="0" y="159767"/>
                  </a:cubicBezTo>
                  <a:lnTo>
                    <a:pt x="0" y="76526"/>
                  </a:lnTo>
                  <a:cubicBezTo>
                    <a:pt x="0" y="56230"/>
                    <a:pt x="8063" y="36766"/>
                    <a:pt x="22414" y="22414"/>
                  </a:cubicBezTo>
                  <a:cubicBezTo>
                    <a:pt x="36766" y="8063"/>
                    <a:pt x="56230" y="0"/>
                    <a:pt x="76526" y="0"/>
                  </a:cubicBezTo>
                  <a:close/>
                </a:path>
              </a:pathLst>
            </a:custGeom>
            <a:solidFill>
              <a:srgbClr val="FFFFFF"/>
            </a:solidFill>
            <a:ln w="9525" cap="rnd">
              <a:solidFill>
                <a:srgbClr val="212121"/>
              </a:solidFill>
              <a:prstDash val="solid"/>
              <a:round/>
            </a:ln>
          </p:spPr>
        </p:sp>
        <p:sp>
          <p:nvSpPr>
            <p:cNvPr name="TextBox 27" id="27"/>
            <p:cNvSpPr txBox="true"/>
            <p:nvPr/>
          </p:nvSpPr>
          <p:spPr>
            <a:xfrm>
              <a:off x="0" y="-38100"/>
              <a:ext cx="772698" cy="274393"/>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7593695" y="3148870"/>
            <a:ext cx="3553209" cy="346359"/>
          </a:xfrm>
          <a:prstGeom prst="rect">
            <a:avLst/>
          </a:prstGeom>
        </p:spPr>
        <p:txBody>
          <a:bodyPr anchor="t" rtlCol="false" tIns="0" lIns="0" bIns="0" rIns="0">
            <a:spAutoFit/>
          </a:bodyPr>
          <a:lstStyle/>
          <a:p>
            <a:pPr algn="ctr">
              <a:lnSpc>
                <a:spcPts val="2959"/>
              </a:lnSpc>
            </a:pPr>
            <a:r>
              <a:rPr lang="en-US" b="true" sz="2113">
                <a:solidFill>
                  <a:srgbClr val="212121"/>
                </a:solidFill>
                <a:latin typeface="Open Sauce Bold"/>
                <a:ea typeface="Open Sauce Bold"/>
                <a:cs typeface="Open Sauce Bold"/>
                <a:sym typeface="Open Sauce Bold"/>
              </a:rPr>
              <a:t>SERVICE PACKAGES</a:t>
            </a:r>
          </a:p>
        </p:txBody>
      </p:sp>
      <p:grpSp>
        <p:nvGrpSpPr>
          <p:cNvPr name="Group 29" id="29"/>
          <p:cNvGrpSpPr/>
          <p:nvPr/>
        </p:nvGrpSpPr>
        <p:grpSpPr>
          <a:xfrm rot="0">
            <a:off x="10969063" y="2887750"/>
            <a:ext cx="5457133" cy="897175"/>
            <a:chOff x="0" y="0"/>
            <a:chExt cx="2420649" cy="397965"/>
          </a:xfrm>
        </p:grpSpPr>
        <p:sp>
          <p:nvSpPr>
            <p:cNvPr name="Freeform 30" id="30"/>
            <p:cNvSpPr/>
            <p:nvPr/>
          </p:nvSpPr>
          <p:spPr>
            <a:xfrm flipH="false" flipV="false" rot="0">
              <a:off x="0" y="0"/>
              <a:ext cx="2420649" cy="397965"/>
            </a:xfrm>
            <a:custGeom>
              <a:avLst/>
              <a:gdLst/>
              <a:ahLst/>
              <a:cxnLst/>
              <a:rect r="r" b="b" t="t" l="l"/>
              <a:pathLst>
                <a:path h="397965" w="2420649">
                  <a:moveTo>
                    <a:pt x="32630" y="0"/>
                  </a:moveTo>
                  <a:lnTo>
                    <a:pt x="2388019" y="0"/>
                  </a:lnTo>
                  <a:cubicBezTo>
                    <a:pt x="2406040" y="0"/>
                    <a:pt x="2420649" y="14609"/>
                    <a:pt x="2420649" y="32630"/>
                  </a:cubicBezTo>
                  <a:lnTo>
                    <a:pt x="2420649" y="365335"/>
                  </a:lnTo>
                  <a:cubicBezTo>
                    <a:pt x="2420649" y="373989"/>
                    <a:pt x="2417211" y="382288"/>
                    <a:pt x="2411092" y="388408"/>
                  </a:cubicBezTo>
                  <a:cubicBezTo>
                    <a:pt x="2404973" y="394527"/>
                    <a:pt x="2396673" y="397965"/>
                    <a:pt x="2388019" y="397965"/>
                  </a:cubicBezTo>
                  <a:lnTo>
                    <a:pt x="32630" y="397965"/>
                  </a:lnTo>
                  <a:cubicBezTo>
                    <a:pt x="23976" y="397965"/>
                    <a:pt x="15676" y="394527"/>
                    <a:pt x="9557" y="388408"/>
                  </a:cubicBezTo>
                  <a:cubicBezTo>
                    <a:pt x="3438" y="382288"/>
                    <a:pt x="0" y="373989"/>
                    <a:pt x="0" y="365335"/>
                  </a:cubicBezTo>
                  <a:lnTo>
                    <a:pt x="0" y="32630"/>
                  </a:lnTo>
                  <a:cubicBezTo>
                    <a:pt x="0" y="14609"/>
                    <a:pt x="14609" y="0"/>
                    <a:pt x="32630" y="0"/>
                  </a:cubicBezTo>
                  <a:close/>
                </a:path>
              </a:pathLst>
            </a:custGeom>
            <a:blipFill>
              <a:blip r:embed="rId2"/>
              <a:stretch>
                <a:fillRect l="0" t="-69252" r="0" b="-176440"/>
              </a:stretch>
            </a:blipFill>
            <a:ln w="9525" cap="rnd">
              <a:solidFill>
                <a:srgbClr val="212121"/>
              </a:solidFill>
              <a:prstDash val="solid"/>
              <a:round/>
            </a:ln>
          </p:spPr>
        </p:sp>
      </p:grpSp>
      <p:grpSp>
        <p:nvGrpSpPr>
          <p:cNvPr name="Group 31" id="31"/>
          <p:cNvGrpSpPr/>
          <p:nvPr/>
        </p:nvGrpSpPr>
        <p:grpSpPr>
          <a:xfrm rot="0">
            <a:off x="7903382" y="3937325"/>
            <a:ext cx="3065681" cy="4513413"/>
            <a:chOff x="0" y="0"/>
            <a:chExt cx="1324238" cy="1949594"/>
          </a:xfrm>
        </p:grpSpPr>
        <p:sp>
          <p:nvSpPr>
            <p:cNvPr name="Freeform 32" id="32"/>
            <p:cNvSpPr/>
            <p:nvPr/>
          </p:nvSpPr>
          <p:spPr>
            <a:xfrm flipH="false" flipV="false" rot="0">
              <a:off x="0" y="0"/>
              <a:ext cx="1324238" cy="1949594"/>
            </a:xfrm>
            <a:custGeom>
              <a:avLst/>
              <a:gdLst/>
              <a:ahLst/>
              <a:cxnLst/>
              <a:rect r="r" b="b" t="t" l="l"/>
              <a:pathLst>
                <a:path h="1949594" w="1324238">
                  <a:moveTo>
                    <a:pt x="58083" y="0"/>
                  </a:moveTo>
                  <a:lnTo>
                    <a:pt x="1266155" y="0"/>
                  </a:lnTo>
                  <a:cubicBezTo>
                    <a:pt x="1281560" y="0"/>
                    <a:pt x="1296333" y="6119"/>
                    <a:pt x="1307226" y="17012"/>
                  </a:cubicBezTo>
                  <a:cubicBezTo>
                    <a:pt x="1318119" y="27905"/>
                    <a:pt x="1324238" y="42678"/>
                    <a:pt x="1324238" y="58083"/>
                  </a:cubicBezTo>
                  <a:lnTo>
                    <a:pt x="1324238" y="1891511"/>
                  </a:lnTo>
                  <a:cubicBezTo>
                    <a:pt x="1324238" y="1906916"/>
                    <a:pt x="1318119" y="1921689"/>
                    <a:pt x="1307226" y="1932582"/>
                  </a:cubicBezTo>
                  <a:cubicBezTo>
                    <a:pt x="1296333" y="1943475"/>
                    <a:pt x="1281560" y="1949594"/>
                    <a:pt x="1266155" y="1949594"/>
                  </a:cubicBezTo>
                  <a:lnTo>
                    <a:pt x="58083" y="1949594"/>
                  </a:lnTo>
                  <a:cubicBezTo>
                    <a:pt x="42678" y="1949594"/>
                    <a:pt x="27905" y="1943475"/>
                    <a:pt x="17012" y="1932582"/>
                  </a:cubicBezTo>
                  <a:cubicBezTo>
                    <a:pt x="6119" y="1921689"/>
                    <a:pt x="0" y="1906916"/>
                    <a:pt x="0" y="1891511"/>
                  </a:cubicBezTo>
                  <a:lnTo>
                    <a:pt x="0" y="58083"/>
                  </a:lnTo>
                  <a:cubicBezTo>
                    <a:pt x="0" y="42678"/>
                    <a:pt x="6119" y="27905"/>
                    <a:pt x="17012" y="17012"/>
                  </a:cubicBezTo>
                  <a:cubicBezTo>
                    <a:pt x="27905" y="6119"/>
                    <a:pt x="42678" y="0"/>
                    <a:pt x="58083" y="0"/>
                  </a:cubicBezTo>
                  <a:close/>
                </a:path>
              </a:pathLst>
            </a:custGeom>
            <a:blipFill>
              <a:blip r:embed="rId3"/>
              <a:stretch>
                <a:fillRect l="0" t="-942" r="0" b="-942"/>
              </a:stretch>
            </a:blipFill>
            <a:ln w="9525" cap="rnd">
              <a:solidFill>
                <a:srgbClr val="212121"/>
              </a:solidFill>
              <a:prstDash val="solid"/>
              <a:round/>
            </a:ln>
          </p:spPr>
        </p:sp>
      </p:grpSp>
      <p:sp>
        <p:nvSpPr>
          <p:cNvPr name="TextBox 33" id="33"/>
          <p:cNvSpPr txBox="true"/>
          <p:nvPr/>
        </p:nvSpPr>
        <p:spPr>
          <a:xfrm rot="0">
            <a:off x="11483374" y="4546974"/>
            <a:ext cx="4942822" cy="2503777"/>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a:t>
            </a:r>
          </a:p>
          <a:p>
            <a:pPr algn="l">
              <a:lnSpc>
                <a:spcPts val="1999"/>
              </a:lnSpc>
            </a:pPr>
          </a:p>
          <a:p>
            <a:pPr algn="l">
              <a:lnSpc>
                <a:spcPts val="1999"/>
              </a:lnSpc>
            </a:pPr>
            <a:r>
              <a:rPr lang="en-US" sz="1428">
                <a:solidFill>
                  <a:srgbClr val="636363"/>
                </a:solidFill>
                <a:latin typeface="Open Sauce"/>
                <a:ea typeface="Open Sauce"/>
                <a:cs typeface="Open Sauce"/>
                <a:sym typeface="Open Sauce"/>
              </a:rPr>
              <a:t>Duis aute irure dolor in reprehenderit in voluptate velit esse cillum dolore eu fugiat nulla pariatur. Excepteur sint occaecat cupidatat non proident, sunt in culpa qui officia deserunt mollit anim id est laborum."</a:t>
            </a:r>
          </a:p>
        </p:txBody>
      </p:sp>
      <p:sp>
        <p:nvSpPr>
          <p:cNvPr name="TextBox 34" id="34"/>
          <p:cNvSpPr txBox="true"/>
          <p:nvPr/>
        </p:nvSpPr>
        <p:spPr>
          <a:xfrm rot="0">
            <a:off x="11483374" y="8154459"/>
            <a:ext cx="5132834" cy="230419"/>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www.reallygreatsite.com | hello@reallygreatsite.com</a:t>
            </a:r>
          </a:p>
        </p:txBody>
      </p:sp>
      <p:grpSp>
        <p:nvGrpSpPr>
          <p:cNvPr name="Group 35" id="35"/>
          <p:cNvGrpSpPr/>
          <p:nvPr/>
        </p:nvGrpSpPr>
        <p:grpSpPr>
          <a:xfrm rot="0">
            <a:off x="7300481" y="6688747"/>
            <a:ext cx="1205800" cy="1205800"/>
            <a:chOff x="0" y="0"/>
            <a:chExt cx="317577" cy="317577"/>
          </a:xfrm>
        </p:grpSpPr>
        <p:sp>
          <p:nvSpPr>
            <p:cNvPr name="Freeform 36" id="3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449CC"/>
            </a:solidFill>
          </p:spPr>
        </p:sp>
        <p:sp>
          <p:nvSpPr>
            <p:cNvPr name="TextBox 37" id="3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sp>
        <p:nvSpPr>
          <p:cNvPr name="Freeform 38" id="38"/>
          <p:cNvSpPr/>
          <p:nvPr/>
        </p:nvSpPr>
        <p:spPr>
          <a:xfrm flipH="false" flipV="false" rot="0">
            <a:off x="7542738" y="6931003"/>
            <a:ext cx="721288" cy="721288"/>
          </a:xfrm>
          <a:custGeom>
            <a:avLst/>
            <a:gdLst/>
            <a:ahLst/>
            <a:cxnLst/>
            <a:rect r="r" b="b" t="t" l="l"/>
            <a:pathLst>
              <a:path h="721288" w="721288">
                <a:moveTo>
                  <a:pt x="0" y="0"/>
                </a:moveTo>
                <a:lnTo>
                  <a:pt x="721288" y="0"/>
                </a:lnTo>
                <a:lnTo>
                  <a:pt x="721288" y="721288"/>
                </a:lnTo>
                <a:lnTo>
                  <a:pt x="0" y="721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3033682" y="3729403"/>
            <a:ext cx="4028494" cy="897175"/>
            <a:chOff x="0" y="0"/>
            <a:chExt cx="1061002" cy="236293"/>
          </a:xfrm>
        </p:grpSpPr>
        <p:sp>
          <p:nvSpPr>
            <p:cNvPr name="Freeform 15" id="15"/>
            <p:cNvSpPr/>
            <p:nvPr/>
          </p:nvSpPr>
          <p:spPr>
            <a:xfrm flipH="false" flipV="false" rot="0">
              <a:off x="0" y="0"/>
              <a:ext cx="1061002" cy="236293"/>
            </a:xfrm>
            <a:custGeom>
              <a:avLst/>
              <a:gdLst/>
              <a:ahLst/>
              <a:cxnLst/>
              <a:rect r="r" b="b" t="t" l="l"/>
              <a:pathLst>
                <a:path h="236293" w="1061002">
                  <a:moveTo>
                    <a:pt x="55732" y="0"/>
                  </a:moveTo>
                  <a:lnTo>
                    <a:pt x="1005270" y="0"/>
                  </a:lnTo>
                  <a:cubicBezTo>
                    <a:pt x="1036050" y="0"/>
                    <a:pt x="1061002" y="24952"/>
                    <a:pt x="1061002" y="55732"/>
                  </a:cubicBezTo>
                  <a:lnTo>
                    <a:pt x="1061002" y="180561"/>
                  </a:lnTo>
                  <a:cubicBezTo>
                    <a:pt x="1061002" y="211341"/>
                    <a:pt x="1036050" y="236293"/>
                    <a:pt x="1005270" y="236293"/>
                  </a:cubicBezTo>
                  <a:lnTo>
                    <a:pt x="55732" y="236293"/>
                  </a:lnTo>
                  <a:cubicBezTo>
                    <a:pt x="24952" y="236293"/>
                    <a:pt x="0" y="211341"/>
                    <a:pt x="0" y="180561"/>
                  </a:cubicBezTo>
                  <a:lnTo>
                    <a:pt x="0" y="55732"/>
                  </a:lnTo>
                  <a:cubicBezTo>
                    <a:pt x="0" y="24952"/>
                    <a:pt x="24952" y="0"/>
                    <a:pt x="55732" y="0"/>
                  </a:cubicBezTo>
                  <a:close/>
                </a:path>
              </a:pathLst>
            </a:custGeom>
            <a:solidFill>
              <a:srgbClr val="FFFFFF"/>
            </a:solidFill>
            <a:ln w="9525" cap="rnd">
              <a:solidFill>
                <a:srgbClr val="212121"/>
              </a:solidFill>
              <a:prstDash val="solid"/>
              <a:round/>
            </a:ln>
          </p:spPr>
        </p:sp>
        <p:sp>
          <p:nvSpPr>
            <p:cNvPr name="TextBox 16" id="16"/>
            <p:cNvSpPr txBox="true"/>
            <p:nvPr/>
          </p:nvSpPr>
          <p:spPr>
            <a:xfrm>
              <a:off x="0" y="-38100"/>
              <a:ext cx="1061002" cy="274393"/>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7449028" y="3729403"/>
            <a:ext cx="3389943" cy="897175"/>
            <a:chOff x="0" y="0"/>
            <a:chExt cx="892825" cy="236293"/>
          </a:xfrm>
        </p:grpSpPr>
        <p:sp>
          <p:nvSpPr>
            <p:cNvPr name="Freeform 18" id="18"/>
            <p:cNvSpPr/>
            <p:nvPr/>
          </p:nvSpPr>
          <p:spPr>
            <a:xfrm flipH="false" flipV="false" rot="0">
              <a:off x="0" y="0"/>
              <a:ext cx="892825" cy="236293"/>
            </a:xfrm>
            <a:custGeom>
              <a:avLst/>
              <a:gdLst/>
              <a:ahLst/>
              <a:cxnLst/>
              <a:rect r="r" b="b" t="t" l="l"/>
              <a:pathLst>
                <a:path h="236293" w="892825">
                  <a:moveTo>
                    <a:pt x="66230" y="0"/>
                  </a:moveTo>
                  <a:lnTo>
                    <a:pt x="826595" y="0"/>
                  </a:lnTo>
                  <a:cubicBezTo>
                    <a:pt x="863172" y="0"/>
                    <a:pt x="892825" y="29652"/>
                    <a:pt x="892825" y="66230"/>
                  </a:cubicBezTo>
                  <a:lnTo>
                    <a:pt x="892825" y="170063"/>
                  </a:lnTo>
                  <a:cubicBezTo>
                    <a:pt x="892825" y="206641"/>
                    <a:pt x="863172" y="236293"/>
                    <a:pt x="826595" y="236293"/>
                  </a:cubicBezTo>
                  <a:lnTo>
                    <a:pt x="66230" y="236293"/>
                  </a:lnTo>
                  <a:cubicBezTo>
                    <a:pt x="29652" y="236293"/>
                    <a:pt x="0" y="206641"/>
                    <a:pt x="0" y="170063"/>
                  </a:cubicBezTo>
                  <a:lnTo>
                    <a:pt x="0" y="66230"/>
                  </a:lnTo>
                  <a:cubicBezTo>
                    <a:pt x="0" y="29652"/>
                    <a:pt x="29652" y="0"/>
                    <a:pt x="66230" y="0"/>
                  </a:cubicBezTo>
                  <a:close/>
                </a:path>
              </a:pathLst>
            </a:custGeom>
            <a:solidFill>
              <a:srgbClr val="2449CC"/>
            </a:solidFill>
            <a:ln w="9525" cap="rnd">
              <a:solidFill>
                <a:srgbClr val="212121"/>
              </a:solidFill>
              <a:prstDash val="solid"/>
              <a:round/>
            </a:ln>
          </p:spPr>
        </p:sp>
        <p:sp>
          <p:nvSpPr>
            <p:cNvPr name="TextBox 19" id="19"/>
            <p:cNvSpPr txBox="true"/>
            <p:nvPr/>
          </p:nvSpPr>
          <p:spPr>
            <a:xfrm>
              <a:off x="0" y="-38100"/>
              <a:ext cx="892825" cy="274393"/>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1225405" y="3729403"/>
            <a:ext cx="4028494" cy="897175"/>
            <a:chOff x="0" y="0"/>
            <a:chExt cx="1061002" cy="236293"/>
          </a:xfrm>
        </p:grpSpPr>
        <p:sp>
          <p:nvSpPr>
            <p:cNvPr name="Freeform 21" id="21"/>
            <p:cNvSpPr/>
            <p:nvPr/>
          </p:nvSpPr>
          <p:spPr>
            <a:xfrm flipH="false" flipV="false" rot="0">
              <a:off x="0" y="0"/>
              <a:ext cx="1061002" cy="236293"/>
            </a:xfrm>
            <a:custGeom>
              <a:avLst/>
              <a:gdLst/>
              <a:ahLst/>
              <a:cxnLst/>
              <a:rect r="r" b="b" t="t" l="l"/>
              <a:pathLst>
                <a:path h="236293" w="1061002">
                  <a:moveTo>
                    <a:pt x="55732" y="0"/>
                  </a:moveTo>
                  <a:lnTo>
                    <a:pt x="1005270" y="0"/>
                  </a:lnTo>
                  <a:cubicBezTo>
                    <a:pt x="1036050" y="0"/>
                    <a:pt x="1061002" y="24952"/>
                    <a:pt x="1061002" y="55732"/>
                  </a:cubicBezTo>
                  <a:lnTo>
                    <a:pt x="1061002" y="180561"/>
                  </a:lnTo>
                  <a:cubicBezTo>
                    <a:pt x="1061002" y="211341"/>
                    <a:pt x="1036050" y="236293"/>
                    <a:pt x="1005270" y="236293"/>
                  </a:cubicBezTo>
                  <a:lnTo>
                    <a:pt x="55732" y="236293"/>
                  </a:lnTo>
                  <a:cubicBezTo>
                    <a:pt x="24952" y="236293"/>
                    <a:pt x="0" y="211341"/>
                    <a:pt x="0" y="180561"/>
                  </a:cubicBezTo>
                  <a:lnTo>
                    <a:pt x="0" y="55732"/>
                  </a:lnTo>
                  <a:cubicBezTo>
                    <a:pt x="0" y="24952"/>
                    <a:pt x="24952" y="0"/>
                    <a:pt x="55732" y="0"/>
                  </a:cubicBezTo>
                  <a:close/>
                </a:path>
              </a:pathLst>
            </a:custGeom>
            <a:solidFill>
              <a:srgbClr val="FFFFFF"/>
            </a:solidFill>
            <a:ln w="9525" cap="rnd">
              <a:solidFill>
                <a:srgbClr val="212121"/>
              </a:solidFill>
              <a:prstDash val="solid"/>
              <a:round/>
            </a:ln>
          </p:spPr>
        </p:sp>
        <p:sp>
          <p:nvSpPr>
            <p:cNvPr name="TextBox 22" id="22"/>
            <p:cNvSpPr txBox="true"/>
            <p:nvPr/>
          </p:nvSpPr>
          <p:spPr>
            <a:xfrm>
              <a:off x="0" y="-38100"/>
              <a:ext cx="1061002" cy="274393"/>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812288" y="4856398"/>
            <a:ext cx="5249888" cy="2604232"/>
            <a:chOff x="0" y="0"/>
            <a:chExt cx="2267718" cy="1124913"/>
          </a:xfrm>
        </p:grpSpPr>
        <p:sp>
          <p:nvSpPr>
            <p:cNvPr name="Freeform 24" id="24"/>
            <p:cNvSpPr/>
            <p:nvPr/>
          </p:nvSpPr>
          <p:spPr>
            <a:xfrm flipH="false" flipV="false" rot="0">
              <a:off x="0" y="0"/>
              <a:ext cx="2267718" cy="1124913"/>
            </a:xfrm>
            <a:custGeom>
              <a:avLst/>
              <a:gdLst/>
              <a:ahLst/>
              <a:cxnLst/>
              <a:rect r="r" b="b" t="t" l="l"/>
              <a:pathLst>
                <a:path h="1124913" w="2267718">
                  <a:moveTo>
                    <a:pt x="33918" y="0"/>
                  </a:moveTo>
                  <a:lnTo>
                    <a:pt x="2233801" y="0"/>
                  </a:lnTo>
                  <a:cubicBezTo>
                    <a:pt x="2252533" y="0"/>
                    <a:pt x="2267718" y="15185"/>
                    <a:pt x="2267718" y="33918"/>
                  </a:cubicBezTo>
                  <a:lnTo>
                    <a:pt x="2267718" y="1090995"/>
                  </a:lnTo>
                  <a:cubicBezTo>
                    <a:pt x="2267718" y="1109727"/>
                    <a:pt x="2252533" y="1124913"/>
                    <a:pt x="2233801" y="1124913"/>
                  </a:cubicBezTo>
                  <a:lnTo>
                    <a:pt x="33918" y="1124913"/>
                  </a:lnTo>
                  <a:cubicBezTo>
                    <a:pt x="15185" y="1124913"/>
                    <a:pt x="0" y="1109727"/>
                    <a:pt x="0" y="1090995"/>
                  </a:cubicBezTo>
                  <a:lnTo>
                    <a:pt x="0" y="33918"/>
                  </a:lnTo>
                  <a:cubicBezTo>
                    <a:pt x="0" y="15185"/>
                    <a:pt x="15185" y="0"/>
                    <a:pt x="33918" y="0"/>
                  </a:cubicBezTo>
                  <a:close/>
                </a:path>
              </a:pathLst>
            </a:custGeom>
            <a:blipFill>
              <a:blip r:embed="rId2"/>
              <a:stretch>
                <a:fillRect l="0" t="-6613" r="0" b="-6613"/>
              </a:stretch>
            </a:blipFill>
            <a:ln w="9525" cap="rnd">
              <a:solidFill>
                <a:srgbClr val="212121"/>
              </a:solidFill>
              <a:prstDash val="solid"/>
              <a:round/>
            </a:ln>
          </p:spPr>
        </p:sp>
      </p:grpSp>
      <p:grpSp>
        <p:nvGrpSpPr>
          <p:cNvPr name="Group 25" id="25"/>
          <p:cNvGrpSpPr/>
          <p:nvPr/>
        </p:nvGrpSpPr>
        <p:grpSpPr>
          <a:xfrm rot="0">
            <a:off x="11225405" y="4856398"/>
            <a:ext cx="5249888" cy="2604232"/>
            <a:chOff x="0" y="0"/>
            <a:chExt cx="2267718" cy="1124913"/>
          </a:xfrm>
        </p:grpSpPr>
        <p:sp>
          <p:nvSpPr>
            <p:cNvPr name="Freeform 26" id="26"/>
            <p:cNvSpPr/>
            <p:nvPr/>
          </p:nvSpPr>
          <p:spPr>
            <a:xfrm flipH="false" flipV="false" rot="0">
              <a:off x="0" y="0"/>
              <a:ext cx="2267718" cy="1124913"/>
            </a:xfrm>
            <a:custGeom>
              <a:avLst/>
              <a:gdLst/>
              <a:ahLst/>
              <a:cxnLst/>
              <a:rect r="r" b="b" t="t" l="l"/>
              <a:pathLst>
                <a:path h="1124913" w="2267718">
                  <a:moveTo>
                    <a:pt x="33918" y="0"/>
                  </a:moveTo>
                  <a:lnTo>
                    <a:pt x="2233801" y="0"/>
                  </a:lnTo>
                  <a:cubicBezTo>
                    <a:pt x="2252533" y="0"/>
                    <a:pt x="2267718" y="15185"/>
                    <a:pt x="2267718" y="33918"/>
                  </a:cubicBezTo>
                  <a:lnTo>
                    <a:pt x="2267718" y="1090995"/>
                  </a:lnTo>
                  <a:cubicBezTo>
                    <a:pt x="2267718" y="1109727"/>
                    <a:pt x="2252533" y="1124913"/>
                    <a:pt x="2233801" y="1124913"/>
                  </a:cubicBezTo>
                  <a:lnTo>
                    <a:pt x="33918" y="1124913"/>
                  </a:lnTo>
                  <a:cubicBezTo>
                    <a:pt x="15185" y="1124913"/>
                    <a:pt x="0" y="1109727"/>
                    <a:pt x="0" y="1090995"/>
                  </a:cubicBezTo>
                  <a:lnTo>
                    <a:pt x="0" y="33918"/>
                  </a:lnTo>
                  <a:cubicBezTo>
                    <a:pt x="0" y="15185"/>
                    <a:pt x="15185" y="0"/>
                    <a:pt x="33918" y="0"/>
                  </a:cubicBezTo>
                  <a:close/>
                </a:path>
              </a:pathLst>
            </a:custGeom>
            <a:blipFill>
              <a:blip r:embed="rId3"/>
              <a:stretch>
                <a:fillRect l="0" t="-17196" r="0" b="-17196"/>
              </a:stretch>
            </a:blipFill>
            <a:ln w="9525" cap="rnd">
              <a:solidFill>
                <a:srgbClr val="212121"/>
              </a:solidFill>
              <a:prstDash val="solid"/>
              <a:round/>
            </a:ln>
          </p:spPr>
        </p:sp>
      </p:grpSp>
      <p:grpSp>
        <p:nvGrpSpPr>
          <p:cNvPr name="Group 27" id="27"/>
          <p:cNvGrpSpPr/>
          <p:nvPr/>
        </p:nvGrpSpPr>
        <p:grpSpPr>
          <a:xfrm rot="0">
            <a:off x="7449028" y="4856398"/>
            <a:ext cx="3389943" cy="2604232"/>
            <a:chOff x="0" y="0"/>
            <a:chExt cx="1464305" cy="1124913"/>
          </a:xfrm>
        </p:grpSpPr>
        <p:sp>
          <p:nvSpPr>
            <p:cNvPr name="Freeform 28" id="28"/>
            <p:cNvSpPr/>
            <p:nvPr/>
          </p:nvSpPr>
          <p:spPr>
            <a:xfrm flipH="false" flipV="false" rot="0">
              <a:off x="0" y="0"/>
              <a:ext cx="1464305" cy="1124913"/>
            </a:xfrm>
            <a:custGeom>
              <a:avLst/>
              <a:gdLst/>
              <a:ahLst/>
              <a:cxnLst/>
              <a:rect r="r" b="b" t="t" l="l"/>
              <a:pathLst>
                <a:path h="1124913" w="1464305">
                  <a:moveTo>
                    <a:pt x="52527" y="0"/>
                  </a:moveTo>
                  <a:lnTo>
                    <a:pt x="1411778" y="0"/>
                  </a:lnTo>
                  <a:cubicBezTo>
                    <a:pt x="1440788" y="0"/>
                    <a:pt x="1464305" y="23517"/>
                    <a:pt x="1464305" y="52527"/>
                  </a:cubicBezTo>
                  <a:lnTo>
                    <a:pt x="1464305" y="1072386"/>
                  </a:lnTo>
                  <a:cubicBezTo>
                    <a:pt x="1464305" y="1086317"/>
                    <a:pt x="1458771" y="1099677"/>
                    <a:pt x="1448920" y="1109528"/>
                  </a:cubicBezTo>
                  <a:cubicBezTo>
                    <a:pt x="1439069" y="1119379"/>
                    <a:pt x="1425709" y="1124913"/>
                    <a:pt x="1411778" y="1124913"/>
                  </a:cubicBezTo>
                  <a:lnTo>
                    <a:pt x="52527" y="1124913"/>
                  </a:lnTo>
                  <a:cubicBezTo>
                    <a:pt x="38596" y="1124913"/>
                    <a:pt x="25236" y="1119379"/>
                    <a:pt x="15385" y="1109528"/>
                  </a:cubicBezTo>
                  <a:cubicBezTo>
                    <a:pt x="5534" y="1099677"/>
                    <a:pt x="0" y="1086317"/>
                    <a:pt x="0" y="1072386"/>
                  </a:cubicBezTo>
                  <a:lnTo>
                    <a:pt x="0" y="52527"/>
                  </a:lnTo>
                  <a:cubicBezTo>
                    <a:pt x="0" y="38596"/>
                    <a:pt x="5534" y="25236"/>
                    <a:pt x="15385" y="15385"/>
                  </a:cubicBezTo>
                  <a:cubicBezTo>
                    <a:pt x="25236" y="5534"/>
                    <a:pt x="38596" y="0"/>
                    <a:pt x="52527" y="0"/>
                  </a:cubicBezTo>
                  <a:close/>
                </a:path>
              </a:pathLst>
            </a:custGeom>
            <a:blipFill>
              <a:blip r:embed="rId4"/>
              <a:stretch>
                <a:fillRect l="-7616" t="0" r="-7616" b="0"/>
              </a:stretch>
            </a:blipFill>
            <a:ln w="9525" cap="rnd">
              <a:solidFill>
                <a:srgbClr val="212121"/>
              </a:solidFill>
              <a:prstDash val="solid"/>
              <a:round/>
            </a:ln>
          </p:spPr>
        </p:sp>
      </p:grpSp>
      <p:sp>
        <p:nvSpPr>
          <p:cNvPr name="TextBox 29" id="29"/>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7</a:t>
            </a:r>
          </a:p>
        </p:txBody>
      </p:sp>
      <p:sp>
        <p:nvSpPr>
          <p:cNvPr name="TextBox 30" id="30"/>
          <p:cNvSpPr txBox="true"/>
          <p:nvPr/>
        </p:nvSpPr>
        <p:spPr>
          <a:xfrm rot="0">
            <a:off x="5677986" y="1599576"/>
            <a:ext cx="6932028" cy="1742313"/>
          </a:xfrm>
          <a:prstGeom prst="rect">
            <a:avLst/>
          </a:prstGeom>
        </p:spPr>
        <p:txBody>
          <a:bodyPr anchor="t" rtlCol="false" tIns="0" lIns="0" bIns="0" rIns="0">
            <a:spAutoFit/>
          </a:bodyPr>
          <a:lstStyle/>
          <a:p>
            <a:pPr algn="ctr">
              <a:lnSpc>
                <a:spcPts val="6696"/>
              </a:lnSpc>
            </a:pPr>
            <a:r>
              <a:rPr lang="en-US" b="true" sz="7200" spc="-518">
                <a:solidFill>
                  <a:srgbClr val="212121"/>
                </a:solidFill>
                <a:latin typeface="Open Sauce Bold"/>
                <a:ea typeface="Open Sauce Bold"/>
                <a:cs typeface="Open Sauce Bold"/>
                <a:sym typeface="Open Sauce Bold"/>
              </a:rPr>
              <a:t>COMPETITIVE ADVANTAGE</a:t>
            </a:r>
          </a:p>
        </p:txBody>
      </p:sp>
      <p:sp>
        <p:nvSpPr>
          <p:cNvPr name="TextBox 31" id="31"/>
          <p:cNvSpPr txBox="true"/>
          <p:nvPr/>
        </p:nvSpPr>
        <p:spPr>
          <a:xfrm rot="0">
            <a:off x="3271325" y="3990524"/>
            <a:ext cx="3553209" cy="346359"/>
          </a:xfrm>
          <a:prstGeom prst="rect">
            <a:avLst/>
          </a:prstGeom>
        </p:spPr>
        <p:txBody>
          <a:bodyPr anchor="t" rtlCol="false" tIns="0" lIns="0" bIns="0" rIns="0">
            <a:spAutoFit/>
          </a:bodyPr>
          <a:lstStyle/>
          <a:p>
            <a:pPr algn="ctr">
              <a:lnSpc>
                <a:spcPts val="2959"/>
              </a:lnSpc>
            </a:pPr>
            <a:r>
              <a:rPr lang="en-US" b="true" sz="2113">
                <a:solidFill>
                  <a:srgbClr val="212121"/>
                </a:solidFill>
                <a:latin typeface="Open Sauce Bold"/>
                <a:ea typeface="Open Sauce Bold"/>
                <a:cs typeface="Open Sauce Bold"/>
                <a:sym typeface="Open Sauce Bold"/>
              </a:rPr>
              <a:t>UNIQUE TECHNOLOGY</a:t>
            </a:r>
          </a:p>
        </p:txBody>
      </p:sp>
      <p:sp>
        <p:nvSpPr>
          <p:cNvPr name="TextBox 32" id="32"/>
          <p:cNvSpPr txBox="true"/>
          <p:nvPr/>
        </p:nvSpPr>
        <p:spPr>
          <a:xfrm rot="0">
            <a:off x="7367395" y="3990524"/>
            <a:ext cx="3553209" cy="346359"/>
          </a:xfrm>
          <a:prstGeom prst="rect">
            <a:avLst/>
          </a:prstGeom>
        </p:spPr>
        <p:txBody>
          <a:bodyPr anchor="t" rtlCol="false" tIns="0" lIns="0" bIns="0" rIns="0">
            <a:spAutoFit/>
          </a:bodyPr>
          <a:lstStyle/>
          <a:p>
            <a:pPr algn="ctr">
              <a:lnSpc>
                <a:spcPts val="2959"/>
              </a:lnSpc>
            </a:pPr>
            <a:r>
              <a:rPr lang="en-US" b="true" sz="2113">
                <a:solidFill>
                  <a:srgbClr val="FFFFFF"/>
                </a:solidFill>
                <a:latin typeface="Open Sauce Bold"/>
                <a:ea typeface="Open Sauce Bold"/>
                <a:cs typeface="Open Sauce Bold"/>
                <a:sym typeface="Open Sauce Bold"/>
              </a:rPr>
              <a:t>BETTER PRICING</a:t>
            </a:r>
          </a:p>
        </p:txBody>
      </p:sp>
      <p:sp>
        <p:nvSpPr>
          <p:cNvPr name="TextBox 33" id="33"/>
          <p:cNvSpPr txBox="true"/>
          <p:nvPr/>
        </p:nvSpPr>
        <p:spPr>
          <a:xfrm rot="0">
            <a:off x="11463047" y="3990524"/>
            <a:ext cx="3553209" cy="346359"/>
          </a:xfrm>
          <a:prstGeom prst="rect">
            <a:avLst/>
          </a:prstGeom>
        </p:spPr>
        <p:txBody>
          <a:bodyPr anchor="t" rtlCol="false" tIns="0" lIns="0" bIns="0" rIns="0">
            <a:spAutoFit/>
          </a:bodyPr>
          <a:lstStyle/>
          <a:p>
            <a:pPr algn="ctr">
              <a:lnSpc>
                <a:spcPts val="2959"/>
              </a:lnSpc>
            </a:pPr>
            <a:r>
              <a:rPr lang="en-US" b="true" sz="2113">
                <a:solidFill>
                  <a:srgbClr val="212121"/>
                </a:solidFill>
                <a:latin typeface="Open Sauce Bold"/>
                <a:ea typeface="Open Sauce Bold"/>
                <a:cs typeface="Open Sauce Bold"/>
                <a:sym typeface="Open Sauce Bold"/>
              </a:rPr>
              <a:t>EXCEPTIONAL SERVICE</a:t>
            </a:r>
          </a:p>
        </p:txBody>
      </p:sp>
      <p:sp>
        <p:nvSpPr>
          <p:cNvPr name="TextBox 34" id="34"/>
          <p:cNvSpPr txBox="true"/>
          <p:nvPr/>
        </p:nvSpPr>
        <p:spPr>
          <a:xfrm rot="0">
            <a:off x="3395162" y="8037281"/>
            <a:ext cx="11497675" cy="478069"/>
          </a:xfrm>
          <a:prstGeom prst="rect">
            <a:avLst/>
          </a:prstGeom>
        </p:spPr>
        <p:txBody>
          <a:bodyPr anchor="t" rtlCol="false" tIns="0" lIns="0" bIns="0" rIns="0">
            <a:spAutoFit/>
          </a:bodyPr>
          <a:lstStyle/>
          <a:p>
            <a:pPr algn="ctr">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8</a:t>
            </a:r>
          </a:p>
        </p:txBody>
      </p:sp>
      <p:sp>
        <p:nvSpPr>
          <p:cNvPr name="TextBox 15" id="15"/>
          <p:cNvSpPr txBox="true"/>
          <p:nvPr/>
        </p:nvSpPr>
        <p:spPr>
          <a:xfrm rot="0">
            <a:off x="1773883" y="3914332"/>
            <a:ext cx="5330759" cy="1742313"/>
          </a:xfrm>
          <a:prstGeom prst="rect">
            <a:avLst/>
          </a:prstGeom>
        </p:spPr>
        <p:txBody>
          <a:bodyPr anchor="t" rtlCol="false" tIns="0" lIns="0" bIns="0" rIns="0">
            <a:spAutoFit/>
          </a:bodyPr>
          <a:lstStyle/>
          <a:p>
            <a:pPr algn="l">
              <a:lnSpc>
                <a:spcPts val="6696"/>
              </a:lnSpc>
            </a:pPr>
            <a:r>
              <a:rPr lang="en-US" b="true" sz="7200" spc="-518">
                <a:solidFill>
                  <a:srgbClr val="212121"/>
                </a:solidFill>
                <a:latin typeface="Open Sauce Bold"/>
                <a:ea typeface="Open Sauce Bold"/>
                <a:cs typeface="Open Sauce Bold"/>
                <a:sym typeface="Open Sauce Bold"/>
              </a:rPr>
              <a:t>MARKETING STRATEGY</a:t>
            </a:r>
          </a:p>
        </p:txBody>
      </p:sp>
      <p:sp>
        <p:nvSpPr>
          <p:cNvPr name="TextBox 16" id="16"/>
          <p:cNvSpPr txBox="true"/>
          <p:nvPr/>
        </p:nvSpPr>
        <p:spPr>
          <a:xfrm rot="0">
            <a:off x="1773883" y="6375777"/>
            <a:ext cx="4661589" cy="312969"/>
          </a:xfrm>
          <a:prstGeom prst="rect">
            <a:avLst/>
          </a:prstGeom>
        </p:spPr>
        <p:txBody>
          <a:bodyPr anchor="t" rtlCol="false" tIns="0" lIns="0" bIns="0" rIns="0">
            <a:spAutoFit/>
          </a:bodyPr>
          <a:lstStyle/>
          <a:p>
            <a:pPr algn="l">
              <a:lnSpc>
                <a:spcPts val="2699"/>
              </a:lnSpc>
            </a:pPr>
            <a:r>
              <a:rPr lang="en-US" sz="1928">
                <a:solidFill>
                  <a:srgbClr val="636363"/>
                </a:solidFill>
                <a:latin typeface="Open Sauce"/>
                <a:ea typeface="Open Sauce"/>
                <a:cs typeface="Open Sauce"/>
                <a:sym typeface="Open Sauce"/>
              </a:rPr>
              <a:t>We’ll reach our audience through</a:t>
            </a:r>
          </a:p>
        </p:txBody>
      </p:sp>
      <p:grpSp>
        <p:nvGrpSpPr>
          <p:cNvPr name="Group 17" id="17"/>
          <p:cNvGrpSpPr/>
          <p:nvPr/>
        </p:nvGrpSpPr>
        <p:grpSpPr>
          <a:xfrm rot="0">
            <a:off x="8154408" y="1902122"/>
            <a:ext cx="4784348" cy="897175"/>
            <a:chOff x="0" y="0"/>
            <a:chExt cx="1260075" cy="236293"/>
          </a:xfrm>
        </p:grpSpPr>
        <p:sp>
          <p:nvSpPr>
            <p:cNvPr name="Freeform 18" id="18"/>
            <p:cNvSpPr/>
            <p:nvPr/>
          </p:nvSpPr>
          <p:spPr>
            <a:xfrm flipH="false" flipV="false" rot="0">
              <a:off x="0" y="0"/>
              <a:ext cx="1260075" cy="236293"/>
            </a:xfrm>
            <a:custGeom>
              <a:avLst/>
              <a:gdLst/>
              <a:ahLst/>
              <a:cxnLst/>
              <a:rect r="r" b="b" t="t" l="l"/>
              <a:pathLst>
                <a:path h="236293" w="1260075">
                  <a:moveTo>
                    <a:pt x="46927" y="0"/>
                  </a:moveTo>
                  <a:lnTo>
                    <a:pt x="1213148" y="0"/>
                  </a:lnTo>
                  <a:cubicBezTo>
                    <a:pt x="1225594" y="0"/>
                    <a:pt x="1237530" y="4944"/>
                    <a:pt x="1246331" y="13745"/>
                  </a:cubicBezTo>
                  <a:cubicBezTo>
                    <a:pt x="1255131" y="22545"/>
                    <a:pt x="1260075" y="34481"/>
                    <a:pt x="1260075" y="46927"/>
                  </a:cubicBezTo>
                  <a:lnTo>
                    <a:pt x="1260075" y="189366"/>
                  </a:lnTo>
                  <a:cubicBezTo>
                    <a:pt x="1260075" y="215283"/>
                    <a:pt x="1239065" y="236293"/>
                    <a:pt x="1213148" y="236293"/>
                  </a:cubicBezTo>
                  <a:lnTo>
                    <a:pt x="46927" y="236293"/>
                  </a:lnTo>
                  <a:cubicBezTo>
                    <a:pt x="34481" y="236293"/>
                    <a:pt x="22545" y="231349"/>
                    <a:pt x="13745" y="222548"/>
                  </a:cubicBezTo>
                  <a:cubicBezTo>
                    <a:pt x="4944" y="213748"/>
                    <a:pt x="0" y="201812"/>
                    <a:pt x="0" y="189366"/>
                  </a:cubicBezTo>
                  <a:lnTo>
                    <a:pt x="0" y="46927"/>
                  </a:lnTo>
                  <a:cubicBezTo>
                    <a:pt x="0" y="34481"/>
                    <a:pt x="4944" y="22545"/>
                    <a:pt x="13745" y="13745"/>
                  </a:cubicBezTo>
                  <a:cubicBezTo>
                    <a:pt x="22545" y="4944"/>
                    <a:pt x="34481" y="0"/>
                    <a:pt x="46927" y="0"/>
                  </a:cubicBezTo>
                  <a:close/>
                </a:path>
              </a:pathLst>
            </a:custGeom>
            <a:solidFill>
              <a:srgbClr val="FFFFFF"/>
            </a:solidFill>
            <a:ln w="9525" cap="rnd">
              <a:solidFill>
                <a:srgbClr val="212121"/>
              </a:solidFill>
              <a:prstDash val="solid"/>
              <a:round/>
            </a:ln>
          </p:spPr>
        </p:sp>
        <p:sp>
          <p:nvSpPr>
            <p:cNvPr name="TextBox 19" id="19"/>
            <p:cNvSpPr txBox="true"/>
            <p:nvPr/>
          </p:nvSpPr>
          <p:spPr>
            <a:xfrm>
              <a:off x="0" y="-38100"/>
              <a:ext cx="1260075" cy="274393"/>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8274305" y="2163243"/>
            <a:ext cx="4544555" cy="346359"/>
          </a:xfrm>
          <a:prstGeom prst="rect">
            <a:avLst/>
          </a:prstGeom>
        </p:spPr>
        <p:txBody>
          <a:bodyPr anchor="t" rtlCol="false" tIns="0" lIns="0" bIns="0" rIns="0">
            <a:spAutoFit/>
          </a:bodyPr>
          <a:lstStyle/>
          <a:p>
            <a:pPr algn="ctr">
              <a:lnSpc>
                <a:spcPts val="2959"/>
              </a:lnSpc>
            </a:pPr>
            <a:r>
              <a:rPr lang="en-US" b="true" sz="2113">
                <a:solidFill>
                  <a:srgbClr val="212121"/>
                </a:solidFill>
                <a:latin typeface="Open Sauce Bold"/>
                <a:ea typeface="Open Sauce Bold"/>
                <a:cs typeface="Open Sauce Bold"/>
                <a:sym typeface="Open Sauce Bold"/>
              </a:rPr>
              <a:t>SOCIAL MEDIA &amp; DIGITAL ADS</a:t>
            </a:r>
          </a:p>
        </p:txBody>
      </p:sp>
      <p:grpSp>
        <p:nvGrpSpPr>
          <p:cNvPr name="Group 21" id="21"/>
          <p:cNvGrpSpPr/>
          <p:nvPr/>
        </p:nvGrpSpPr>
        <p:grpSpPr>
          <a:xfrm rot="0">
            <a:off x="8154408" y="4003185"/>
            <a:ext cx="3900165" cy="897175"/>
            <a:chOff x="0" y="0"/>
            <a:chExt cx="1027204" cy="236293"/>
          </a:xfrm>
        </p:grpSpPr>
        <p:sp>
          <p:nvSpPr>
            <p:cNvPr name="Freeform 22" id="22"/>
            <p:cNvSpPr/>
            <p:nvPr/>
          </p:nvSpPr>
          <p:spPr>
            <a:xfrm flipH="false" flipV="false" rot="0">
              <a:off x="0" y="0"/>
              <a:ext cx="1027204" cy="236293"/>
            </a:xfrm>
            <a:custGeom>
              <a:avLst/>
              <a:gdLst/>
              <a:ahLst/>
              <a:cxnLst/>
              <a:rect r="r" b="b" t="t" l="l"/>
              <a:pathLst>
                <a:path h="236293" w="1027204">
                  <a:moveTo>
                    <a:pt x="57566" y="0"/>
                  </a:moveTo>
                  <a:lnTo>
                    <a:pt x="969638" y="0"/>
                  </a:lnTo>
                  <a:cubicBezTo>
                    <a:pt x="984906" y="0"/>
                    <a:pt x="999548" y="6065"/>
                    <a:pt x="1010343" y="16861"/>
                  </a:cubicBezTo>
                  <a:cubicBezTo>
                    <a:pt x="1021139" y="27656"/>
                    <a:pt x="1027204" y="42298"/>
                    <a:pt x="1027204" y="57566"/>
                  </a:cubicBezTo>
                  <a:lnTo>
                    <a:pt x="1027204" y="178727"/>
                  </a:lnTo>
                  <a:cubicBezTo>
                    <a:pt x="1027204" y="210520"/>
                    <a:pt x="1001431" y="236293"/>
                    <a:pt x="969638" y="236293"/>
                  </a:cubicBezTo>
                  <a:lnTo>
                    <a:pt x="57566" y="236293"/>
                  </a:lnTo>
                  <a:cubicBezTo>
                    <a:pt x="42298" y="236293"/>
                    <a:pt x="27656" y="230228"/>
                    <a:pt x="16861" y="219432"/>
                  </a:cubicBezTo>
                  <a:cubicBezTo>
                    <a:pt x="6065" y="208637"/>
                    <a:pt x="0" y="193995"/>
                    <a:pt x="0" y="178727"/>
                  </a:cubicBezTo>
                  <a:lnTo>
                    <a:pt x="0" y="57566"/>
                  </a:lnTo>
                  <a:cubicBezTo>
                    <a:pt x="0" y="42298"/>
                    <a:pt x="6065" y="27656"/>
                    <a:pt x="16861" y="16861"/>
                  </a:cubicBezTo>
                  <a:cubicBezTo>
                    <a:pt x="27656" y="6065"/>
                    <a:pt x="42298" y="0"/>
                    <a:pt x="57566" y="0"/>
                  </a:cubicBezTo>
                  <a:close/>
                </a:path>
              </a:pathLst>
            </a:custGeom>
            <a:solidFill>
              <a:srgbClr val="FFFFFF"/>
            </a:solidFill>
            <a:ln w="9525" cap="rnd">
              <a:solidFill>
                <a:srgbClr val="212121"/>
              </a:solidFill>
              <a:prstDash val="solid"/>
              <a:round/>
            </a:ln>
          </p:spPr>
        </p:sp>
        <p:sp>
          <p:nvSpPr>
            <p:cNvPr name="TextBox 23" id="23"/>
            <p:cNvSpPr txBox="true"/>
            <p:nvPr/>
          </p:nvSpPr>
          <p:spPr>
            <a:xfrm>
              <a:off x="0" y="-38100"/>
              <a:ext cx="1027204" cy="274393"/>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8274305" y="4264306"/>
            <a:ext cx="3660372" cy="346359"/>
          </a:xfrm>
          <a:prstGeom prst="rect">
            <a:avLst/>
          </a:prstGeom>
        </p:spPr>
        <p:txBody>
          <a:bodyPr anchor="t" rtlCol="false" tIns="0" lIns="0" bIns="0" rIns="0">
            <a:spAutoFit/>
          </a:bodyPr>
          <a:lstStyle/>
          <a:p>
            <a:pPr algn="ctr">
              <a:lnSpc>
                <a:spcPts val="2959"/>
              </a:lnSpc>
            </a:pPr>
            <a:r>
              <a:rPr lang="en-US" b="true" sz="2113">
                <a:solidFill>
                  <a:srgbClr val="212121"/>
                </a:solidFill>
                <a:latin typeface="Open Sauce Bold"/>
                <a:ea typeface="Open Sauce Bold"/>
                <a:cs typeface="Open Sauce Bold"/>
                <a:sym typeface="Open Sauce Bold"/>
              </a:rPr>
              <a:t>EVENTS &amp; CAMPAIGNS</a:t>
            </a:r>
          </a:p>
        </p:txBody>
      </p:sp>
      <p:grpSp>
        <p:nvGrpSpPr>
          <p:cNvPr name="Group 25" id="25"/>
          <p:cNvGrpSpPr/>
          <p:nvPr/>
        </p:nvGrpSpPr>
        <p:grpSpPr>
          <a:xfrm rot="0">
            <a:off x="13144709" y="1902122"/>
            <a:ext cx="3389943" cy="2998238"/>
            <a:chOff x="0" y="0"/>
            <a:chExt cx="1464305" cy="1295106"/>
          </a:xfrm>
        </p:grpSpPr>
        <p:sp>
          <p:nvSpPr>
            <p:cNvPr name="Freeform 26" id="26"/>
            <p:cNvSpPr/>
            <p:nvPr/>
          </p:nvSpPr>
          <p:spPr>
            <a:xfrm flipH="false" flipV="false" rot="0">
              <a:off x="0" y="0"/>
              <a:ext cx="1464305" cy="1295106"/>
            </a:xfrm>
            <a:custGeom>
              <a:avLst/>
              <a:gdLst/>
              <a:ahLst/>
              <a:cxnLst/>
              <a:rect r="r" b="b" t="t" l="l"/>
              <a:pathLst>
                <a:path h="1295106" w="1464305">
                  <a:moveTo>
                    <a:pt x="52527" y="0"/>
                  </a:moveTo>
                  <a:lnTo>
                    <a:pt x="1411778" y="0"/>
                  </a:lnTo>
                  <a:cubicBezTo>
                    <a:pt x="1440788" y="0"/>
                    <a:pt x="1464305" y="23517"/>
                    <a:pt x="1464305" y="52527"/>
                  </a:cubicBezTo>
                  <a:lnTo>
                    <a:pt x="1464305" y="1242579"/>
                  </a:lnTo>
                  <a:cubicBezTo>
                    <a:pt x="1464305" y="1256510"/>
                    <a:pt x="1458771" y="1269870"/>
                    <a:pt x="1448920" y="1279721"/>
                  </a:cubicBezTo>
                  <a:cubicBezTo>
                    <a:pt x="1439069" y="1289572"/>
                    <a:pt x="1425709" y="1295106"/>
                    <a:pt x="1411778" y="1295106"/>
                  </a:cubicBezTo>
                  <a:lnTo>
                    <a:pt x="52527" y="1295106"/>
                  </a:lnTo>
                  <a:cubicBezTo>
                    <a:pt x="38596" y="1295106"/>
                    <a:pt x="25236" y="1289572"/>
                    <a:pt x="15385" y="1279721"/>
                  </a:cubicBezTo>
                  <a:cubicBezTo>
                    <a:pt x="5534" y="1269870"/>
                    <a:pt x="0" y="1256510"/>
                    <a:pt x="0" y="1242579"/>
                  </a:cubicBezTo>
                  <a:lnTo>
                    <a:pt x="0" y="52527"/>
                  </a:lnTo>
                  <a:cubicBezTo>
                    <a:pt x="0" y="38596"/>
                    <a:pt x="5534" y="25236"/>
                    <a:pt x="15385" y="15385"/>
                  </a:cubicBezTo>
                  <a:cubicBezTo>
                    <a:pt x="25236" y="5534"/>
                    <a:pt x="38596" y="0"/>
                    <a:pt x="52527" y="0"/>
                  </a:cubicBezTo>
                  <a:close/>
                </a:path>
              </a:pathLst>
            </a:custGeom>
            <a:blipFill>
              <a:blip r:embed="rId2"/>
              <a:stretch>
                <a:fillRect l="-16333" t="0" r="-16333" b="0"/>
              </a:stretch>
            </a:blipFill>
            <a:ln w="9525" cap="rnd">
              <a:solidFill>
                <a:srgbClr val="212121"/>
              </a:solidFill>
              <a:prstDash val="solid"/>
              <a:round/>
            </a:ln>
          </p:spPr>
        </p:sp>
      </p:grpSp>
      <p:grpSp>
        <p:nvGrpSpPr>
          <p:cNvPr name="Group 27" id="27"/>
          <p:cNvGrpSpPr/>
          <p:nvPr/>
        </p:nvGrpSpPr>
        <p:grpSpPr>
          <a:xfrm rot="0">
            <a:off x="11052643" y="2953610"/>
            <a:ext cx="2913729" cy="897175"/>
            <a:chOff x="0" y="0"/>
            <a:chExt cx="767402" cy="236293"/>
          </a:xfrm>
        </p:grpSpPr>
        <p:sp>
          <p:nvSpPr>
            <p:cNvPr name="Freeform 28" id="28"/>
            <p:cNvSpPr/>
            <p:nvPr/>
          </p:nvSpPr>
          <p:spPr>
            <a:xfrm flipH="false" flipV="false" rot="0">
              <a:off x="0" y="0"/>
              <a:ext cx="767402" cy="236293"/>
            </a:xfrm>
            <a:custGeom>
              <a:avLst/>
              <a:gdLst/>
              <a:ahLst/>
              <a:cxnLst/>
              <a:rect r="r" b="b" t="t" l="l"/>
              <a:pathLst>
                <a:path h="236293" w="767402">
                  <a:moveTo>
                    <a:pt x="77054" y="0"/>
                  </a:moveTo>
                  <a:lnTo>
                    <a:pt x="690347" y="0"/>
                  </a:lnTo>
                  <a:cubicBezTo>
                    <a:pt x="710784" y="0"/>
                    <a:pt x="730383" y="8118"/>
                    <a:pt x="744833" y="22569"/>
                  </a:cubicBezTo>
                  <a:cubicBezTo>
                    <a:pt x="759284" y="37019"/>
                    <a:pt x="767402" y="56618"/>
                    <a:pt x="767402" y="77054"/>
                  </a:cubicBezTo>
                  <a:lnTo>
                    <a:pt x="767402" y="159239"/>
                  </a:lnTo>
                  <a:cubicBezTo>
                    <a:pt x="767402" y="179675"/>
                    <a:pt x="759284" y="199274"/>
                    <a:pt x="744833" y="213724"/>
                  </a:cubicBezTo>
                  <a:cubicBezTo>
                    <a:pt x="730383" y="228175"/>
                    <a:pt x="710784" y="236293"/>
                    <a:pt x="690347" y="236293"/>
                  </a:cubicBezTo>
                  <a:lnTo>
                    <a:pt x="77054" y="236293"/>
                  </a:lnTo>
                  <a:cubicBezTo>
                    <a:pt x="56618" y="236293"/>
                    <a:pt x="37019" y="228175"/>
                    <a:pt x="22569" y="213724"/>
                  </a:cubicBezTo>
                  <a:cubicBezTo>
                    <a:pt x="8118" y="199274"/>
                    <a:pt x="0" y="179675"/>
                    <a:pt x="0" y="159239"/>
                  </a:cubicBezTo>
                  <a:lnTo>
                    <a:pt x="0" y="77054"/>
                  </a:lnTo>
                  <a:cubicBezTo>
                    <a:pt x="0" y="56618"/>
                    <a:pt x="8118" y="37019"/>
                    <a:pt x="22569" y="22569"/>
                  </a:cubicBezTo>
                  <a:cubicBezTo>
                    <a:pt x="37019" y="8118"/>
                    <a:pt x="56618" y="0"/>
                    <a:pt x="77054" y="0"/>
                  </a:cubicBezTo>
                  <a:close/>
                </a:path>
              </a:pathLst>
            </a:custGeom>
            <a:solidFill>
              <a:srgbClr val="2449CC"/>
            </a:solidFill>
            <a:ln w="9525" cap="rnd">
              <a:solidFill>
                <a:srgbClr val="212121"/>
              </a:solidFill>
              <a:prstDash val="solid"/>
              <a:round/>
            </a:ln>
          </p:spPr>
        </p:sp>
        <p:sp>
          <p:nvSpPr>
            <p:cNvPr name="TextBox 29" id="29"/>
            <p:cNvSpPr txBox="true"/>
            <p:nvPr/>
          </p:nvSpPr>
          <p:spPr>
            <a:xfrm>
              <a:off x="0" y="-38100"/>
              <a:ext cx="767402" cy="274393"/>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1052643" y="3214730"/>
            <a:ext cx="2913729" cy="346359"/>
          </a:xfrm>
          <a:prstGeom prst="rect">
            <a:avLst/>
          </a:prstGeom>
        </p:spPr>
        <p:txBody>
          <a:bodyPr anchor="t" rtlCol="false" tIns="0" lIns="0" bIns="0" rIns="0">
            <a:spAutoFit/>
          </a:bodyPr>
          <a:lstStyle/>
          <a:p>
            <a:pPr algn="ctr">
              <a:lnSpc>
                <a:spcPts val="2959"/>
              </a:lnSpc>
            </a:pPr>
            <a:r>
              <a:rPr lang="en-US" b="true" sz="2113">
                <a:solidFill>
                  <a:srgbClr val="FFFFFF"/>
                </a:solidFill>
                <a:latin typeface="Open Sauce Bold"/>
                <a:ea typeface="Open Sauce Bold"/>
                <a:cs typeface="Open Sauce Bold"/>
                <a:sym typeface="Open Sauce Bold"/>
              </a:rPr>
              <a:t>PARTNERSHIPS</a:t>
            </a:r>
          </a:p>
        </p:txBody>
      </p:sp>
      <p:sp>
        <p:nvSpPr>
          <p:cNvPr name="TextBox 31" id="31"/>
          <p:cNvSpPr txBox="true"/>
          <p:nvPr/>
        </p:nvSpPr>
        <p:spPr>
          <a:xfrm rot="0">
            <a:off x="12176933" y="5881459"/>
            <a:ext cx="4960620" cy="1243273"/>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a:t>
            </a:r>
          </a:p>
        </p:txBody>
      </p:sp>
      <p:sp>
        <p:nvSpPr>
          <p:cNvPr name="TextBox 32" id="32"/>
          <p:cNvSpPr txBox="true"/>
          <p:nvPr/>
        </p:nvSpPr>
        <p:spPr>
          <a:xfrm rot="0">
            <a:off x="8154408" y="8105831"/>
            <a:ext cx="5132834" cy="230419"/>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www.reallygreatsite.com | hello@reallygreatsite.com</a:t>
            </a:r>
          </a:p>
        </p:txBody>
      </p:sp>
      <p:grpSp>
        <p:nvGrpSpPr>
          <p:cNvPr name="Group 33" id="33"/>
          <p:cNvGrpSpPr/>
          <p:nvPr/>
        </p:nvGrpSpPr>
        <p:grpSpPr>
          <a:xfrm rot="0">
            <a:off x="15931752" y="4292881"/>
            <a:ext cx="1205800" cy="1205800"/>
            <a:chOff x="0" y="0"/>
            <a:chExt cx="317577" cy="317577"/>
          </a:xfrm>
        </p:grpSpPr>
        <p:sp>
          <p:nvSpPr>
            <p:cNvPr name="Freeform 34" id="34"/>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449CC"/>
            </a:solidFill>
          </p:spPr>
        </p:sp>
        <p:sp>
          <p:nvSpPr>
            <p:cNvPr name="TextBox 35" id="35"/>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sp>
        <p:nvSpPr>
          <p:cNvPr name="Freeform 36" id="36"/>
          <p:cNvSpPr/>
          <p:nvPr/>
        </p:nvSpPr>
        <p:spPr>
          <a:xfrm flipH="false" flipV="false" rot="0">
            <a:off x="16174008" y="4535137"/>
            <a:ext cx="721288" cy="721288"/>
          </a:xfrm>
          <a:custGeom>
            <a:avLst/>
            <a:gdLst/>
            <a:ahLst/>
            <a:cxnLst/>
            <a:rect r="r" b="b" t="t" l="l"/>
            <a:pathLst>
              <a:path h="721288" w="721288">
                <a:moveTo>
                  <a:pt x="0" y="0"/>
                </a:moveTo>
                <a:lnTo>
                  <a:pt x="721288" y="0"/>
                </a:lnTo>
                <a:lnTo>
                  <a:pt x="721288" y="721288"/>
                </a:lnTo>
                <a:lnTo>
                  <a:pt x="0" y="7212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7" id="37"/>
          <p:cNvGrpSpPr/>
          <p:nvPr/>
        </p:nvGrpSpPr>
        <p:grpSpPr>
          <a:xfrm rot="0">
            <a:off x="8154408" y="5377686"/>
            <a:ext cx="3296318" cy="2269870"/>
            <a:chOff x="0" y="0"/>
            <a:chExt cx="1880760" cy="1295106"/>
          </a:xfrm>
        </p:grpSpPr>
        <p:sp>
          <p:nvSpPr>
            <p:cNvPr name="Freeform 38" id="38"/>
            <p:cNvSpPr/>
            <p:nvPr/>
          </p:nvSpPr>
          <p:spPr>
            <a:xfrm flipH="false" flipV="false" rot="0">
              <a:off x="0" y="0"/>
              <a:ext cx="1880760" cy="1295106"/>
            </a:xfrm>
            <a:custGeom>
              <a:avLst/>
              <a:gdLst/>
              <a:ahLst/>
              <a:cxnLst/>
              <a:rect r="r" b="b" t="t" l="l"/>
              <a:pathLst>
                <a:path h="1295106" w="1880760">
                  <a:moveTo>
                    <a:pt x="54019" y="0"/>
                  </a:moveTo>
                  <a:lnTo>
                    <a:pt x="1826741" y="0"/>
                  </a:lnTo>
                  <a:cubicBezTo>
                    <a:pt x="1856575" y="0"/>
                    <a:pt x="1880760" y="24185"/>
                    <a:pt x="1880760" y="54019"/>
                  </a:cubicBezTo>
                  <a:lnTo>
                    <a:pt x="1880760" y="1241087"/>
                  </a:lnTo>
                  <a:cubicBezTo>
                    <a:pt x="1880760" y="1270921"/>
                    <a:pt x="1856575" y="1295106"/>
                    <a:pt x="1826741" y="1295106"/>
                  </a:cubicBezTo>
                  <a:lnTo>
                    <a:pt x="54019" y="1295106"/>
                  </a:lnTo>
                  <a:cubicBezTo>
                    <a:pt x="24185" y="1295106"/>
                    <a:pt x="0" y="1270921"/>
                    <a:pt x="0" y="1241087"/>
                  </a:cubicBezTo>
                  <a:lnTo>
                    <a:pt x="0" y="54019"/>
                  </a:lnTo>
                  <a:cubicBezTo>
                    <a:pt x="0" y="24185"/>
                    <a:pt x="24185" y="0"/>
                    <a:pt x="54019" y="0"/>
                  </a:cubicBezTo>
                  <a:close/>
                </a:path>
              </a:pathLst>
            </a:custGeom>
            <a:blipFill>
              <a:blip r:embed="rId5"/>
              <a:stretch>
                <a:fillRect l="-1645" t="0" r="-1645" b="0"/>
              </a:stretch>
            </a:blipFill>
            <a:ln w="9525" cap="rnd">
              <a:solidFill>
                <a:srgbClr val="212121"/>
              </a:solidFill>
              <a:prstDash val="solid"/>
              <a:round/>
            </a:ln>
          </p:spPr>
        </p:sp>
      </p:grpSp>
      <p:grpSp>
        <p:nvGrpSpPr>
          <p:cNvPr name="Group 39" id="39"/>
          <p:cNvGrpSpPr/>
          <p:nvPr/>
        </p:nvGrpSpPr>
        <p:grpSpPr>
          <a:xfrm rot="0">
            <a:off x="14223824" y="7439075"/>
            <a:ext cx="2913729" cy="897175"/>
            <a:chOff x="0" y="0"/>
            <a:chExt cx="767402" cy="236293"/>
          </a:xfrm>
        </p:grpSpPr>
        <p:sp>
          <p:nvSpPr>
            <p:cNvPr name="Freeform 40" id="40"/>
            <p:cNvSpPr/>
            <p:nvPr/>
          </p:nvSpPr>
          <p:spPr>
            <a:xfrm flipH="false" flipV="false" rot="0">
              <a:off x="0" y="0"/>
              <a:ext cx="767402" cy="236293"/>
            </a:xfrm>
            <a:custGeom>
              <a:avLst/>
              <a:gdLst/>
              <a:ahLst/>
              <a:cxnLst/>
              <a:rect r="r" b="b" t="t" l="l"/>
              <a:pathLst>
                <a:path h="236293" w="767402">
                  <a:moveTo>
                    <a:pt x="77054" y="0"/>
                  </a:moveTo>
                  <a:lnTo>
                    <a:pt x="690347" y="0"/>
                  </a:lnTo>
                  <a:cubicBezTo>
                    <a:pt x="710784" y="0"/>
                    <a:pt x="730383" y="8118"/>
                    <a:pt x="744833" y="22569"/>
                  </a:cubicBezTo>
                  <a:cubicBezTo>
                    <a:pt x="759284" y="37019"/>
                    <a:pt x="767402" y="56618"/>
                    <a:pt x="767402" y="77054"/>
                  </a:cubicBezTo>
                  <a:lnTo>
                    <a:pt x="767402" y="159239"/>
                  </a:lnTo>
                  <a:cubicBezTo>
                    <a:pt x="767402" y="179675"/>
                    <a:pt x="759284" y="199274"/>
                    <a:pt x="744833" y="213724"/>
                  </a:cubicBezTo>
                  <a:cubicBezTo>
                    <a:pt x="730383" y="228175"/>
                    <a:pt x="710784" y="236293"/>
                    <a:pt x="690347" y="236293"/>
                  </a:cubicBezTo>
                  <a:lnTo>
                    <a:pt x="77054" y="236293"/>
                  </a:lnTo>
                  <a:cubicBezTo>
                    <a:pt x="56618" y="236293"/>
                    <a:pt x="37019" y="228175"/>
                    <a:pt x="22569" y="213724"/>
                  </a:cubicBezTo>
                  <a:cubicBezTo>
                    <a:pt x="8118" y="199274"/>
                    <a:pt x="0" y="179675"/>
                    <a:pt x="0" y="159239"/>
                  </a:cubicBezTo>
                  <a:lnTo>
                    <a:pt x="0" y="77054"/>
                  </a:lnTo>
                  <a:cubicBezTo>
                    <a:pt x="0" y="56618"/>
                    <a:pt x="8118" y="37019"/>
                    <a:pt x="22569" y="22569"/>
                  </a:cubicBezTo>
                  <a:cubicBezTo>
                    <a:pt x="37019" y="8118"/>
                    <a:pt x="56618" y="0"/>
                    <a:pt x="77054" y="0"/>
                  </a:cubicBezTo>
                  <a:close/>
                </a:path>
              </a:pathLst>
            </a:custGeom>
            <a:solidFill>
              <a:srgbClr val="2449CC"/>
            </a:solidFill>
            <a:ln w="9525" cap="rnd">
              <a:solidFill>
                <a:srgbClr val="212121"/>
              </a:solidFill>
              <a:prstDash val="solid"/>
              <a:round/>
            </a:ln>
          </p:spPr>
        </p:sp>
        <p:sp>
          <p:nvSpPr>
            <p:cNvPr name="TextBox 41" id="41"/>
            <p:cNvSpPr txBox="true"/>
            <p:nvPr/>
          </p:nvSpPr>
          <p:spPr>
            <a:xfrm>
              <a:off x="0" y="-38100"/>
              <a:ext cx="767402" cy="274393"/>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4223824" y="7700195"/>
            <a:ext cx="2913729" cy="346359"/>
          </a:xfrm>
          <a:prstGeom prst="rect">
            <a:avLst/>
          </a:prstGeom>
        </p:spPr>
        <p:txBody>
          <a:bodyPr anchor="t" rtlCol="false" tIns="0" lIns="0" bIns="0" rIns="0">
            <a:spAutoFit/>
          </a:bodyPr>
          <a:lstStyle/>
          <a:p>
            <a:pPr algn="ctr">
              <a:lnSpc>
                <a:spcPts val="2959"/>
              </a:lnSpc>
            </a:pPr>
            <a:r>
              <a:rPr lang="en-US" b="true" sz="2113">
                <a:solidFill>
                  <a:srgbClr val="FFFFFF"/>
                </a:solidFill>
                <a:latin typeface="Open Sauce Bold"/>
                <a:ea typeface="Open Sauce Bold"/>
                <a:cs typeface="Open Sauce Bold"/>
                <a:sym typeface="Open Sauce Bold"/>
              </a:rPr>
              <a:t>LEARN MORE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9</a:t>
            </a:r>
          </a:p>
        </p:txBody>
      </p:sp>
      <p:sp>
        <p:nvSpPr>
          <p:cNvPr name="TextBox 15" id="15"/>
          <p:cNvSpPr txBox="true"/>
          <p:nvPr/>
        </p:nvSpPr>
        <p:spPr>
          <a:xfrm rot="0">
            <a:off x="5677986" y="1599576"/>
            <a:ext cx="6932028" cy="1742313"/>
          </a:xfrm>
          <a:prstGeom prst="rect">
            <a:avLst/>
          </a:prstGeom>
        </p:spPr>
        <p:txBody>
          <a:bodyPr anchor="t" rtlCol="false" tIns="0" lIns="0" bIns="0" rIns="0">
            <a:spAutoFit/>
          </a:bodyPr>
          <a:lstStyle/>
          <a:p>
            <a:pPr algn="ctr">
              <a:lnSpc>
                <a:spcPts val="6696"/>
              </a:lnSpc>
            </a:pPr>
            <a:r>
              <a:rPr lang="en-US" b="true" sz="7200" spc="-518">
                <a:solidFill>
                  <a:srgbClr val="212121"/>
                </a:solidFill>
                <a:latin typeface="Open Sauce Bold"/>
                <a:ea typeface="Open Sauce Bold"/>
                <a:cs typeface="Open Sauce Bold"/>
                <a:sym typeface="Open Sauce Bold"/>
              </a:rPr>
              <a:t>FINANCIAL PROJECTIONS</a:t>
            </a:r>
          </a:p>
        </p:txBody>
      </p:sp>
      <p:pic>
        <p:nvPicPr>
          <p:cNvPr name="Picture 16" id="16"/>
          <p:cNvPicPr>
            <a:picLocks noChangeAspect="true"/>
          </p:cNvPicPr>
          <p:nvPr/>
        </p:nvPicPr>
        <p:blipFill>
          <a:blip r:embed="rId2"/>
          <a:stretch>
            <a:fillRect/>
          </a:stretch>
        </p:blipFill>
        <p:spPr>
          <a:xfrm rot="0">
            <a:off x="581786" y="3443879"/>
            <a:ext cx="8377319" cy="5992139"/>
          </a:xfrm>
          <a:prstGeom prst="rect">
            <a:avLst/>
          </a:prstGeom>
        </p:spPr>
      </p:pic>
      <p:grpSp>
        <p:nvGrpSpPr>
          <p:cNvPr name="Group 17" id="17"/>
          <p:cNvGrpSpPr/>
          <p:nvPr/>
        </p:nvGrpSpPr>
        <p:grpSpPr>
          <a:xfrm rot="0">
            <a:off x="9144000" y="4141989"/>
            <a:ext cx="4123223" cy="1768221"/>
            <a:chOff x="0" y="0"/>
            <a:chExt cx="1781049" cy="763793"/>
          </a:xfrm>
        </p:grpSpPr>
        <p:sp>
          <p:nvSpPr>
            <p:cNvPr name="Freeform 18" id="18"/>
            <p:cNvSpPr/>
            <p:nvPr/>
          </p:nvSpPr>
          <p:spPr>
            <a:xfrm flipH="false" flipV="false" rot="0">
              <a:off x="0" y="0"/>
              <a:ext cx="1781049" cy="763793"/>
            </a:xfrm>
            <a:custGeom>
              <a:avLst/>
              <a:gdLst/>
              <a:ahLst/>
              <a:cxnLst/>
              <a:rect r="r" b="b" t="t" l="l"/>
              <a:pathLst>
                <a:path h="763793" w="1781049">
                  <a:moveTo>
                    <a:pt x="43186" y="0"/>
                  </a:moveTo>
                  <a:lnTo>
                    <a:pt x="1737863" y="0"/>
                  </a:lnTo>
                  <a:cubicBezTo>
                    <a:pt x="1761714" y="0"/>
                    <a:pt x="1781049" y="19335"/>
                    <a:pt x="1781049" y="43186"/>
                  </a:cubicBezTo>
                  <a:lnTo>
                    <a:pt x="1781049" y="720607"/>
                  </a:lnTo>
                  <a:cubicBezTo>
                    <a:pt x="1781049" y="744458"/>
                    <a:pt x="1761714" y="763793"/>
                    <a:pt x="1737863" y="763793"/>
                  </a:cubicBezTo>
                  <a:lnTo>
                    <a:pt x="43186" y="763793"/>
                  </a:lnTo>
                  <a:cubicBezTo>
                    <a:pt x="19335" y="763793"/>
                    <a:pt x="0" y="744458"/>
                    <a:pt x="0" y="720607"/>
                  </a:cubicBezTo>
                  <a:lnTo>
                    <a:pt x="0" y="43186"/>
                  </a:lnTo>
                  <a:cubicBezTo>
                    <a:pt x="0" y="19335"/>
                    <a:pt x="19335" y="0"/>
                    <a:pt x="43186" y="0"/>
                  </a:cubicBezTo>
                  <a:close/>
                </a:path>
              </a:pathLst>
            </a:custGeom>
            <a:blipFill>
              <a:blip r:embed="rId3"/>
              <a:stretch>
                <a:fillRect l="0" t="-27728" r="0" b="-27728"/>
              </a:stretch>
            </a:blipFill>
            <a:ln w="9525" cap="rnd">
              <a:solidFill>
                <a:srgbClr val="212121"/>
              </a:solidFill>
              <a:prstDash val="solid"/>
              <a:round/>
            </a:ln>
          </p:spPr>
        </p:sp>
      </p:grpSp>
      <p:grpSp>
        <p:nvGrpSpPr>
          <p:cNvPr name="Group 19" id="19"/>
          <p:cNvGrpSpPr/>
          <p:nvPr/>
        </p:nvGrpSpPr>
        <p:grpSpPr>
          <a:xfrm rot="0">
            <a:off x="13533176" y="4577512"/>
            <a:ext cx="2913729" cy="897175"/>
            <a:chOff x="0" y="0"/>
            <a:chExt cx="767402" cy="236293"/>
          </a:xfrm>
        </p:grpSpPr>
        <p:sp>
          <p:nvSpPr>
            <p:cNvPr name="Freeform 20" id="20"/>
            <p:cNvSpPr/>
            <p:nvPr/>
          </p:nvSpPr>
          <p:spPr>
            <a:xfrm flipH="false" flipV="false" rot="0">
              <a:off x="0" y="0"/>
              <a:ext cx="767402" cy="236293"/>
            </a:xfrm>
            <a:custGeom>
              <a:avLst/>
              <a:gdLst/>
              <a:ahLst/>
              <a:cxnLst/>
              <a:rect r="r" b="b" t="t" l="l"/>
              <a:pathLst>
                <a:path h="236293" w="767402">
                  <a:moveTo>
                    <a:pt x="77054" y="0"/>
                  </a:moveTo>
                  <a:lnTo>
                    <a:pt x="690347" y="0"/>
                  </a:lnTo>
                  <a:cubicBezTo>
                    <a:pt x="710784" y="0"/>
                    <a:pt x="730383" y="8118"/>
                    <a:pt x="744833" y="22569"/>
                  </a:cubicBezTo>
                  <a:cubicBezTo>
                    <a:pt x="759284" y="37019"/>
                    <a:pt x="767402" y="56618"/>
                    <a:pt x="767402" y="77054"/>
                  </a:cubicBezTo>
                  <a:lnTo>
                    <a:pt x="767402" y="159239"/>
                  </a:lnTo>
                  <a:cubicBezTo>
                    <a:pt x="767402" y="179675"/>
                    <a:pt x="759284" y="199274"/>
                    <a:pt x="744833" y="213724"/>
                  </a:cubicBezTo>
                  <a:cubicBezTo>
                    <a:pt x="730383" y="228175"/>
                    <a:pt x="710784" y="236293"/>
                    <a:pt x="690347" y="236293"/>
                  </a:cubicBezTo>
                  <a:lnTo>
                    <a:pt x="77054" y="236293"/>
                  </a:lnTo>
                  <a:cubicBezTo>
                    <a:pt x="56618" y="236293"/>
                    <a:pt x="37019" y="228175"/>
                    <a:pt x="22569" y="213724"/>
                  </a:cubicBezTo>
                  <a:cubicBezTo>
                    <a:pt x="8118" y="199274"/>
                    <a:pt x="0" y="179675"/>
                    <a:pt x="0" y="159239"/>
                  </a:cubicBezTo>
                  <a:lnTo>
                    <a:pt x="0" y="77054"/>
                  </a:lnTo>
                  <a:cubicBezTo>
                    <a:pt x="0" y="56618"/>
                    <a:pt x="8118" y="37019"/>
                    <a:pt x="22569" y="22569"/>
                  </a:cubicBezTo>
                  <a:cubicBezTo>
                    <a:pt x="37019" y="8118"/>
                    <a:pt x="56618" y="0"/>
                    <a:pt x="77054" y="0"/>
                  </a:cubicBezTo>
                  <a:close/>
                </a:path>
              </a:pathLst>
            </a:custGeom>
            <a:solidFill>
              <a:srgbClr val="2449CC"/>
            </a:solidFill>
            <a:ln w="9525" cap="rnd">
              <a:solidFill>
                <a:srgbClr val="212121"/>
              </a:solidFill>
              <a:prstDash val="solid"/>
              <a:round/>
            </a:ln>
          </p:spPr>
        </p:sp>
        <p:sp>
          <p:nvSpPr>
            <p:cNvPr name="TextBox 21" id="21"/>
            <p:cNvSpPr txBox="true"/>
            <p:nvPr/>
          </p:nvSpPr>
          <p:spPr>
            <a:xfrm>
              <a:off x="0" y="-38100"/>
              <a:ext cx="767402" cy="274393"/>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3533176" y="4784340"/>
            <a:ext cx="2913729" cy="445420"/>
          </a:xfrm>
          <a:prstGeom prst="rect">
            <a:avLst/>
          </a:prstGeom>
        </p:spPr>
        <p:txBody>
          <a:bodyPr anchor="t" rtlCol="false" tIns="0" lIns="0" bIns="0" rIns="0">
            <a:spAutoFit/>
          </a:bodyPr>
          <a:lstStyle/>
          <a:p>
            <a:pPr algn="ctr">
              <a:lnSpc>
                <a:spcPts val="3799"/>
              </a:lnSpc>
            </a:pPr>
            <a:r>
              <a:rPr lang="en-US" b="true" sz="2713">
                <a:solidFill>
                  <a:srgbClr val="FFFFFF"/>
                </a:solidFill>
                <a:latin typeface="Open Sauce Bold"/>
                <a:ea typeface="Open Sauce Bold"/>
                <a:cs typeface="Open Sauce Bold"/>
                <a:sym typeface="Open Sauce Bold"/>
              </a:rPr>
              <a:t>2025 - 2040</a:t>
            </a:r>
          </a:p>
        </p:txBody>
      </p:sp>
      <p:sp>
        <p:nvSpPr>
          <p:cNvPr name="TextBox 23" id="23"/>
          <p:cNvSpPr txBox="true"/>
          <p:nvPr/>
        </p:nvSpPr>
        <p:spPr>
          <a:xfrm rot="0">
            <a:off x="9144000" y="6701898"/>
            <a:ext cx="7721545" cy="991172"/>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a:t>
            </a:r>
          </a:p>
        </p:txBody>
      </p:sp>
      <p:sp>
        <p:nvSpPr>
          <p:cNvPr name="TextBox 24" id="24"/>
          <p:cNvSpPr txBox="true"/>
          <p:nvPr/>
        </p:nvSpPr>
        <p:spPr>
          <a:xfrm rot="0">
            <a:off x="9144000" y="8207420"/>
            <a:ext cx="5132834" cy="230419"/>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www.reallygreatsite.com | hello@reallygreatsite.com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9144000" y="1902122"/>
            <a:ext cx="7496372" cy="3241378"/>
            <a:chOff x="0" y="0"/>
            <a:chExt cx="1974353" cy="853696"/>
          </a:xfrm>
        </p:grpSpPr>
        <p:sp>
          <p:nvSpPr>
            <p:cNvPr name="Freeform 15" id="15"/>
            <p:cNvSpPr/>
            <p:nvPr/>
          </p:nvSpPr>
          <p:spPr>
            <a:xfrm flipH="false" flipV="false" rot="0">
              <a:off x="0" y="0"/>
              <a:ext cx="1974353" cy="853696"/>
            </a:xfrm>
            <a:custGeom>
              <a:avLst/>
              <a:gdLst/>
              <a:ahLst/>
              <a:cxnLst/>
              <a:rect r="r" b="b" t="t" l="l"/>
              <a:pathLst>
                <a:path h="853696" w="1974353">
                  <a:moveTo>
                    <a:pt x="52671" y="0"/>
                  </a:moveTo>
                  <a:lnTo>
                    <a:pt x="1921683" y="0"/>
                  </a:lnTo>
                  <a:cubicBezTo>
                    <a:pt x="1950772" y="0"/>
                    <a:pt x="1974353" y="23581"/>
                    <a:pt x="1974353" y="52671"/>
                  </a:cubicBezTo>
                  <a:lnTo>
                    <a:pt x="1974353" y="801026"/>
                  </a:lnTo>
                  <a:cubicBezTo>
                    <a:pt x="1974353" y="814995"/>
                    <a:pt x="1968804" y="828392"/>
                    <a:pt x="1958926" y="838269"/>
                  </a:cubicBezTo>
                  <a:cubicBezTo>
                    <a:pt x="1949049" y="848147"/>
                    <a:pt x="1935652" y="853696"/>
                    <a:pt x="1921683" y="853696"/>
                  </a:cubicBezTo>
                  <a:lnTo>
                    <a:pt x="52671" y="853696"/>
                  </a:lnTo>
                  <a:cubicBezTo>
                    <a:pt x="23581" y="853696"/>
                    <a:pt x="0" y="830115"/>
                    <a:pt x="0" y="801026"/>
                  </a:cubicBezTo>
                  <a:lnTo>
                    <a:pt x="0" y="52671"/>
                  </a:lnTo>
                  <a:cubicBezTo>
                    <a:pt x="0" y="38701"/>
                    <a:pt x="5549" y="25304"/>
                    <a:pt x="15427" y="15427"/>
                  </a:cubicBezTo>
                  <a:cubicBezTo>
                    <a:pt x="25304" y="5549"/>
                    <a:pt x="38701" y="0"/>
                    <a:pt x="52671" y="0"/>
                  </a:cubicBezTo>
                  <a:close/>
                </a:path>
              </a:pathLst>
            </a:custGeom>
            <a:solidFill>
              <a:srgbClr val="2449CC"/>
            </a:solidFill>
          </p:spPr>
        </p:sp>
        <p:sp>
          <p:nvSpPr>
            <p:cNvPr name="TextBox 16" id="16"/>
            <p:cNvSpPr txBox="true"/>
            <p:nvPr/>
          </p:nvSpPr>
          <p:spPr>
            <a:xfrm>
              <a:off x="0" y="-38100"/>
              <a:ext cx="1974353" cy="891796"/>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6697418" y="1419928"/>
            <a:ext cx="4496344" cy="8867072"/>
          </a:xfrm>
          <a:custGeom>
            <a:avLst/>
            <a:gdLst/>
            <a:ahLst/>
            <a:cxnLst/>
            <a:rect r="r" b="b" t="t" l="l"/>
            <a:pathLst>
              <a:path h="8867072" w="4496344">
                <a:moveTo>
                  <a:pt x="0" y="0"/>
                </a:moveTo>
                <a:lnTo>
                  <a:pt x="4496345" y="0"/>
                </a:lnTo>
                <a:lnTo>
                  <a:pt x="4496345" y="8867072"/>
                </a:lnTo>
                <a:lnTo>
                  <a:pt x="0" y="8867072"/>
                </a:lnTo>
                <a:lnTo>
                  <a:pt x="0" y="0"/>
                </a:lnTo>
                <a:close/>
              </a:path>
            </a:pathLst>
          </a:custGeom>
          <a:blipFill>
            <a:blip r:embed="rId2"/>
            <a:stretch>
              <a:fillRect l="0" t="0" r="0" b="0"/>
            </a:stretch>
          </a:blipFill>
        </p:spPr>
      </p:sp>
      <p:sp>
        <p:nvSpPr>
          <p:cNvPr name="TextBox 18" id="18"/>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10</a:t>
            </a:r>
          </a:p>
        </p:txBody>
      </p:sp>
      <p:sp>
        <p:nvSpPr>
          <p:cNvPr name="TextBox 19" id="19"/>
          <p:cNvSpPr txBox="true"/>
          <p:nvPr/>
        </p:nvSpPr>
        <p:spPr>
          <a:xfrm rot="0">
            <a:off x="1292680" y="1599576"/>
            <a:ext cx="6932028" cy="1742313"/>
          </a:xfrm>
          <a:prstGeom prst="rect">
            <a:avLst/>
          </a:prstGeom>
        </p:spPr>
        <p:txBody>
          <a:bodyPr anchor="t" rtlCol="false" tIns="0" lIns="0" bIns="0" rIns="0">
            <a:spAutoFit/>
          </a:bodyPr>
          <a:lstStyle/>
          <a:p>
            <a:pPr algn="l">
              <a:lnSpc>
                <a:spcPts val="6696"/>
              </a:lnSpc>
            </a:pPr>
            <a:r>
              <a:rPr lang="en-US" b="true" sz="7200" spc="-518">
                <a:solidFill>
                  <a:srgbClr val="212121"/>
                </a:solidFill>
                <a:latin typeface="Open Sauce Bold"/>
                <a:ea typeface="Open Sauce Bold"/>
                <a:cs typeface="Open Sauce Bold"/>
                <a:sym typeface="Open Sauce Bold"/>
              </a:rPr>
              <a:t>TEAM INTRODUCTION</a:t>
            </a:r>
          </a:p>
        </p:txBody>
      </p:sp>
      <p:sp>
        <p:nvSpPr>
          <p:cNvPr name="TextBox 20" id="20"/>
          <p:cNvSpPr txBox="true"/>
          <p:nvPr/>
        </p:nvSpPr>
        <p:spPr>
          <a:xfrm rot="0">
            <a:off x="11641581" y="2304045"/>
            <a:ext cx="3842007" cy="563530"/>
          </a:xfrm>
          <a:prstGeom prst="rect">
            <a:avLst/>
          </a:prstGeom>
        </p:spPr>
        <p:txBody>
          <a:bodyPr anchor="t" rtlCol="false" tIns="0" lIns="0" bIns="0" rIns="0">
            <a:spAutoFit/>
          </a:bodyPr>
          <a:lstStyle/>
          <a:p>
            <a:pPr algn="l">
              <a:lnSpc>
                <a:spcPts val="4639"/>
              </a:lnSpc>
            </a:pPr>
            <a:r>
              <a:rPr lang="en-US" sz="3313" b="true">
                <a:solidFill>
                  <a:srgbClr val="FFFFFF"/>
                </a:solidFill>
                <a:latin typeface="Open Sauce Bold"/>
                <a:ea typeface="Open Sauce Bold"/>
                <a:cs typeface="Open Sauce Bold"/>
                <a:sym typeface="Open Sauce Bold"/>
              </a:rPr>
              <a:t>Howard Ong</a:t>
            </a:r>
          </a:p>
        </p:txBody>
      </p:sp>
      <p:sp>
        <p:nvSpPr>
          <p:cNvPr name="TextBox 21" id="21"/>
          <p:cNvSpPr txBox="true"/>
          <p:nvPr/>
        </p:nvSpPr>
        <p:spPr>
          <a:xfrm rot="0">
            <a:off x="11641581" y="2874979"/>
            <a:ext cx="1099802" cy="347709"/>
          </a:xfrm>
          <a:prstGeom prst="rect">
            <a:avLst/>
          </a:prstGeom>
        </p:spPr>
        <p:txBody>
          <a:bodyPr anchor="t" rtlCol="false" tIns="0" lIns="0" bIns="0" rIns="0">
            <a:spAutoFit/>
          </a:bodyPr>
          <a:lstStyle/>
          <a:p>
            <a:pPr algn="l">
              <a:lnSpc>
                <a:spcPts val="2884"/>
              </a:lnSpc>
            </a:pPr>
            <a:r>
              <a:rPr lang="en-US" sz="2060">
                <a:solidFill>
                  <a:srgbClr val="FFFFFF"/>
                </a:solidFill>
                <a:latin typeface="Open Sauce"/>
                <a:ea typeface="Open Sauce"/>
                <a:cs typeface="Open Sauce"/>
                <a:sym typeface="Open Sauce"/>
              </a:rPr>
              <a:t>CEO</a:t>
            </a:r>
          </a:p>
        </p:txBody>
      </p:sp>
      <p:sp>
        <p:nvSpPr>
          <p:cNvPr name="TextBox 22" id="22"/>
          <p:cNvSpPr txBox="true"/>
          <p:nvPr/>
        </p:nvSpPr>
        <p:spPr>
          <a:xfrm rot="0">
            <a:off x="11641581" y="3603216"/>
            <a:ext cx="4423787" cy="991172"/>
          </a:xfrm>
          <a:prstGeom prst="rect">
            <a:avLst/>
          </a:prstGeom>
        </p:spPr>
        <p:txBody>
          <a:bodyPr anchor="t" rtlCol="false" tIns="0" lIns="0" bIns="0" rIns="0">
            <a:spAutoFit/>
          </a:bodyPr>
          <a:lstStyle/>
          <a:p>
            <a:pPr algn="l">
              <a:lnSpc>
                <a:spcPts val="1999"/>
              </a:lnSpc>
            </a:pPr>
            <a:r>
              <a:rPr lang="en-US" sz="1428">
                <a:solidFill>
                  <a:srgbClr val="FFFFFF"/>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a:t>
            </a:r>
          </a:p>
        </p:txBody>
      </p:sp>
      <p:grpSp>
        <p:nvGrpSpPr>
          <p:cNvPr name="Group 23" id="23"/>
          <p:cNvGrpSpPr/>
          <p:nvPr/>
        </p:nvGrpSpPr>
        <p:grpSpPr>
          <a:xfrm rot="0">
            <a:off x="11552332" y="5775825"/>
            <a:ext cx="1339854" cy="1313678"/>
            <a:chOff x="0" y="0"/>
            <a:chExt cx="1320911" cy="1295106"/>
          </a:xfrm>
        </p:grpSpPr>
        <p:sp>
          <p:nvSpPr>
            <p:cNvPr name="Freeform 24" id="24"/>
            <p:cNvSpPr/>
            <p:nvPr/>
          </p:nvSpPr>
          <p:spPr>
            <a:xfrm flipH="false" flipV="false" rot="0">
              <a:off x="0" y="0"/>
              <a:ext cx="1320912" cy="1295106"/>
            </a:xfrm>
            <a:custGeom>
              <a:avLst/>
              <a:gdLst/>
              <a:ahLst/>
              <a:cxnLst/>
              <a:rect r="r" b="b" t="t" l="l"/>
              <a:pathLst>
                <a:path h="1295106" w="1320912">
                  <a:moveTo>
                    <a:pt x="132898" y="0"/>
                  </a:moveTo>
                  <a:lnTo>
                    <a:pt x="1188013" y="0"/>
                  </a:lnTo>
                  <a:cubicBezTo>
                    <a:pt x="1261411" y="0"/>
                    <a:pt x="1320912" y="59501"/>
                    <a:pt x="1320912" y="132898"/>
                  </a:cubicBezTo>
                  <a:lnTo>
                    <a:pt x="1320912" y="1162208"/>
                  </a:lnTo>
                  <a:cubicBezTo>
                    <a:pt x="1320912" y="1197454"/>
                    <a:pt x="1306910" y="1231258"/>
                    <a:pt x="1281987" y="1256181"/>
                  </a:cubicBezTo>
                  <a:cubicBezTo>
                    <a:pt x="1257063" y="1281104"/>
                    <a:pt x="1223260" y="1295106"/>
                    <a:pt x="1188013" y="1295106"/>
                  </a:cubicBezTo>
                  <a:lnTo>
                    <a:pt x="132898" y="1295106"/>
                  </a:lnTo>
                  <a:cubicBezTo>
                    <a:pt x="59501" y="1295106"/>
                    <a:pt x="0" y="1235605"/>
                    <a:pt x="0" y="1162208"/>
                  </a:cubicBezTo>
                  <a:lnTo>
                    <a:pt x="0" y="132898"/>
                  </a:lnTo>
                  <a:cubicBezTo>
                    <a:pt x="0" y="97651"/>
                    <a:pt x="14002" y="63848"/>
                    <a:pt x="38925" y="38925"/>
                  </a:cubicBezTo>
                  <a:cubicBezTo>
                    <a:pt x="63848" y="14002"/>
                    <a:pt x="97651" y="0"/>
                    <a:pt x="132898" y="0"/>
                  </a:cubicBezTo>
                  <a:close/>
                </a:path>
              </a:pathLst>
            </a:custGeom>
            <a:blipFill>
              <a:blip r:embed="rId3"/>
              <a:stretch>
                <a:fillRect l="0" t="-4860" r="0" b="-48128"/>
              </a:stretch>
            </a:blipFill>
            <a:ln w="9525" cap="rnd">
              <a:solidFill>
                <a:srgbClr val="212121"/>
              </a:solidFill>
              <a:prstDash val="solid"/>
              <a:round/>
            </a:ln>
          </p:spPr>
        </p:sp>
      </p:grpSp>
      <p:sp>
        <p:nvSpPr>
          <p:cNvPr name="TextBox 25" id="25"/>
          <p:cNvSpPr txBox="true"/>
          <p:nvPr/>
        </p:nvSpPr>
        <p:spPr>
          <a:xfrm rot="0">
            <a:off x="13378675" y="5992808"/>
            <a:ext cx="3128392" cy="428910"/>
          </a:xfrm>
          <a:prstGeom prst="rect">
            <a:avLst/>
          </a:prstGeom>
        </p:spPr>
        <p:txBody>
          <a:bodyPr anchor="t" rtlCol="false" tIns="0" lIns="0" bIns="0" rIns="0">
            <a:spAutoFit/>
          </a:bodyPr>
          <a:lstStyle/>
          <a:p>
            <a:pPr algn="l" marL="0" indent="0" lvl="0">
              <a:lnSpc>
                <a:spcPts val="3659"/>
              </a:lnSpc>
              <a:spcBef>
                <a:spcPct val="0"/>
              </a:spcBef>
            </a:pPr>
            <a:r>
              <a:rPr lang="en-US" b="true" sz="2613">
                <a:solidFill>
                  <a:srgbClr val="212121"/>
                </a:solidFill>
                <a:latin typeface="Open Sauce Bold"/>
                <a:ea typeface="Open Sauce Bold"/>
                <a:cs typeface="Open Sauce Bold"/>
                <a:sym typeface="Open Sauce Bold"/>
              </a:rPr>
              <a:t>Rufus Ste</a:t>
            </a:r>
            <a:r>
              <a:rPr lang="en-US" b="true" sz="2613" strike="noStrike" u="none">
                <a:solidFill>
                  <a:srgbClr val="212121"/>
                </a:solidFill>
                <a:latin typeface="Open Sauce Bold"/>
                <a:ea typeface="Open Sauce Bold"/>
                <a:cs typeface="Open Sauce Bold"/>
                <a:sym typeface="Open Sauce Bold"/>
              </a:rPr>
              <a:t>war</a:t>
            </a:r>
            <a:r>
              <a:rPr lang="en-US" b="true" sz="2613" strike="noStrike" u="none">
                <a:solidFill>
                  <a:srgbClr val="212121"/>
                </a:solidFill>
                <a:latin typeface="Open Sauce Bold"/>
                <a:ea typeface="Open Sauce Bold"/>
                <a:cs typeface="Open Sauce Bold"/>
                <a:sym typeface="Open Sauce Bold"/>
              </a:rPr>
              <a:t>t</a:t>
            </a:r>
          </a:p>
        </p:txBody>
      </p:sp>
      <p:sp>
        <p:nvSpPr>
          <p:cNvPr name="TextBox 26" id="26"/>
          <p:cNvSpPr txBox="true"/>
          <p:nvPr/>
        </p:nvSpPr>
        <p:spPr>
          <a:xfrm rot="0">
            <a:off x="13378675" y="6569262"/>
            <a:ext cx="1793864" cy="265159"/>
          </a:xfrm>
          <a:prstGeom prst="rect">
            <a:avLst/>
          </a:prstGeom>
        </p:spPr>
        <p:txBody>
          <a:bodyPr anchor="t" rtlCol="false" tIns="0" lIns="0" bIns="0" rIns="0">
            <a:spAutoFit/>
          </a:bodyPr>
          <a:lstStyle/>
          <a:p>
            <a:pPr algn="l" marL="0" indent="0" lvl="0">
              <a:lnSpc>
                <a:spcPts val="2184"/>
              </a:lnSpc>
              <a:spcBef>
                <a:spcPct val="0"/>
              </a:spcBef>
            </a:pPr>
            <a:r>
              <a:rPr lang="en-US" sz="1560">
                <a:solidFill>
                  <a:srgbClr val="2449CC"/>
                </a:solidFill>
                <a:latin typeface="Open Sauce"/>
                <a:ea typeface="Open Sauce"/>
                <a:cs typeface="Open Sauce"/>
                <a:sym typeface="Open Sauce"/>
              </a:rPr>
              <a:t>Marketing Head</a:t>
            </a:r>
          </a:p>
        </p:txBody>
      </p:sp>
      <p:grpSp>
        <p:nvGrpSpPr>
          <p:cNvPr name="Group 27" id="27"/>
          <p:cNvGrpSpPr/>
          <p:nvPr/>
        </p:nvGrpSpPr>
        <p:grpSpPr>
          <a:xfrm rot="0">
            <a:off x="11552332" y="7489553"/>
            <a:ext cx="1339854" cy="1313678"/>
            <a:chOff x="0" y="0"/>
            <a:chExt cx="1320911" cy="1295106"/>
          </a:xfrm>
        </p:grpSpPr>
        <p:sp>
          <p:nvSpPr>
            <p:cNvPr name="Freeform 28" id="28"/>
            <p:cNvSpPr/>
            <p:nvPr/>
          </p:nvSpPr>
          <p:spPr>
            <a:xfrm flipH="false" flipV="false" rot="0">
              <a:off x="0" y="0"/>
              <a:ext cx="1320912" cy="1295106"/>
            </a:xfrm>
            <a:custGeom>
              <a:avLst/>
              <a:gdLst/>
              <a:ahLst/>
              <a:cxnLst/>
              <a:rect r="r" b="b" t="t" l="l"/>
              <a:pathLst>
                <a:path h="1295106" w="1320912">
                  <a:moveTo>
                    <a:pt x="132898" y="0"/>
                  </a:moveTo>
                  <a:lnTo>
                    <a:pt x="1188013" y="0"/>
                  </a:lnTo>
                  <a:cubicBezTo>
                    <a:pt x="1261411" y="0"/>
                    <a:pt x="1320912" y="59501"/>
                    <a:pt x="1320912" y="132898"/>
                  </a:cubicBezTo>
                  <a:lnTo>
                    <a:pt x="1320912" y="1162208"/>
                  </a:lnTo>
                  <a:cubicBezTo>
                    <a:pt x="1320912" y="1197454"/>
                    <a:pt x="1306910" y="1231258"/>
                    <a:pt x="1281987" y="1256181"/>
                  </a:cubicBezTo>
                  <a:cubicBezTo>
                    <a:pt x="1257063" y="1281104"/>
                    <a:pt x="1223260" y="1295106"/>
                    <a:pt x="1188013" y="1295106"/>
                  </a:cubicBezTo>
                  <a:lnTo>
                    <a:pt x="132898" y="1295106"/>
                  </a:lnTo>
                  <a:cubicBezTo>
                    <a:pt x="59501" y="1295106"/>
                    <a:pt x="0" y="1235605"/>
                    <a:pt x="0" y="1162208"/>
                  </a:cubicBezTo>
                  <a:lnTo>
                    <a:pt x="0" y="132898"/>
                  </a:lnTo>
                  <a:cubicBezTo>
                    <a:pt x="0" y="97651"/>
                    <a:pt x="14002" y="63848"/>
                    <a:pt x="38925" y="38925"/>
                  </a:cubicBezTo>
                  <a:cubicBezTo>
                    <a:pt x="63848" y="14002"/>
                    <a:pt x="97651" y="0"/>
                    <a:pt x="132898" y="0"/>
                  </a:cubicBezTo>
                  <a:close/>
                </a:path>
              </a:pathLst>
            </a:custGeom>
            <a:blipFill>
              <a:blip r:embed="rId4"/>
              <a:stretch>
                <a:fillRect l="0" t="0" r="0" b="-52988"/>
              </a:stretch>
            </a:blipFill>
            <a:ln w="9525" cap="rnd">
              <a:solidFill>
                <a:srgbClr val="212121"/>
              </a:solidFill>
              <a:prstDash val="solid"/>
              <a:round/>
            </a:ln>
          </p:spPr>
        </p:sp>
      </p:grpSp>
      <p:sp>
        <p:nvSpPr>
          <p:cNvPr name="TextBox 29" id="29"/>
          <p:cNvSpPr txBox="true"/>
          <p:nvPr/>
        </p:nvSpPr>
        <p:spPr>
          <a:xfrm rot="0">
            <a:off x="13378675" y="7706536"/>
            <a:ext cx="3436864" cy="428910"/>
          </a:xfrm>
          <a:prstGeom prst="rect">
            <a:avLst/>
          </a:prstGeom>
        </p:spPr>
        <p:txBody>
          <a:bodyPr anchor="t" rtlCol="false" tIns="0" lIns="0" bIns="0" rIns="0">
            <a:spAutoFit/>
          </a:bodyPr>
          <a:lstStyle/>
          <a:p>
            <a:pPr algn="l" marL="0" indent="0" lvl="0">
              <a:lnSpc>
                <a:spcPts val="3659"/>
              </a:lnSpc>
              <a:spcBef>
                <a:spcPct val="0"/>
              </a:spcBef>
            </a:pPr>
            <a:r>
              <a:rPr lang="en-US" b="true" sz="2613">
                <a:solidFill>
                  <a:srgbClr val="212121"/>
                </a:solidFill>
                <a:latin typeface="Open Sauce Bold"/>
                <a:ea typeface="Open Sauce Bold"/>
                <a:cs typeface="Open Sauce Bold"/>
                <a:sym typeface="Open Sauce Bold"/>
              </a:rPr>
              <a:t>Eleanor Fitzger</a:t>
            </a:r>
            <a:r>
              <a:rPr lang="en-US" b="true" sz="2613" strike="noStrike" u="none">
                <a:solidFill>
                  <a:srgbClr val="212121"/>
                </a:solidFill>
                <a:latin typeface="Open Sauce Bold"/>
                <a:ea typeface="Open Sauce Bold"/>
                <a:cs typeface="Open Sauce Bold"/>
                <a:sym typeface="Open Sauce Bold"/>
              </a:rPr>
              <a:t>ald</a:t>
            </a:r>
          </a:p>
        </p:txBody>
      </p:sp>
      <p:sp>
        <p:nvSpPr>
          <p:cNvPr name="TextBox 30" id="30"/>
          <p:cNvSpPr txBox="true"/>
          <p:nvPr/>
        </p:nvSpPr>
        <p:spPr>
          <a:xfrm rot="0">
            <a:off x="13378675" y="8282990"/>
            <a:ext cx="2104912" cy="265159"/>
          </a:xfrm>
          <a:prstGeom prst="rect">
            <a:avLst/>
          </a:prstGeom>
        </p:spPr>
        <p:txBody>
          <a:bodyPr anchor="t" rtlCol="false" tIns="0" lIns="0" bIns="0" rIns="0">
            <a:spAutoFit/>
          </a:bodyPr>
          <a:lstStyle/>
          <a:p>
            <a:pPr algn="l" marL="0" indent="0" lvl="0">
              <a:lnSpc>
                <a:spcPts val="2184"/>
              </a:lnSpc>
              <a:spcBef>
                <a:spcPct val="0"/>
              </a:spcBef>
            </a:pPr>
            <a:r>
              <a:rPr lang="en-US" sz="1560">
                <a:solidFill>
                  <a:srgbClr val="2449CC"/>
                </a:solidFill>
                <a:latin typeface="Open Sauce"/>
                <a:ea typeface="Open Sauce"/>
                <a:cs typeface="Open Sauce"/>
                <a:sym typeface="Open Sauce"/>
              </a:rPr>
              <a:t>Tech Lead</a:t>
            </a:r>
          </a:p>
        </p:txBody>
      </p:sp>
      <p:grpSp>
        <p:nvGrpSpPr>
          <p:cNvPr name="Group 31" id="31"/>
          <p:cNvGrpSpPr/>
          <p:nvPr/>
        </p:nvGrpSpPr>
        <p:grpSpPr>
          <a:xfrm rot="0">
            <a:off x="1292680" y="7489553"/>
            <a:ext cx="1339854" cy="1313678"/>
            <a:chOff x="0" y="0"/>
            <a:chExt cx="1320911" cy="1295106"/>
          </a:xfrm>
        </p:grpSpPr>
        <p:sp>
          <p:nvSpPr>
            <p:cNvPr name="Freeform 32" id="32"/>
            <p:cNvSpPr/>
            <p:nvPr/>
          </p:nvSpPr>
          <p:spPr>
            <a:xfrm flipH="false" flipV="false" rot="0">
              <a:off x="0" y="0"/>
              <a:ext cx="1320912" cy="1295106"/>
            </a:xfrm>
            <a:custGeom>
              <a:avLst/>
              <a:gdLst/>
              <a:ahLst/>
              <a:cxnLst/>
              <a:rect r="r" b="b" t="t" l="l"/>
              <a:pathLst>
                <a:path h="1295106" w="1320912">
                  <a:moveTo>
                    <a:pt x="132898" y="0"/>
                  </a:moveTo>
                  <a:lnTo>
                    <a:pt x="1188013" y="0"/>
                  </a:lnTo>
                  <a:cubicBezTo>
                    <a:pt x="1261411" y="0"/>
                    <a:pt x="1320912" y="59501"/>
                    <a:pt x="1320912" y="132898"/>
                  </a:cubicBezTo>
                  <a:lnTo>
                    <a:pt x="1320912" y="1162208"/>
                  </a:lnTo>
                  <a:cubicBezTo>
                    <a:pt x="1320912" y="1197454"/>
                    <a:pt x="1306910" y="1231258"/>
                    <a:pt x="1281987" y="1256181"/>
                  </a:cubicBezTo>
                  <a:cubicBezTo>
                    <a:pt x="1257063" y="1281104"/>
                    <a:pt x="1223260" y="1295106"/>
                    <a:pt x="1188013" y="1295106"/>
                  </a:cubicBezTo>
                  <a:lnTo>
                    <a:pt x="132898" y="1295106"/>
                  </a:lnTo>
                  <a:cubicBezTo>
                    <a:pt x="59501" y="1295106"/>
                    <a:pt x="0" y="1235605"/>
                    <a:pt x="0" y="1162208"/>
                  </a:cubicBezTo>
                  <a:lnTo>
                    <a:pt x="0" y="132898"/>
                  </a:lnTo>
                  <a:cubicBezTo>
                    <a:pt x="0" y="97651"/>
                    <a:pt x="14002" y="63848"/>
                    <a:pt x="38925" y="38925"/>
                  </a:cubicBezTo>
                  <a:cubicBezTo>
                    <a:pt x="63848" y="14002"/>
                    <a:pt x="97651" y="0"/>
                    <a:pt x="132898" y="0"/>
                  </a:cubicBezTo>
                  <a:close/>
                </a:path>
              </a:pathLst>
            </a:custGeom>
            <a:blipFill>
              <a:blip r:embed="rId5"/>
              <a:stretch>
                <a:fillRect l="0" t="-12897" r="0" b="-40091"/>
              </a:stretch>
            </a:blipFill>
            <a:ln w="9525" cap="rnd">
              <a:solidFill>
                <a:srgbClr val="212121"/>
              </a:solidFill>
              <a:prstDash val="solid"/>
              <a:round/>
            </a:ln>
          </p:spPr>
        </p:sp>
      </p:grpSp>
      <p:sp>
        <p:nvSpPr>
          <p:cNvPr name="TextBox 33" id="33"/>
          <p:cNvSpPr txBox="true"/>
          <p:nvPr/>
        </p:nvSpPr>
        <p:spPr>
          <a:xfrm rot="0">
            <a:off x="3119023" y="7706536"/>
            <a:ext cx="3128392" cy="428910"/>
          </a:xfrm>
          <a:prstGeom prst="rect">
            <a:avLst/>
          </a:prstGeom>
        </p:spPr>
        <p:txBody>
          <a:bodyPr anchor="t" rtlCol="false" tIns="0" lIns="0" bIns="0" rIns="0">
            <a:spAutoFit/>
          </a:bodyPr>
          <a:lstStyle/>
          <a:p>
            <a:pPr algn="l" marL="0" indent="0" lvl="0">
              <a:lnSpc>
                <a:spcPts val="3659"/>
              </a:lnSpc>
              <a:spcBef>
                <a:spcPct val="0"/>
              </a:spcBef>
            </a:pPr>
            <a:r>
              <a:rPr lang="en-US" b="true" sz="2613">
                <a:solidFill>
                  <a:srgbClr val="212121"/>
                </a:solidFill>
                <a:latin typeface="Open Sauce Bold"/>
                <a:ea typeface="Open Sauce Bold"/>
                <a:cs typeface="Open Sauce Bold"/>
                <a:sym typeface="Open Sauce Bold"/>
              </a:rPr>
              <a:t>Kimbe</a:t>
            </a:r>
            <a:r>
              <a:rPr lang="en-US" b="true" sz="2613" strike="noStrike" u="none">
                <a:solidFill>
                  <a:srgbClr val="212121"/>
                </a:solidFill>
                <a:latin typeface="Open Sauce Bold"/>
                <a:ea typeface="Open Sauce Bold"/>
                <a:cs typeface="Open Sauce Bold"/>
                <a:sym typeface="Open Sauce Bold"/>
              </a:rPr>
              <a:t>rly Nguyen</a:t>
            </a:r>
          </a:p>
        </p:txBody>
      </p:sp>
      <p:sp>
        <p:nvSpPr>
          <p:cNvPr name="TextBox 34" id="34"/>
          <p:cNvSpPr txBox="true"/>
          <p:nvPr/>
        </p:nvSpPr>
        <p:spPr>
          <a:xfrm rot="0">
            <a:off x="3119023" y="8282990"/>
            <a:ext cx="2104912" cy="265159"/>
          </a:xfrm>
          <a:prstGeom prst="rect">
            <a:avLst/>
          </a:prstGeom>
        </p:spPr>
        <p:txBody>
          <a:bodyPr anchor="t" rtlCol="false" tIns="0" lIns="0" bIns="0" rIns="0">
            <a:spAutoFit/>
          </a:bodyPr>
          <a:lstStyle/>
          <a:p>
            <a:pPr algn="l" marL="0" indent="0" lvl="0">
              <a:lnSpc>
                <a:spcPts val="2184"/>
              </a:lnSpc>
              <a:spcBef>
                <a:spcPct val="0"/>
              </a:spcBef>
            </a:pPr>
            <a:r>
              <a:rPr lang="en-US" sz="1560">
                <a:solidFill>
                  <a:srgbClr val="2449CC"/>
                </a:solidFill>
                <a:latin typeface="Open Sauce"/>
                <a:ea typeface="Open Sauce"/>
                <a:cs typeface="Open Sauce"/>
                <a:sym typeface="Open Sauce"/>
              </a:rPr>
              <a:t>Finance Officer</a:t>
            </a:r>
          </a:p>
        </p:txBody>
      </p:sp>
      <p:sp>
        <p:nvSpPr>
          <p:cNvPr name="TextBox 35" id="35"/>
          <p:cNvSpPr txBox="true"/>
          <p:nvPr/>
        </p:nvSpPr>
        <p:spPr>
          <a:xfrm rot="0">
            <a:off x="1292680" y="4260238"/>
            <a:ext cx="5121527" cy="1747475"/>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a:t>
            </a:r>
          </a:p>
        </p:txBody>
      </p:sp>
      <p:sp>
        <p:nvSpPr>
          <p:cNvPr name="TextBox 36" id="36"/>
          <p:cNvSpPr txBox="true"/>
          <p:nvPr/>
        </p:nvSpPr>
        <p:spPr>
          <a:xfrm rot="0">
            <a:off x="642914" y="9549420"/>
            <a:ext cx="1562766" cy="240784"/>
          </a:xfrm>
          <a:prstGeom prst="rect">
            <a:avLst/>
          </a:prstGeom>
        </p:spPr>
        <p:txBody>
          <a:bodyPr anchor="t" rtlCol="false" tIns="0" lIns="0" bIns="0" rIns="0">
            <a:spAutoFit/>
          </a:bodyPr>
          <a:lstStyle/>
          <a:p>
            <a:pPr algn="l">
              <a:lnSpc>
                <a:spcPts val="1953"/>
              </a:lnSpc>
            </a:pPr>
            <a:r>
              <a:rPr lang="en-US" sz="1395" spc="-12">
                <a:solidFill>
                  <a:srgbClr val="212121"/>
                </a:solidFill>
                <a:latin typeface="Open Sauce"/>
                <a:ea typeface="Open Sauce"/>
                <a:cs typeface="Open Sauce"/>
                <a:sym typeface="Open Sauce"/>
              </a:rPr>
              <a:t>PRESENTED BY:</a:t>
            </a:r>
          </a:p>
        </p:txBody>
      </p:sp>
      <p:sp>
        <p:nvSpPr>
          <p:cNvPr name="TextBox 37" id="37"/>
          <p:cNvSpPr txBox="true"/>
          <p:nvPr/>
        </p:nvSpPr>
        <p:spPr>
          <a:xfrm rot="0">
            <a:off x="2205680" y="9549420"/>
            <a:ext cx="2416473" cy="240784"/>
          </a:xfrm>
          <a:prstGeom prst="rect">
            <a:avLst/>
          </a:prstGeom>
        </p:spPr>
        <p:txBody>
          <a:bodyPr anchor="t" rtlCol="false" tIns="0" lIns="0" bIns="0" rIns="0">
            <a:spAutoFit/>
          </a:bodyPr>
          <a:lstStyle/>
          <a:p>
            <a:pPr algn="l">
              <a:lnSpc>
                <a:spcPts val="1953"/>
              </a:lnSpc>
            </a:pPr>
            <a:r>
              <a:rPr lang="en-US" b="true" sz="1395" spc="-12">
                <a:solidFill>
                  <a:srgbClr val="212121"/>
                </a:solidFill>
                <a:latin typeface="Open Sauce Bold"/>
                <a:ea typeface="Open Sauce Bold"/>
                <a:cs typeface="Open Sauce Bold"/>
                <a:sym typeface="Open Sauce Bold"/>
              </a:rPr>
              <a:t>PHYLLIS SCHWAIGER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09843" y="-602900"/>
            <a:ext cx="4554972" cy="1205800"/>
            <a:chOff x="0" y="0"/>
            <a:chExt cx="1199663" cy="317577"/>
          </a:xfrm>
        </p:grpSpPr>
        <p:sp>
          <p:nvSpPr>
            <p:cNvPr name="Freeform 9" id="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0" id="1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942871" y="9684100"/>
            <a:ext cx="4554972" cy="1205800"/>
            <a:chOff x="0" y="0"/>
            <a:chExt cx="1199663" cy="317577"/>
          </a:xfrm>
        </p:grpSpPr>
        <p:sp>
          <p:nvSpPr>
            <p:cNvPr name="Freeform 12" id="1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13" id="1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778084" y="3945449"/>
            <a:ext cx="4612114" cy="4786156"/>
          </a:xfrm>
          <a:custGeom>
            <a:avLst/>
            <a:gdLst/>
            <a:ahLst/>
            <a:cxnLst/>
            <a:rect r="r" b="b" t="t" l="l"/>
            <a:pathLst>
              <a:path h="4786156" w="4612114">
                <a:moveTo>
                  <a:pt x="0" y="0"/>
                </a:moveTo>
                <a:lnTo>
                  <a:pt x="4612115" y="0"/>
                </a:lnTo>
                <a:lnTo>
                  <a:pt x="4612115" y="4786156"/>
                </a:lnTo>
                <a:lnTo>
                  <a:pt x="0" y="47861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11</a:t>
            </a:r>
          </a:p>
        </p:txBody>
      </p:sp>
      <p:sp>
        <p:nvSpPr>
          <p:cNvPr name="TextBox 16" id="16"/>
          <p:cNvSpPr txBox="true"/>
          <p:nvPr/>
        </p:nvSpPr>
        <p:spPr>
          <a:xfrm rot="0">
            <a:off x="5677986" y="1599576"/>
            <a:ext cx="6932028" cy="1742313"/>
          </a:xfrm>
          <a:prstGeom prst="rect">
            <a:avLst/>
          </a:prstGeom>
        </p:spPr>
        <p:txBody>
          <a:bodyPr anchor="t" rtlCol="false" tIns="0" lIns="0" bIns="0" rIns="0">
            <a:spAutoFit/>
          </a:bodyPr>
          <a:lstStyle/>
          <a:p>
            <a:pPr algn="ctr">
              <a:lnSpc>
                <a:spcPts val="6696"/>
              </a:lnSpc>
            </a:pPr>
            <a:r>
              <a:rPr lang="en-US" b="true" sz="7200" spc="-518">
                <a:solidFill>
                  <a:srgbClr val="212121"/>
                </a:solidFill>
                <a:latin typeface="Open Sauce Bold"/>
                <a:ea typeface="Open Sauce Bold"/>
                <a:cs typeface="Open Sauce Bold"/>
                <a:sym typeface="Open Sauce Bold"/>
              </a:rPr>
              <a:t>MILESTONES &amp; TIMELINE</a:t>
            </a:r>
          </a:p>
        </p:txBody>
      </p:sp>
      <p:sp>
        <p:nvSpPr>
          <p:cNvPr name="TextBox 17" id="17"/>
          <p:cNvSpPr txBox="true"/>
          <p:nvPr/>
        </p:nvSpPr>
        <p:spPr>
          <a:xfrm rot="0">
            <a:off x="2055644" y="4559471"/>
            <a:ext cx="1188888" cy="445420"/>
          </a:xfrm>
          <a:prstGeom prst="rect">
            <a:avLst/>
          </a:prstGeom>
        </p:spPr>
        <p:txBody>
          <a:bodyPr anchor="t" rtlCol="false" tIns="0" lIns="0" bIns="0" rIns="0">
            <a:spAutoFit/>
          </a:bodyPr>
          <a:lstStyle/>
          <a:p>
            <a:pPr algn="l">
              <a:lnSpc>
                <a:spcPts val="3799"/>
              </a:lnSpc>
            </a:pPr>
            <a:r>
              <a:rPr lang="en-US" sz="2713" b="true">
                <a:solidFill>
                  <a:srgbClr val="FFFFFF"/>
                </a:solidFill>
                <a:latin typeface="Open Sauce Bold"/>
                <a:ea typeface="Open Sauce Bold"/>
                <a:cs typeface="Open Sauce Bold"/>
                <a:sym typeface="Open Sauce Bold"/>
              </a:rPr>
              <a:t>2015</a:t>
            </a:r>
          </a:p>
        </p:txBody>
      </p:sp>
      <p:sp>
        <p:nvSpPr>
          <p:cNvPr name="Freeform 18" id="18"/>
          <p:cNvSpPr/>
          <p:nvPr/>
        </p:nvSpPr>
        <p:spPr>
          <a:xfrm flipH="false" flipV="false" rot="0">
            <a:off x="3244532" y="4623021"/>
            <a:ext cx="672491" cy="356420"/>
          </a:xfrm>
          <a:custGeom>
            <a:avLst/>
            <a:gdLst/>
            <a:ahLst/>
            <a:cxnLst/>
            <a:rect r="r" b="b" t="t" l="l"/>
            <a:pathLst>
              <a:path h="356420" w="672491">
                <a:moveTo>
                  <a:pt x="0" y="0"/>
                </a:moveTo>
                <a:lnTo>
                  <a:pt x="672490" y="0"/>
                </a:lnTo>
                <a:lnTo>
                  <a:pt x="672490" y="356420"/>
                </a:lnTo>
                <a:lnTo>
                  <a:pt x="0" y="35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9" id="19"/>
          <p:cNvSpPr txBox="true"/>
          <p:nvPr/>
        </p:nvSpPr>
        <p:spPr>
          <a:xfrm rot="0">
            <a:off x="2815252" y="5471177"/>
            <a:ext cx="3287696" cy="1495374"/>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 ctetur adipiscing elit, sed do eiusmod tempor incididunt ut labore et dolore magna aliqua. Ut enim ad minim veniam, quis nostrud exerc itation ullamco laboris.</a:t>
            </a:r>
          </a:p>
        </p:txBody>
      </p:sp>
      <p:sp>
        <p:nvSpPr>
          <p:cNvPr name="Freeform 20" id="20"/>
          <p:cNvSpPr/>
          <p:nvPr/>
        </p:nvSpPr>
        <p:spPr>
          <a:xfrm flipH="false" flipV="false" rot="0">
            <a:off x="6838012" y="3945449"/>
            <a:ext cx="4612114" cy="4786156"/>
          </a:xfrm>
          <a:custGeom>
            <a:avLst/>
            <a:gdLst/>
            <a:ahLst/>
            <a:cxnLst/>
            <a:rect r="r" b="b" t="t" l="l"/>
            <a:pathLst>
              <a:path h="4786156" w="4612114">
                <a:moveTo>
                  <a:pt x="0" y="0"/>
                </a:moveTo>
                <a:lnTo>
                  <a:pt x="4612114" y="0"/>
                </a:lnTo>
                <a:lnTo>
                  <a:pt x="4612114" y="4786156"/>
                </a:lnTo>
                <a:lnTo>
                  <a:pt x="0" y="47861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7115572" y="4559471"/>
            <a:ext cx="1188888" cy="445420"/>
          </a:xfrm>
          <a:prstGeom prst="rect">
            <a:avLst/>
          </a:prstGeom>
        </p:spPr>
        <p:txBody>
          <a:bodyPr anchor="t" rtlCol="false" tIns="0" lIns="0" bIns="0" rIns="0">
            <a:spAutoFit/>
          </a:bodyPr>
          <a:lstStyle/>
          <a:p>
            <a:pPr algn="l">
              <a:lnSpc>
                <a:spcPts val="3799"/>
              </a:lnSpc>
            </a:pPr>
            <a:r>
              <a:rPr lang="en-US" sz="2713" b="true">
                <a:solidFill>
                  <a:srgbClr val="FFFFFF"/>
                </a:solidFill>
                <a:latin typeface="Open Sauce Bold"/>
                <a:ea typeface="Open Sauce Bold"/>
                <a:cs typeface="Open Sauce Bold"/>
                <a:sym typeface="Open Sauce Bold"/>
              </a:rPr>
              <a:t>2024</a:t>
            </a:r>
          </a:p>
        </p:txBody>
      </p:sp>
      <p:sp>
        <p:nvSpPr>
          <p:cNvPr name="Freeform 22" id="22"/>
          <p:cNvSpPr/>
          <p:nvPr/>
        </p:nvSpPr>
        <p:spPr>
          <a:xfrm flipH="false" flipV="false" rot="0">
            <a:off x="8304459" y="4623021"/>
            <a:ext cx="672491" cy="356420"/>
          </a:xfrm>
          <a:custGeom>
            <a:avLst/>
            <a:gdLst/>
            <a:ahLst/>
            <a:cxnLst/>
            <a:rect r="r" b="b" t="t" l="l"/>
            <a:pathLst>
              <a:path h="356420" w="672491">
                <a:moveTo>
                  <a:pt x="0" y="0"/>
                </a:moveTo>
                <a:lnTo>
                  <a:pt x="672491" y="0"/>
                </a:lnTo>
                <a:lnTo>
                  <a:pt x="672491" y="356420"/>
                </a:lnTo>
                <a:lnTo>
                  <a:pt x="0" y="35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3" id="23"/>
          <p:cNvSpPr txBox="true"/>
          <p:nvPr/>
        </p:nvSpPr>
        <p:spPr>
          <a:xfrm rot="0">
            <a:off x="7875180" y="5471177"/>
            <a:ext cx="3287696" cy="1495374"/>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 ctetur adipiscing elit, sed do eiusmod tempor incididunt ut labore et dolore magna aliqua. Ut enim ad minim veniam, quis nostrud exerc itation ullamco laboris.</a:t>
            </a:r>
          </a:p>
        </p:txBody>
      </p:sp>
      <p:sp>
        <p:nvSpPr>
          <p:cNvPr name="Freeform 24" id="24"/>
          <p:cNvSpPr/>
          <p:nvPr/>
        </p:nvSpPr>
        <p:spPr>
          <a:xfrm flipH="false" flipV="false" rot="0">
            <a:off x="11897801" y="3945449"/>
            <a:ext cx="4612114" cy="4786156"/>
          </a:xfrm>
          <a:custGeom>
            <a:avLst/>
            <a:gdLst/>
            <a:ahLst/>
            <a:cxnLst/>
            <a:rect r="r" b="b" t="t" l="l"/>
            <a:pathLst>
              <a:path h="4786156" w="4612114">
                <a:moveTo>
                  <a:pt x="0" y="0"/>
                </a:moveTo>
                <a:lnTo>
                  <a:pt x="4612115" y="0"/>
                </a:lnTo>
                <a:lnTo>
                  <a:pt x="4612115" y="4786156"/>
                </a:lnTo>
                <a:lnTo>
                  <a:pt x="0" y="47861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5" id="25"/>
          <p:cNvSpPr txBox="true"/>
          <p:nvPr/>
        </p:nvSpPr>
        <p:spPr>
          <a:xfrm rot="0">
            <a:off x="12175361" y="4559471"/>
            <a:ext cx="1188888" cy="445420"/>
          </a:xfrm>
          <a:prstGeom prst="rect">
            <a:avLst/>
          </a:prstGeom>
        </p:spPr>
        <p:txBody>
          <a:bodyPr anchor="t" rtlCol="false" tIns="0" lIns="0" bIns="0" rIns="0">
            <a:spAutoFit/>
          </a:bodyPr>
          <a:lstStyle/>
          <a:p>
            <a:pPr algn="l">
              <a:lnSpc>
                <a:spcPts val="3799"/>
              </a:lnSpc>
            </a:pPr>
            <a:r>
              <a:rPr lang="en-US" sz="2713" b="true">
                <a:solidFill>
                  <a:srgbClr val="FFFFFF"/>
                </a:solidFill>
                <a:latin typeface="Open Sauce Bold"/>
                <a:ea typeface="Open Sauce Bold"/>
                <a:cs typeface="Open Sauce Bold"/>
                <a:sym typeface="Open Sauce Bold"/>
              </a:rPr>
              <a:t>2030</a:t>
            </a:r>
          </a:p>
        </p:txBody>
      </p:sp>
      <p:sp>
        <p:nvSpPr>
          <p:cNvPr name="Freeform 26" id="26"/>
          <p:cNvSpPr/>
          <p:nvPr/>
        </p:nvSpPr>
        <p:spPr>
          <a:xfrm flipH="false" flipV="false" rot="0">
            <a:off x="13364248" y="4623021"/>
            <a:ext cx="672491" cy="356420"/>
          </a:xfrm>
          <a:custGeom>
            <a:avLst/>
            <a:gdLst/>
            <a:ahLst/>
            <a:cxnLst/>
            <a:rect r="r" b="b" t="t" l="l"/>
            <a:pathLst>
              <a:path h="356420" w="672491">
                <a:moveTo>
                  <a:pt x="0" y="0"/>
                </a:moveTo>
                <a:lnTo>
                  <a:pt x="672491" y="0"/>
                </a:lnTo>
                <a:lnTo>
                  <a:pt x="672491" y="356420"/>
                </a:lnTo>
                <a:lnTo>
                  <a:pt x="0" y="3564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12934969" y="5471177"/>
            <a:ext cx="3287696" cy="1495374"/>
          </a:xfrm>
          <a:prstGeom prst="rect">
            <a:avLst/>
          </a:prstGeom>
        </p:spPr>
        <p:txBody>
          <a:bodyPr anchor="t" rtlCol="false" tIns="0" lIns="0" bIns="0" rIns="0">
            <a:spAutoFit/>
          </a:bodyPr>
          <a:lstStyle/>
          <a:p>
            <a:pPr algn="l">
              <a:lnSpc>
                <a:spcPts val="1999"/>
              </a:lnSpc>
            </a:pPr>
            <a:r>
              <a:rPr lang="en-US" sz="1428">
                <a:solidFill>
                  <a:srgbClr val="636363"/>
                </a:solidFill>
                <a:latin typeface="Open Sauce"/>
                <a:ea typeface="Open Sauce"/>
                <a:cs typeface="Open Sauce"/>
                <a:sym typeface="Open Sauce"/>
              </a:rPr>
              <a:t>Lorem ipsum dolor sit amet, conse ctetur adipiscing elit, sed do eiusmod tempor incididunt ut labore et dolore magna aliqua. Ut enim ad minim veniam, quis nostrud exerc itation ullamco laboris.</a:t>
            </a:r>
          </a:p>
        </p:txBody>
      </p:sp>
      <p:sp>
        <p:nvSpPr>
          <p:cNvPr name="TextBox 28" id="28"/>
          <p:cNvSpPr txBox="true"/>
          <p:nvPr/>
        </p:nvSpPr>
        <p:spPr>
          <a:xfrm rot="0">
            <a:off x="642914" y="9549420"/>
            <a:ext cx="1562766" cy="240784"/>
          </a:xfrm>
          <a:prstGeom prst="rect">
            <a:avLst/>
          </a:prstGeom>
        </p:spPr>
        <p:txBody>
          <a:bodyPr anchor="t" rtlCol="false" tIns="0" lIns="0" bIns="0" rIns="0">
            <a:spAutoFit/>
          </a:bodyPr>
          <a:lstStyle/>
          <a:p>
            <a:pPr algn="l">
              <a:lnSpc>
                <a:spcPts val="1953"/>
              </a:lnSpc>
            </a:pPr>
            <a:r>
              <a:rPr lang="en-US" sz="1395" spc="-12">
                <a:solidFill>
                  <a:srgbClr val="212121"/>
                </a:solidFill>
                <a:latin typeface="Open Sauce"/>
                <a:ea typeface="Open Sauce"/>
                <a:cs typeface="Open Sauce"/>
                <a:sym typeface="Open Sauce"/>
              </a:rPr>
              <a:t>PRESENTED BY:</a:t>
            </a:r>
          </a:p>
        </p:txBody>
      </p:sp>
      <p:sp>
        <p:nvSpPr>
          <p:cNvPr name="TextBox 29" id="29"/>
          <p:cNvSpPr txBox="true"/>
          <p:nvPr/>
        </p:nvSpPr>
        <p:spPr>
          <a:xfrm rot="0">
            <a:off x="2205680" y="9549420"/>
            <a:ext cx="2416473" cy="240784"/>
          </a:xfrm>
          <a:prstGeom prst="rect">
            <a:avLst/>
          </a:prstGeom>
        </p:spPr>
        <p:txBody>
          <a:bodyPr anchor="t" rtlCol="false" tIns="0" lIns="0" bIns="0" rIns="0">
            <a:spAutoFit/>
          </a:bodyPr>
          <a:lstStyle/>
          <a:p>
            <a:pPr algn="l">
              <a:lnSpc>
                <a:spcPts val="1953"/>
              </a:lnSpc>
            </a:pPr>
            <a:r>
              <a:rPr lang="en-US" b="true" sz="1395" spc="-12">
                <a:solidFill>
                  <a:srgbClr val="212121"/>
                </a:solidFill>
                <a:latin typeface="Open Sauce Bold"/>
                <a:ea typeface="Open Sauce Bold"/>
                <a:cs typeface="Open Sauce Bold"/>
                <a:sym typeface="Open Sauce Bold"/>
              </a:rPr>
              <a:t>PHYLLIS SCHWAIGER</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914372" y="1902122"/>
            <a:ext cx="1751694" cy="6482756"/>
            <a:chOff x="0" y="0"/>
            <a:chExt cx="461351" cy="1707392"/>
          </a:xfrm>
        </p:grpSpPr>
        <p:sp>
          <p:nvSpPr>
            <p:cNvPr name="Freeform 3" id="3"/>
            <p:cNvSpPr/>
            <p:nvPr/>
          </p:nvSpPr>
          <p:spPr>
            <a:xfrm flipH="false" flipV="false" rot="0">
              <a:off x="0" y="0"/>
              <a:ext cx="461351" cy="1707392"/>
            </a:xfrm>
            <a:custGeom>
              <a:avLst/>
              <a:gdLst/>
              <a:ahLst/>
              <a:cxnLst/>
              <a:rect r="r" b="b" t="t" l="l"/>
              <a:pathLst>
                <a:path h="1707392" w="461351">
                  <a:moveTo>
                    <a:pt x="154689" y="0"/>
                  </a:moveTo>
                  <a:lnTo>
                    <a:pt x="306663" y="0"/>
                  </a:lnTo>
                  <a:cubicBezTo>
                    <a:pt x="347689" y="0"/>
                    <a:pt x="387034" y="16298"/>
                    <a:pt x="416044" y="45307"/>
                  </a:cubicBezTo>
                  <a:cubicBezTo>
                    <a:pt x="445054" y="74317"/>
                    <a:pt x="461351" y="113663"/>
                    <a:pt x="461351" y="154689"/>
                  </a:cubicBezTo>
                  <a:lnTo>
                    <a:pt x="461351" y="1552704"/>
                  </a:lnTo>
                  <a:cubicBezTo>
                    <a:pt x="461351" y="1593730"/>
                    <a:pt x="445054" y="1633076"/>
                    <a:pt x="416044" y="1662085"/>
                  </a:cubicBezTo>
                  <a:cubicBezTo>
                    <a:pt x="387034" y="1691095"/>
                    <a:pt x="347689" y="1707392"/>
                    <a:pt x="306663" y="1707392"/>
                  </a:cubicBezTo>
                  <a:lnTo>
                    <a:pt x="154689" y="1707392"/>
                  </a:lnTo>
                  <a:cubicBezTo>
                    <a:pt x="113663" y="1707392"/>
                    <a:pt x="74317" y="1691095"/>
                    <a:pt x="45307" y="1662085"/>
                  </a:cubicBezTo>
                  <a:cubicBezTo>
                    <a:pt x="16298" y="1633076"/>
                    <a:pt x="0" y="1593730"/>
                    <a:pt x="0" y="1552704"/>
                  </a:cubicBezTo>
                  <a:lnTo>
                    <a:pt x="0" y="154689"/>
                  </a:lnTo>
                  <a:cubicBezTo>
                    <a:pt x="0" y="113663"/>
                    <a:pt x="16298" y="74317"/>
                    <a:pt x="45307" y="45307"/>
                  </a:cubicBezTo>
                  <a:cubicBezTo>
                    <a:pt x="74317" y="16298"/>
                    <a:pt x="113663" y="0"/>
                    <a:pt x="154689" y="0"/>
                  </a:cubicBezTo>
                  <a:close/>
                </a:path>
              </a:pathLst>
            </a:custGeom>
            <a:solidFill>
              <a:srgbClr val="E9E9E9"/>
            </a:solidFill>
          </p:spPr>
        </p:sp>
        <p:sp>
          <p:nvSpPr>
            <p:cNvPr name="TextBox 4" id="4"/>
            <p:cNvSpPr txBox="true"/>
            <p:nvPr/>
          </p:nvSpPr>
          <p:spPr>
            <a:xfrm>
              <a:off x="0" y="-38100"/>
              <a:ext cx="461351" cy="1745492"/>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584419" y="1902122"/>
            <a:ext cx="1205800" cy="1205800"/>
            <a:chOff x="0" y="0"/>
            <a:chExt cx="317577" cy="317577"/>
          </a:xfrm>
        </p:grpSpPr>
        <p:sp>
          <p:nvSpPr>
            <p:cNvPr name="Freeform 6" id="6"/>
            <p:cNvSpPr/>
            <p:nvPr/>
          </p:nvSpPr>
          <p:spPr>
            <a:xfrm flipH="false" flipV="false" rot="0">
              <a:off x="0" y="0"/>
              <a:ext cx="317577" cy="317577"/>
            </a:xfrm>
            <a:custGeom>
              <a:avLst/>
              <a:gdLst/>
              <a:ahLst/>
              <a:cxnLst/>
              <a:rect r="r" b="b" t="t" l="l"/>
              <a:pathLst>
                <a:path h="317577" w="317577">
                  <a:moveTo>
                    <a:pt x="158789" y="0"/>
                  </a:moveTo>
                  <a:lnTo>
                    <a:pt x="158789" y="0"/>
                  </a:lnTo>
                  <a:cubicBezTo>
                    <a:pt x="200902" y="0"/>
                    <a:pt x="241290" y="16729"/>
                    <a:pt x="271069" y="46508"/>
                  </a:cubicBezTo>
                  <a:cubicBezTo>
                    <a:pt x="300848" y="76287"/>
                    <a:pt x="317577" y="116675"/>
                    <a:pt x="317577" y="158789"/>
                  </a:cubicBezTo>
                  <a:lnTo>
                    <a:pt x="317577" y="158789"/>
                  </a:lnTo>
                  <a:cubicBezTo>
                    <a:pt x="317577" y="200902"/>
                    <a:pt x="300848" y="241290"/>
                    <a:pt x="271069" y="271069"/>
                  </a:cubicBezTo>
                  <a:cubicBezTo>
                    <a:pt x="241290" y="300848"/>
                    <a:pt x="200902" y="317577"/>
                    <a:pt x="158789" y="317577"/>
                  </a:cubicBezTo>
                  <a:lnTo>
                    <a:pt x="158789" y="317577"/>
                  </a:lnTo>
                  <a:cubicBezTo>
                    <a:pt x="116675" y="317577"/>
                    <a:pt x="76287" y="300848"/>
                    <a:pt x="46508" y="271069"/>
                  </a:cubicBezTo>
                  <a:cubicBezTo>
                    <a:pt x="16729" y="241290"/>
                    <a:pt x="0" y="200902"/>
                    <a:pt x="0" y="158789"/>
                  </a:cubicBezTo>
                  <a:lnTo>
                    <a:pt x="0" y="158789"/>
                  </a:lnTo>
                  <a:cubicBezTo>
                    <a:pt x="0" y="116675"/>
                    <a:pt x="16729" y="76287"/>
                    <a:pt x="46508" y="46508"/>
                  </a:cubicBezTo>
                  <a:cubicBezTo>
                    <a:pt x="76287" y="16729"/>
                    <a:pt x="116675" y="0"/>
                    <a:pt x="158789" y="0"/>
                  </a:cubicBezTo>
                  <a:close/>
                </a:path>
              </a:pathLst>
            </a:custGeom>
            <a:solidFill>
              <a:srgbClr val="212121"/>
            </a:solidFill>
          </p:spPr>
        </p:sp>
        <p:sp>
          <p:nvSpPr>
            <p:cNvPr name="TextBox 7" id="7"/>
            <p:cNvSpPr txBox="true"/>
            <p:nvPr/>
          </p:nvSpPr>
          <p:spPr>
            <a:xfrm>
              <a:off x="0" y="-38100"/>
              <a:ext cx="317577" cy="355677"/>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953513" y="4345769"/>
            <a:ext cx="16380973" cy="2111504"/>
          </a:xfrm>
          <a:prstGeom prst="rect">
            <a:avLst/>
          </a:prstGeom>
        </p:spPr>
        <p:txBody>
          <a:bodyPr anchor="t" rtlCol="false" tIns="0" lIns="0" bIns="0" rIns="0">
            <a:spAutoFit/>
          </a:bodyPr>
          <a:lstStyle/>
          <a:p>
            <a:pPr algn="ctr">
              <a:lnSpc>
                <a:spcPts val="14904"/>
              </a:lnSpc>
            </a:pPr>
            <a:r>
              <a:rPr lang="en-US" b="true" sz="18400" spc="-1324">
                <a:solidFill>
                  <a:srgbClr val="E9E9E9"/>
                </a:solidFill>
                <a:latin typeface="Open Sauce Bold"/>
                <a:ea typeface="Open Sauce Bold"/>
                <a:cs typeface="Open Sauce Bold"/>
                <a:sym typeface="Open Sauce Bold"/>
              </a:rPr>
              <a:t>THANK YOU!</a:t>
            </a:r>
          </a:p>
        </p:txBody>
      </p:sp>
      <p:grpSp>
        <p:nvGrpSpPr>
          <p:cNvPr name="Group 9" id="9"/>
          <p:cNvGrpSpPr/>
          <p:nvPr/>
        </p:nvGrpSpPr>
        <p:grpSpPr>
          <a:xfrm rot="0">
            <a:off x="8594906" y="3680317"/>
            <a:ext cx="721160" cy="296850"/>
            <a:chOff x="0" y="0"/>
            <a:chExt cx="189935" cy="78183"/>
          </a:xfrm>
        </p:grpSpPr>
        <p:sp>
          <p:nvSpPr>
            <p:cNvPr name="Freeform 10" id="10"/>
            <p:cNvSpPr/>
            <p:nvPr/>
          </p:nvSpPr>
          <p:spPr>
            <a:xfrm flipH="false" flipV="false" rot="0">
              <a:off x="0" y="0"/>
              <a:ext cx="189935" cy="78183"/>
            </a:xfrm>
            <a:custGeom>
              <a:avLst/>
              <a:gdLst/>
              <a:ahLst/>
              <a:cxnLst/>
              <a:rect r="r" b="b" t="t" l="l"/>
              <a:pathLst>
                <a:path h="78183" w="189935">
                  <a:moveTo>
                    <a:pt x="39091" y="0"/>
                  </a:moveTo>
                  <a:lnTo>
                    <a:pt x="150844" y="0"/>
                  </a:lnTo>
                  <a:cubicBezTo>
                    <a:pt x="172433" y="0"/>
                    <a:pt x="189935" y="17502"/>
                    <a:pt x="189935" y="39091"/>
                  </a:cubicBezTo>
                  <a:lnTo>
                    <a:pt x="189935" y="39091"/>
                  </a:lnTo>
                  <a:cubicBezTo>
                    <a:pt x="189935" y="49459"/>
                    <a:pt x="185817" y="59402"/>
                    <a:pt x="178485" y="66733"/>
                  </a:cubicBezTo>
                  <a:cubicBezTo>
                    <a:pt x="171154" y="74064"/>
                    <a:pt x="161211" y="78183"/>
                    <a:pt x="150844" y="78183"/>
                  </a:cubicBezTo>
                  <a:lnTo>
                    <a:pt x="39091" y="78183"/>
                  </a:lnTo>
                  <a:cubicBezTo>
                    <a:pt x="28724" y="78183"/>
                    <a:pt x="18781" y="74064"/>
                    <a:pt x="11450" y="66733"/>
                  </a:cubicBezTo>
                  <a:cubicBezTo>
                    <a:pt x="4119" y="59402"/>
                    <a:pt x="0" y="49459"/>
                    <a:pt x="0" y="39091"/>
                  </a:cubicBezTo>
                  <a:lnTo>
                    <a:pt x="0" y="39091"/>
                  </a:lnTo>
                  <a:cubicBezTo>
                    <a:pt x="0" y="28724"/>
                    <a:pt x="4119" y="18781"/>
                    <a:pt x="11450" y="11450"/>
                  </a:cubicBezTo>
                  <a:cubicBezTo>
                    <a:pt x="18781" y="4119"/>
                    <a:pt x="28724" y="0"/>
                    <a:pt x="39091" y="0"/>
                  </a:cubicBezTo>
                  <a:close/>
                </a:path>
              </a:pathLst>
            </a:custGeom>
            <a:solidFill>
              <a:srgbClr val="2449CC"/>
            </a:solidFill>
          </p:spPr>
        </p:sp>
        <p:sp>
          <p:nvSpPr>
            <p:cNvPr name="TextBox 11" id="11"/>
            <p:cNvSpPr txBox="true"/>
            <p:nvPr/>
          </p:nvSpPr>
          <p:spPr>
            <a:xfrm>
              <a:off x="0" y="-38100"/>
              <a:ext cx="189935" cy="116283"/>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396244" y="3680317"/>
            <a:ext cx="296850" cy="29685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49CC"/>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4603582" y="4058279"/>
            <a:ext cx="9080836" cy="1941843"/>
          </a:xfrm>
          <a:prstGeom prst="rect">
            <a:avLst/>
          </a:prstGeom>
        </p:spPr>
        <p:txBody>
          <a:bodyPr anchor="t" rtlCol="false" tIns="0" lIns="0" bIns="0" rIns="0">
            <a:spAutoFit/>
          </a:bodyPr>
          <a:lstStyle/>
          <a:p>
            <a:pPr algn="ctr">
              <a:lnSpc>
                <a:spcPts val="15819"/>
              </a:lnSpc>
            </a:pPr>
            <a:r>
              <a:rPr lang="en-US" b="true" sz="11299" spc="-813">
                <a:solidFill>
                  <a:srgbClr val="212121"/>
                </a:solidFill>
                <a:latin typeface="Open Sauce Bold"/>
                <a:ea typeface="Open Sauce Bold"/>
                <a:cs typeface="Open Sauce Bold"/>
                <a:sym typeface="Open Sauce Bold"/>
              </a:rPr>
              <a:t>THANK YOU!</a:t>
            </a:r>
          </a:p>
        </p:txBody>
      </p:sp>
      <p:sp>
        <p:nvSpPr>
          <p:cNvPr name="TextBox 16" id="16"/>
          <p:cNvSpPr txBox="true"/>
          <p:nvPr/>
        </p:nvSpPr>
        <p:spPr>
          <a:xfrm rot="0">
            <a:off x="8362617" y="9229725"/>
            <a:ext cx="1562766" cy="240784"/>
          </a:xfrm>
          <a:prstGeom prst="rect">
            <a:avLst/>
          </a:prstGeom>
        </p:spPr>
        <p:txBody>
          <a:bodyPr anchor="t" rtlCol="false" tIns="0" lIns="0" bIns="0" rIns="0">
            <a:spAutoFit/>
          </a:bodyPr>
          <a:lstStyle/>
          <a:p>
            <a:pPr algn="ctr">
              <a:lnSpc>
                <a:spcPts val="1953"/>
              </a:lnSpc>
            </a:pPr>
            <a:r>
              <a:rPr lang="en-US" sz="1395" spc="-12">
                <a:solidFill>
                  <a:srgbClr val="212121"/>
                </a:solidFill>
                <a:latin typeface="Open Sauce"/>
                <a:ea typeface="Open Sauce"/>
                <a:cs typeface="Open Sauce"/>
                <a:sym typeface="Open Sauce"/>
              </a:rPr>
              <a:t>PRESENTED BY:</a:t>
            </a:r>
          </a:p>
        </p:txBody>
      </p:sp>
      <p:sp>
        <p:nvSpPr>
          <p:cNvPr name="TextBox 17" id="17"/>
          <p:cNvSpPr txBox="true"/>
          <p:nvPr/>
        </p:nvSpPr>
        <p:spPr>
          <a:xfrm rot="0">
            <a:off x="7935763" y="9441934"/>
            <a:ext cx="2416473" cy="240784"/>
          </a:xfrm>
          <a:prstGeom prst="rect">
            <a:avLst/>
          </a:prstGeom>
        </p:spPr>
        <p:txBody>
          <a:bodyPr anchor="t" rtlCol="false" tIns="0" lIns="0" bIns="0" rIns="0">
            <a:spAutoFit/>
          </a:bodyPr>
          <a:lstStyle/>
          <a:p>
            <a:pPr algn="ctr">
              <a:lnSpc>
                <a:spcPts val="1953"/>
              </a:lnSpc>
            </a:pPr>
            <a:r>
              <a:rPr lang="en-US" b="true" sz="1395" spc="-12">
                <a:solidFill>
                  <a:srgbClr val="212121"/>
                </a:solidFill>
                <a:latin typeface="Open Sauce Bold"/>
                <a:ea typeface="Open Sauce Bold"/>
                <a:cs typeface="Open Sauce Bold"/>
                <a:sym typeface="Open Sauce Bold"/>
              </a:rPr>
              <a:t>PHYLLIS SCHWAIGER</a:t>
            </a:r>
          </a:p>
        </p:txBody>
      </p:sp>
      <p:grpSp>
        <p:nvGrpSpPr>
          <p:cNvPr name="Group 18" id="18"/>
          <p:cNvGrpSpPr/>
          <p:nvPr/>
        </p:nvGrpSpPr>
        <p:grpSpPr>
          <a:xfrm rot="0">
            <a:off x="-1209843" y="-602900"/>
            <a:ext cx="4554972" cy="1205800"/>
            <a:chOff x="0" y="0"/>
            <a:chExt cx="1199663" cy="317577"/>
          </a:xfrm>
        </p:grpSpPr>
        <p:sp>
          <p:nvSpPr>
            <p:cNvPr name="Freeform 19" id="19"/>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20" id="20"/>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4942871" y="9684100"/>
            <a:ext cx="4554972" cy="1205800"/>
            <a:chOff x="0" y="0"/>
            <a:chExt cx="1199663" cy="317577"/>
          </a:xfrm>
        </p:grpSpPr>
        <p:sp>
          <p:nvSpPr>
            <p:cNvPr name="Freeform 22" id="22"/>
            <p:cNvSpPr/>
            <p:nvPr/>
          </p:nvSpPr>
          <p:spPr>
            <a:xfrm flipH="false" flipV="false" rot="0">
              <a:off x="0" y="0"/>
              <a:ext cx="1199663" cy="317577"/>
            </a:xfrm>
            <a:custGeom>
              <a:avLst/>
              <a:gdLst/>
              <a:ahLst/>
              <a:cxnLst/>
              <a:rect r="r" b="b" t="t" l="l"/>
              <a:pathLst>
                <a:path h="317577" w="1199663">
                  <a:moveTo>
                    <a:pt x="86683" y="0"/>
                  </a:moveTo>
                  <a:lnTo>
                    <a:pt x="1112981" y="0"/>
                  </a:lnTo>
                  <a:cubicBezTo>
                    <a:pt x="1160854" y="0"/>
                    <a:pt x="1199663" y="38809"/>
                    <a:pt x="1199663" y="86683"/>
                  </a:cubicBezTo>
                  <a:lnTo>
                    <a:pt x="1199663" y="230894"/>
                  </a:lnTo>
                  <a:cubicBezTo>
                    <a:pt x="1199663" y="253884"/>
                    <a:pt x="1190531" y="275932"/>
                    <a:pt x="1174275" y="292188"/>
                  </a:cubicBezTo>
                  <a:cubicBezTo>
                    <a:pt x="1158018" y="308444"/>
                    <a:pt x="1135970" y="317577"/>
                    <a:pt x="1112981" y="317577"/>
                  </a:cubicBezTo>
                  <a:lnTo>
                    <a:pt x="86683" y="317577"/>
                  </a:lnTo>
                  <a:cubicBezTo>
                    <a:pt x="38809" y="317577"/>
                    <a:pt x="0" y="278768"/>
                    <a:pt x="0" y="230894"/>
                  </a:cubicBezTo>
                  <a:lnTo>
                    <a:pt x="0" y="86683"/>
                  </a:lnTo>
                  <a:cubicBezTo>
                    <a:pt x="0" y="38809"/>
                    <a:pt x="38809" y="0"/>
                    <a:pt x="86683" y="0"/>
                  </a:cubicBezTo>
                  <a:close/>
                </a:path>
              </a:pathLst>
            </a:custGeom>
            <a:solidFill>
              <a:srgbClr val="2449CC"/>
            </a:solidFill>
          </p:spPr>
        </p:sp>
        <p:sp>
          <p:nvSpPr>
            <p:cNvPr name="TextBox 23" id="23"/>
            <p:cNvSpPr txBox="true"/>
            <p:nvPr/>
          </p:nvSpPr>
          <p:spPr>
            <a:xfrm>
              <a:off x="0" y="-38100"/>
              <a:ext cx="1199663" cy="355677"/>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7719135" y="2332620"/>
            <a:ext cx="477709" cy="306705"/>
          </a:xfrm>
          <a:prstGeom prst="rect">
            <a:avLst/>
          </a:prstGeom>
        </p:spPr>
        <p:txBody>
          <a:bodyPr anchor="t" rtlCol="false" tIns="0" lIns="0" bIns="0" rIns="0">
            <a:spAutoFit/>
          </a:bodyPr>
          <a:lstStyle/>
          <a:p>
            <a:pPr algn="ctr">
              <a:lnSpc>
                <a:spcPts val="2520"/>
              </a:lnSpc>
            </a:pPr>
            <a:r>
              <a:rPr lang="en-US" b="true" sz="1800" spc="-129">
                <a:solidFill>
                  <a:srgbClr val="FFFFFF"/>
                </a:solidFill>
                <a:latin typeface="Open Sauce Bold"/>
                <a:ea typeface="Open Sauce Bold"/>
                <a:cs typeface="Open Sauce Bold"/>
                <a:sym typeface="Open Sauce Bold"/>
              </a:rPr>
              <a:t>12</a:t>
            </a:r>
          </a:p>
        </p:txBody>
      </p:sp>
      <p:grpSp>
        <p:nvGrpSpPr>
          <p:cNvPr name="Group 25" id="25"/>
          <p:cNvGrpSpPr/>
          <p:nvPr/>
        </p:nvGrpSpPr>
        <p:grpSpPr>
          <a:xfrm rot="0">
            <a:off x="5349398" y="6000121"/>
            <a:ext cx="3600410" cy="675160"/>
            <a:chOff x="0" y="0"/>
            <a:chExt cx="1260075" cy="236293"/>
          </a:xfrm>
        </p:grpSpPr>
        <p:sp>
          <p:nvSpPr>
            <p:cNvPr name="Freeform 26" id="26"/>
            <p:cNvSpPr/>
            <p:nvPr/>
          </p:nvSpPr>
          <p:spPr>
            <a:xfrm flipH="false" flipV="false" rot="0">
              <a:off x="0" y="0"/>
              <a:ext cx="1260075" cy="236293"/>
            </a:xfrm>
            <a:custGeom>
              <a:avLst/>
              <a:gdLst/>
              <a:ahLst/>
              <a:cxnLst/>
              <a:rect r="r" b="b" t="t" l="l"/>
              <a:pathLst>
                <a:path h="236293" w="1260075">
                  <a:moveTo>
                    <a:pt x="43006" y="0"/>
                  </a:moveTo>
                  <a:lnTo>
                    <a:pt x="1217069" y="0"/>
                  </a:lnTo>
                  <a:cubicBezTo>
                    <a:pt x="1228475" y="0"/>
                    <a:pt x="1239414" y="4531"/>
                    <a:pt x="1247479" y="12596"/>
                  </a:cubicBezTo>
                  <a:cubicBezTo>
                    <a:pt x="1255544" y="20661"/>
                    <a:pt x="1260075" y="31600"/>
                    <a:pt x="1260075" y="43006"/>
                  </a:cubicBezTo>
                  <a:lnTo>
                    <a:pt x="1260075" y="193287"/>
                  </a:lnTo>
                  <a:cubicBezTo>
                    <a:pt x="1260075" y="217039"/>
                    <a:pt x="1240821" y="236293"/>
                    <a:pt x="1217069" y="236293"/>
                  </a:cubicBezTo>
                  <a:lnTo>
                    <a:pt x="43006" y="236293"/>
                  </a:lnTo>
                  <a:cubicBezTo>
                    <a:pt x="31600" y="236293"/>
                    <a:pt x="20661" y="231762"/>
                    <a:pt x="12596" y="223697"/>
                  </a:cubicBezTo>
                  <a:cubicBezTo>
                    <a:pt x="4531" y="215632"/>
                    <a:pt x="0" y="204693"/>
                    <a:pt x="0" y="193287"/>
                  </a:cubicBezTo>
                  <a:lnTo>
                    <a:pt x="0" y="43006"/>
                  </a:lnTo>
                  <a:cubicBezTo>
                    <a:pt x="0" y="31600"/>
                    <a:pt x="4531" y="20661"/>
                    <a:pt x="12596" y="12596"/>
                  </a:cubicBezTo>
                  <a:cubicBezTo>
                    <a:pt x="20661" y="4531"/>
                    <a:pt x="31600" y="0"/>
                    <a:pt x="43006" y="0"/>
                  </a:cubicBezTo>
                  <a:close/>
                </a:path>
              </a:pathLst>
            </a:custGeom>
            <a:solidFill>
              <a:srgbClr val="FFFFFF"/>
            </a:solidFill>
            <a:ln w="9525" cap="sq">
              <a:solidFill>
                <a:srgbClr val="212121"/>
              </a:solidFill>
              <a:prstDash val="solid"/>
              <a:miter/>
            </a:ln>
          </p:spPr>
        </p:sp>
        <p:sp>
          <p:nvSpPr>
            <p:cNvPr name="TextBox 27" id="27"/>
            <p:cNvSpPr txBox="true"/>
            <p:nvPr/>
          </p:nvSpPr>
          <p:spPr>
            <a:xfrm>
              <a:off x="0" y="-38100"/>
              <a:ext cx="1260075" cy="274393"/>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5439624" y="6180029"/>
            <a:ext cx="3419957" cy="277245"/>
          </a:xfrm>
          <a:prstGeom prst="rect">
            <a:avLst/>
          </a:prstGeom>
        </p:spPr>
        <p:txBody>
          <a:bodyPr anchor="t" rtlCol="false" tIns="0" lIns="0" bIns="0" rIns="0">
            <a:spAutoFit/>
          </a:bodyPr>
          <a:lstStyle/>
          <a:p>
            <a:pPr algn="ctr">
              <a:lnSpc>
                <a:spcPts val="2227"/>
              </a:lnSpc>
            </a:pPr>
            <a:r>
              <a:rPr lang="en-US" b="true" sz="1590">
                <a:solidFill>
                  <a:srgbClr val="212121"/>
                </a:solidFill>
                <a:latin typeface="Open Sauce Bold"/>
                <a:ea typeface="Open Sauce Bold"/>
                <a:cs typeface="Open Sauce Bold"/>
                <a:sym typeface="Open Sauce Bold"/>
              </a:rPr>
              <a:t>WWW.REALLYGREATSITE.COM</a:t>
            </a:r>
          </a:p>
        </p:txBody>
      </p:sp>
      <p:grpSp>
        <p:nvGrpSpPr>
          <p:cNvPr name="Group 29" id="29"/>
          <p:cNvGrpSpPr/>
          <p:nvPr/>
        </p:nvGrpSpPr>
        <p:grpSpPr>
          <a:xfrm rot="0">
            <a:off x="9098233" y="6000121"/>
            <a:ext cx="3840369" cy="675160"/>
            <a:chOff x="0" y="0"/>
            <a:chExt cx="1344056" cy="236293"/>
          </a:xfrm>
        </p:grpSpPr>
        <p:sp>
          <p:nvSpPr>
            <p:cNvPr name="Freeform 30" id="30"/>
            <p:cNvSpPr/>
            <p:nvPr/>
          </p:nvSpPr>
          <p:spPr>
            <a:xfrm flipH="false" flipV="false" rot="0">
              <a:off x="0" y="0"/>
              <a:ext cx="1344056" cy="236293"/>
            </a:xfrm>
            <a:custGeom>
              <a:avLst/>
              <a:gdLst/>
              <a:ahLst/>
              <a:cxnLst/>
              <a:rect r="r" b="b" t="t" l="l"/>
              <a:pathLst>
                <a:path h="236293" w="1344056">
                  <a:moveTo>
                    <a:pt x="40319" y="0"/>
                  </a:moveTo>
                  <a:lnTo>
                    <a:pt x="1303738" y="0"/>
                  </a:lnTo>
                  <a:cubicBezTo>
                    <a:pt x="1314431" y="0"/>
                    <a:pt x="1324686" y="4248"/>
                    <a:pt x="1332247" y="11809"/>
                  </a:cubicBezTo>
                  <a:cubicBezTo>
                    <a:pt x="1339808" y="19370"/>
                    <a:pt x="1344056" y="29625"/>
                    <a:pt x="1344056" y="40319"/>
                  </a:cubicBezTo>
                  <a:lnTo>
                    <a:pt x="1344056" y="195974"/>
                  </a:lnTo>
                  <a:cubicBezTo>
                    <a:pt x="1344056" y="218242"/>
                    <a:pt x="1326005" y="236293"/>
                    <a:pt x="1303738" y="236293"/>
                  </a:cubicBezTo>
                  <a:lnTo>
                    <a:pt x="40319" y="236293"/>
                  </a:lnTo>
                  <a:cubicBezTo>
                    <a:pt x="29625" y="236293"/>
                    <a:pt x="19370" y="232045"/>
                    <a:pt x="11809" y="224484"/>
                  </a:cubicBezTo>
                  <a:cubicBezTo>
                    <a:pt x="4248" y="216923"/>
                    <a:pt x="0" y="206668"/>
                    <a:pt x="0" y="195974"/>
                  </a:cubicBezTo>
                  <a:lnTo>
                    <a:pt x="0" y="40319"/>
                  </a:lnTo>
                  <a:cubicBezTo>
                    <a:pt x="0" y="29625"/>
                    <a:pt x="4248" y="19370"/>
                    <a:pt x="11809" y="11809"/>
                  </a:cubicBezTo>
                  <a:cubicBezTo>
                    <a:pt x="19370" y="4248"/>
                    <a:pt x="29625" y="0"/>
                    <a:pt x="40319" y="0"/>
                  </a:cubicBezTo>
                  <a:close/>
                </a:path>
              </a:pathLst>
            </a:custGeom>
            <a:solidFill>
              <a:srgbClr val="FFFFFF"/>
            </a:solidFill>
            <a:ln w="9525" cap="sq">
              <a:solidFill>
                <a:srgbClr val="212121"/>
              </a:solidFill>
              <a:prstDash val="solid"/>
              <a:miter/>
            </a:ln>
          </p:spPr>
        </p:sp>
        <p:sp>
          <p:nvSpPr>
            <p:cNvPr name="TextBox 31" id="31"/>
            <p:cNvSpPr txBox="true"/>
            <p:nvPr/>
          </p:nvSpPr>
          <p:spPr>
            <a:xfrm>
              <a:off x="0" y="-38100"/>
              <a:ext cx="1344056" cy="274393"/>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9214378" y="6180029"/>
            <a:ext cx="3608080" cy="277245"/>
          </a:xfrm>
          <a:prstGeom prst="rect">
            <a:avLst/>
          </a:prstGeom>
        </p:spPr>
        <p:txBody>
          <a:bodyPr anchor="t" rtlCol="false" tIns="0" lIns="0" bIns="0" rIns="0">
            <a:spAutoFit/>
          </a:bodyPr>
          <a:lstStyle/>
          <a:p>
            <a:pPr algn="ctr">
              <a:lnSpc>
                <a:spcPts val="2227"/>
              </a:lnSpc>
            </a:pPr>
            <a:r>
              <a:rPr lang="en-US" b="true" sz="1590">
                <a:solidFill>
                  <a:srgbClr val="212121"/>
                </a:solidFill>
                <a:latin typeface="Open Sauce Bold"/>
                <a:ea typeface="Open Sauce Bold"/>
                <a:cs typeface="Open Sauce Bold"/>
                <a:sym typeface="Open Sauce Bold"/>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DAHW3LFqF-M</dc:identifier>
  <dcterms:modified xsi:type="dcterms:W3CDTF">2011-08-01T06:04:30Z</dcterms:modified>
  <cp:revision>1</cp:revision>
  <dc:title>Blue and Black Simple Business Proposal Presentation</dc:title>
</cp:coreProperties>
</file>